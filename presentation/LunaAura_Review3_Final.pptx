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l" defTabSz="2438338" rtl="0" fontAlgn="auto" latinLnBrk="0" hangingPunct="0">
      <a:lnSpc>
        <a:spcPct val="90000"/>
      </a:lnSpc>
      <a:spcBef>
        <a:spcPts val="240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>
      <p:cViewPr varScale="1">
        <p:scale>
          <a:sx n="51" d="100"/>
          <a:sy n="51" d="100"/>
        </p:scale>
        <p:origin x="30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Beach and sea at sunset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z="12800" spc="-128">
                <a:solidFill>
                  <a:srgbClr val="FFFFFF"/>
                </a:solidFill>
              </a:defRPr>
            </a:lvl1pPr>
          </a:lstStyle>
          <a:p>
            <a:r>
              <a:t>Presentation Title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6000" spc="-59">
                <a:solidFill>
                  <a:srgbClr val="FFFFFF"/>
                </a:solidFill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3000" spc="-29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r>
              <a:t>Author and Date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3" name="Sea against sky at sunset"/>
          <p:cNvSpPr>
            <a:spLocks noGrp="1"/>
          </p:cNvSpPr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1" name="Sea against sky at sunset"/>
          <p:cNvSpPr>
            <a:spLocks noGrp="1"/>
          </p:cNvSpPr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2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403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z="12800" spc="0"/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z="6800" spc="-136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Agenda Subtitle</a:t>
            </a:r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Fact information</a:t>
            </a:r>
          </a:p>
        </p:txBody>
      </p:sp>
      <p:sp>
        <p:nvSpPr>
          <p:cNvPr id="12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Graphik Semibold"/>
                <a:ea typeface="Graphik Semibold"/>
                <a:cs typeface="Graphik Semibold"/>
                <a:sym typeface="Graphik Semibold"/>
              </a:defRPr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ea against sky at sunset 2"/>
          <p:cNvSpPr>
            <a:spLocks noGrp="1"/>
          </p:cNvSpPr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Sea against sky at sunset 1"/>
          <p:cNvSpPr>
            <a:spLocks noGrp="1"/>
          </p:cNvSpPr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each and sea at sunset"/>
          <p:cNvSpPr>
            <a:spLocks noGrp="1"/>
          </p:cNvSpPr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each and sea at sunset"/>
          <p:cNvSpPr>
            <a:spLocks noGrp="1"/>
          </p:cNvSpPr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2700000"/>
            <a:ext cx="388621" cy="42926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89" y="12700000"/>
            <a:ext cx="388621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5E5E5E"/>
                </a:solidFill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ransition spd="med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84" baseline="0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sz="4400" b="0" i="0" u="none" strike="noStrike" cap="none" spc="0" baseline="0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latin typeface="Times New Roman"/>
              </a:rPr>
              <a:t>Eshita Rai  |  er8137@srmist.edu.in</a:t>
            </a:r>
          </a:p>
          <a:p>
            <a:r>
              <a:rPr sz="2000">
                <a:latin typeface="Times New Roman"/>
              </a:rPr>
              <a:t>Guide: Mrs. P. Sivakamasundari</a:t>
            </a:r>
          </a:p>
          <a:p>
            <a:r>
              <a:rPr sz="2000">
                <a:latin typeface="Times New Roman"/>
              </a:rPr>
              <a:t>Department of Computing Technologies  |  SRM IST, Chennai</a:t>
            </a:r>
          </a:p>
          <a:p>
            <a:r>
              <a:rPr sz="2000">
                <a:latin typeface="Times New Roman"/>
              </a:rPr>
              <a:t>Review 3  |  Batch B904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/>
              </a:rPr>
              <a:t>LunaAura: An Explainable Machine Learning Framework</a:t>
            </a:r>
          </a:p>
          <a:p>
            <a:r>
              <a:rPr sz="4000">
                <a:latin typeface="Times New Roman"/>
              </a:rPr>
              <a:t>for Hormonal and Emotional Health Analysis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rPr sz="2000">
                <a:latin typeface="Times New Roman"/>
              </a:rPr>
              <a:t>Eshita Rai  |  er8137@srmist.edu.in</a:t>
            </a:r>
          </a:p>
          <a:p>
            <a:r>
              <a:rPr sz="2000">
                <a:latin typeface="Times New Roman"/>
              </a:rPr>
              <a:t>Guide: Mrs. P. Sivakamasundari</a:t>
            </a:r>
          </a:p>
          <a:p>
            <a:r>
              <a:rPr sz="2000">
                <a:latin typeface="Times New Roman"/>
              </a:rPr>
              <a:t>Department of Computing Technologies  |  SRM IST, Chennai</a:t>
            </a:r>
          </a:p>
          <a:p>
            <a:r>
              <a:rPr sz="2000">
                <a:latin typeface="Times New Roman"/>
              </a:rPr>
              <a:t>Review 3  |  Batch B904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Emotional wellbeing depends on sleep, stress, hormonal cycles, and daily habits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— but most wellness apps treat these in isolation with no depth.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LunaAura combines a transparent risk formula with calibrated ML,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quantile regression, and SHAP explainability in one platform.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It tracks six daily inputs, computes personalized risk and wellness scores,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and delivers actionable insights through a longitudinal dashboard.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Tested on 105 synthetic users (470 daily records) + 40-day case study.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Positioned as a research prototype — no clinical diagnostic claim.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Abstract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Motivation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970 million people worldwide live with a mental health condition (WHO, 2022)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University students face compounding pressures — irregular sleep,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academic stress, financial strain — often unnoticed until crisis.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Current wellness apps fall short: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Assess each factor in isolation (sleep alone, stress alone)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Ignore the menstrual cycle despite decades of clinical evidence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Never explain why a score was generated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→ Need for a smarter, multi-dimensional, explainable, cycle-aware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Motivation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Problem Statement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Emotional wellbeing fluctuates with lifestyle and hormonal context.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Existing platforms have critical gaps: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integrated behavioral + hormonal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Limited predictive capability — mostly descriptive tools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explainable ML insights — users get numbers without reasons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gender-adaptive logic for equitable analytics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→ A personalized, transparent, cycle-aware framework is needed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that provides actionable wellness insights with explainability.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1. Design a transparent 6-factor composite risk scoring formula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2. Incorporate menstrual cycle phase modifiers from chronobiology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3. Build gender-adaptive weight normalization for all users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4. Train calibrated ML models on PHQ-9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5. Implement SHAP-based per-instance explainability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6. Develop a full-stack interactive dashboard with history tracking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7. Validate on a reproducible 105-user synthetic cohort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Objectives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Mental Health Screening: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PHQ-9 (Kroenke, 2001) — gold standard depression measure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Arefin &amp; de Roux (2020) — ensemble classifiers for depressive text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Digital Phenotyping: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Saeb et al. (2015) — phone sensors predict PHQ-9 variation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Torous et al. (2019, 2021) — data quality and interpretability gaps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Explainable AI: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SHAP (Lundberg &amp; Lee, 2017) — game-theoretic feature attribution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EmotionSense (Rachuri, 2010) — contextual feedback boosts engagement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Cycle-Aware Health: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Baker &amp; Driver (2007) — sleep disruption in luteal phase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Kiesner (2012) — individual variation in cycle-mood effects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Literature Survey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Gap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No existing platform combines all of these: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Multi-factor behavioral risk scoring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Menstrual cycle phase awareness in scoring models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Gender-adaptive weight normalization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Calibrated probabilistic ML with uncertainty estimation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Per-instance SHAP explainability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✗ Longitudinal tracking with rolling temporal features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LunaAura integrates all six in a single framework.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The novelty is in the integration, not a new algorithm.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Gap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SDG Alignment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SDG 3 — Good Health &amp; Well-Being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Mental health awareness through accessible, personalized analytics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SDG 5 — Gender Equality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Cycle-phase-aware scoring designed specifically for women's health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Gender-adaptive design ensures equal depth for all users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SDG 9 — Industry, Innovation &amp; Infrastructure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Novel hybrid deterministic + ML + SHAP architecture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SDG 10 — Reduced Inequalities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Free, browser-based — no expensive hardware needed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SDG Alignment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1 — What LunaAura Started 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The initial prototype had: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Basic HTML input forms for wellness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Simple heuristic scoring — no ML pipeline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Static Chart.js visualizations with hardcoded ranges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Login attempt without persistent user profiles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Single-page dashboard, limited interactivity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longitudinal tracking — each session was independent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cycle-aware scoring or gender logic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Generic, copy-paste recommendations for every user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1 — What LunaAura Started 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2 — Problems We Identified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Honest engineering reflection: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Static charts did not update with real user data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personalization — same output for every user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backend persistence — data lost on page refresh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historical analytics — no trend tracking over time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Generic outputs — recommendations felt shallow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explainability — scores with no context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Gender logic broken — Male selection removed all inputs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No research or analytics module for population insights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2 — Problems We Identified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3 — Improvements Implemented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Complete system overhaul: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SQLite backend with persistent user profiles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105 pseudo-users across three risk strata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470 daily log entries with realistic distributions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Dynamic charts that update in real-time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30-40 day longitudinal history tracking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Gender-adaptive dashboard (hides only cycle elements for males)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Analytics endpoint for population summaries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Model Insights page with feature importance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Research Mode for deeper exploration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Professional UI with responsive layout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Phase 3 — Improvements Implemented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System 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17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Three-tier: Frontend (HTML/JS/Chart.js) → Flask REST API (7 endpoints) → SQLite Database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Machine Learning Pipeline</a:t>
            </a:r>
          </a:p>
        </p:txBody>
      </p:sp>
      <p:pic>
        <p:nvPicPr>
          <p:cNvPr id="3" name="Picture 2" descr="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170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Data Collection → KNN Linking → Feature Engineering → 3 Model Branches → Prediction API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Behavioral Inputs Collected Daily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Six daily behavioral signals: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Sleep Duration — hours slept (8h optimal)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Perceived Stress — ordinal 1-10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Physical Activity — minutes/day (60 min target)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Anxiety Level — ordinal 1-10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Water Intake — litres/day (2.5L target)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Menstrual Cycle Day — day 1-28 (female only)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Plus demographics: Age, Gender, Height, Weight, Cycle Length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Behavioral Inputs Collected Daily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Composite Risk Scoring Formula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R = Stress(35%) + SleepDeficit(25%) + Anxiety(20%)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+ ActivityDeficit(10%) + Hydration(5%) + Baseline(5) + Phase(±5-8)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Cycle Phase Modifiers (female only):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Menstrual (Day 1-5):   +5     Follicular (Day 6-13):  -5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Ovulatory (Day 14-16): -8     Luteal (Day 17-28):     +8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Male/Other: phase = 0, sleep weight rises 25% → 30%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Severity Tiers: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Low (R &lt; 35)  |  Moderate (35 ≤ R &lt; 65)  |  High (R ≥ 65)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Design: no single factor alone triggers High severity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Composite Risk Scoring Formula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Wellness Score Estimation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W = Σ αⱼ × x̂ⱼ   (each x̂ⱼ normalized to [0,100])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Female (8 factors):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Sleep 25% | Stress 20% | Activity 15% | Anxiety 15%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Cycle 10% | Water 5% | Age 5% | Stability 5%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Male/Other (6 factors — cycle removed, weights redistributed):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Sleep 30% | Stress 25% | Activity 20%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Anxiety 15% | Water 5% | Age 5%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Normalization: Sleep penalizes deviation from 8h optimum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Stress inversely mapped; Activity scaled to 60-min target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Wellness Score Estimation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Machine Learning Models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1. Calibrated Classifier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HistGradientBoosting (100 rounds, 31 leaves, η=0.05)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Platt scaling via 5-fold stratified CV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Target: PHQ-9 referral flag (n₀=5,054 / n₁=4,494)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2. Quantile Regressors (×3)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HistGradientBoosting (150 rounds, pinball loss)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q = 0.10, 0.50, 0.90 → PHQ-9 confidence intervals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3. SHAP Explanation Proxy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RandomForest (100 trees, depth 5)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TreeExplainer → exact Shapley values per feature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Top 3 attributions shown as plain-language insights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Training corpus: 9,548 records × 28 columns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Machine Learning Models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Technical Novelty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What sets LunaAura apart (honestly stated):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✦ Hybrid Architecture — deterministic (auditable) + ML (probabilistic)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✦ Cycle-Aware Scoring — first prototype with hormonal phase modifiers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✦ Gender-Adaptive Normalization — re-normalized weights, not removed features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✦ Longitudinal Features — 3-day rolling means capture behavioral momentum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✦ Instance-Level Explainability — SHAP insight cards on dashboard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We do not claim a new ML algorithm.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Our novelty is the integration framework.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Technical Novelty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Database Design — SQLite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Database: lunaaura.db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Table: users (12 fields)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id, username, password_hash, age, gender, height, weight,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cycle_length, sleep_target, cohort_group, source, timestamps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Table: user_history (12 fields per entry)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id, user_id (FK), date, sleep_duration, stress_level,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mood_score, cycle_day, phase, activity, wellness_score,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predicted_risk, anxiety_level, water_liters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Cohort: 105 users (86F / 14M / 5O) | 470 daily logs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Ages 18-55 (mean 36.5) | Eshita: 85 entries, 40+ days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Database Design — SQLite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User Interface — Login &amp; Authentication</a:t>
            </a:r>
          </a:p>
        </p:txBody>
      </p:sp>
      <p:pic>
        <p:nvPicPr>
          <p:cNvPr id="3" name="Picture 2" descr="login_mod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9469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Secure login with demo user profiles for testing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User Interface — Daily Behavioral Logging</a:t>
            </a:r>
          </a:p>
        </p:txBody>
      </p:sp>
      <p:pic>
        <p:nvPicPr>
          <p:cNvPr id="3" name="Picture 2" descr="daily_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9469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Slider-based input for sleep, stress, activity, anxiety, water, cycle day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User Interface — Dashboard Results</a:t>
            </a:r>
          </a:p>
        </p:txBody>
      </p:sp>
      <p:pic>
        <p:nvPicPr>
          <p:cNvPr id="3" name="Picture 2" descr="dashboard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9469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Real-time chart rendering after data submission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Analytics &amp; Model Insights</a:t>
            </a:r>
          </a:p>
        </p:txBody>
      </p:sp>
      <p:pic>
        <p:nvPicPr>
          <p:cNvPr id="3" name="Picture 2" descr="analytics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0" y="1800000"/>
            <a:ext cx="17000000" cy="94695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00000" y="12500000"/>
            <a:ext cx="220000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latin typeface="Times New Roman"/>
              </a:rPr>
              <a:t>Population-level summaries and model metadata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Results — Model Performance</a:t>
            </a:r>
          </a:p>
        </p:txBody>
      </p:sp>
      <p:pic>
        <p:nvPicPr>
          <p:cNvPr id="3" name="Picture 2" descr="15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000000"/>
            <a:ext cx="11500000" cy="10056246"/>
          </a:xfrm>
          <a:prstGeom prst="rect">
            <a:avLst/>
          </a:prstGeom>
        </p:spPr>
      </p:pic>
      <p:pic>
        <p:nvPicPr>
          <p:cNvPr id="4" name="Picture 3" descr="18_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000" y="2000000"/>
            <a:ext cx="11500000" cy="731156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000" y="300000"/>
            <a:ext cx="22000000" cy="12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>
                <a:latin typeface="Times New Roman"/>
              </a:rPr>
              <a:t>Results — Validation Charts</a:t>
            </a:r>
          </a:p>
        </p:txBody>
      </p:sp>
      <p:pic>
        <p:nvPicPr>
          <p:cNvPr id="3" name="Picture 2" descr="14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000000"/>
            <a:ext cx="11500000" cy="9896514"/>
          </a:xfrm>
          <a:prstGeom prst="rect">
            <a:avLst/>
          </a:prstGeom>
        </p:spPr>
      </p:pic>
      <p:pic>
        <p:nvPicPr>
          <p:cNvPr id="4" name="Picture 3" descr="21_sensitivity_risk_vs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0000" y="2000000"/>
            <a:ext cx="11500000" cy="73982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Results Interpretation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Classifier: AUROC ≈ 0.567 | Brier Score = 0.245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Modest but honestly reported — reflects cross-dataset noise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Feature Importance: Age &gt; Stress &gt; Cycle Day &gt; Sleep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Rolling temporal features contribute meaningfully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Sensitivity Analysis: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Risk vs Stress is monotonic and clinically plausible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Moderate threshold crossed at stress ≈ 5.5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High tier requires multi-factor adversity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Cycle Phase Impact: 16-point spread (Ovulatory -8 to Luteal +8)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Intentionally modest — modulates, does not dominate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Results Interpretation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Limitations &amp;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Limitations: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Synthetic cohort (seed=42) — not clinically collected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Formula weights are expert heuristics, not data-optimized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ML AUROC reflects heterogeneous data bridging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Cycle modifiers are population averages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System produces Wellness Estimates — NOT clinical diagnoses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Validation Performed: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Sensitivity analysis — monotonic, directionally correct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Correlation heatmap validates formula weighting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All 7 API endpoints tested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Frontend works for Female, Male, Other profiles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Database integrity: 105 users, 470 logs, FK constraints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Charts validated against formula outputs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Limitations &amp; Validation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Economic &amp; Financial Feasibility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Development Cost: ₹0 — student-built, open-source tools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Technology Stack (all free):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Python + Flask — backend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SQLite — zero-config database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scikit-learn — ML models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SHAP — explainability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Chart.js — visualization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HTML/CSS/JS — frontend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Deployment: runs on any laptop | scalable to cloud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SQLite → PostgreSQL migration for production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Affordable, reproducible, student-feasible solution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Economic &amp; Financial Feasibility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Ethics &amp; Privacy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1. No Clinical Claims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Output labeled as Behavioral Wellness Estimate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2. Privacy-First Design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All data stored locally — no external transmission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User consent required for real-world deployment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3. Explainable AI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SHAP provides transparent per-instance attribution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Users understand why they received their score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4. Bias Awareness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Synthetic data disclosed; population-level modifiers acknowledged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Gender-adaptive design prevents analytical disparity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5. SDG 3 Alignment — Good Health and Well-Being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Ethics &amp; Privacy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Methodology — End-to-End Pipeline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User Input (6 signals + demographics)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Flask API /predict receives JSON payload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Deterministic Risk Formula → R ∈ [0,100]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ML Inference: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Calibrated Classifier → probability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Quantile Regressors → PHQ-9 confidence interval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SHAP Proxy → top-3 feature attributions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Recommendation Engine → priority-tagged suggestions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SQLite Logging → entry persisted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↓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Dashboard Rendering → all modules update (&lt; 2 seconds)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Methodology — End-to-End Pipeline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Paper Publication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Title: LunaAura: An Explainable ML Framework for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   Hormonal and Emotional Health Analysis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Authors: Eshita Rai, Mrs. P. Sivakamasundari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Format: IEEE conference paper (6 pages, two-column)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Contents: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11 formal equations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5 publication-ready figures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2 data tables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18 scholarly references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Status: Complete, formatted, submission-ready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Research Paper Publication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Conclusion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Problem: Wellness tools lack multi-factor scoring,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       cycle awareness, and explainability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Solution: LunaAura — hybrid deterministic + ML framework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Objectives Achieved: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Transparent 6-factor risk formula with auditable weights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Cycle-phase modifiers from published chronobiology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Gender-adaptive weight normalization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Calibrated classifier + quantile regression + SHAP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Full-stack dashboard with longitudinal tracking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✓ Validated on 105-user cohort (470 logs, 40-day study)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Outputs: AUROC 0.567 | Brier 0.245 | 9,548 training records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Conclusion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Future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Planned extensions: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Clinical validation with real datasets under IRB approval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Wearable integration — HRV, actigraphy, sleep staging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Federated learning for privacy-preserving training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Bayesian weight optimization on clinical outcomes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Native mobile app for continuous monitoring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  • Individualized cycle-length modeling (replace 28-day fixed)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Source code and model artifacts available on GitHub</a:t>
            </a:r>
          </a:p>
          <a:p>
            <a:pPr>
              <a:spcBef>
                <a:spcPts val="200"/>
              </a:spcBef>
              <a:spcAft>
                <a:spcPts val="400"/>
              </a:spcAft>
            </a:pPr>
            <a:r>
              <a:rPr sz="1800">
                <a:latin typeface="Times New Roman"/>
              </a:rPr>
              <a:t>for independent replication and extension.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3600">
                <a:latin typeface="Times New Roman"/>
              </a:rPr>
              <a:t>Future Scope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rPr sz="2000">
                <a:latin typeface="Times New Roman"/>
              </a:rPr>
              <a:t>Questions Welcome</a:t>
            </a:r>
          </a:p>
          <a:p/>
          <a:p>
            <a:r>
              <a:rPr sz="2000">
                <a:latin typeface="Times New Roman"/>
              </a:rPr>
              <a:t>Eshita Rai  |  er8137@srmist.edu.in</a:t>
            </a:r>
          </a:p>
          <a:p>
            <a:r>
              <a:rPr sz="2000">
                <a:latin typeface="Times New Roman"/>
              </a:rPr>
              <a:t>Guide: Mrs. P. Sivakamasundari</a:t>
            </a:r>
          </a:p>
          <a:p>
            <a:r>
              <a:rPr sz="2000">
                <a:latin typeface="Times New Roman"/>
              </a:rPr>
              <a:t>SRM Institute of Science and Technology, Chennai</a:t>
            </a:r>
          </a:p>
          <a:p>
            <a:r>
              <a:rPr sz="2000">
                <a:latin typeface="Times New Roman"/>
              </a:rPr>
              <a:t>Batch B904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>
                <a:latin typeface="Times New Roman"/>
              </a:rPr>
              <a:t>Thank You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r>
              <a:rPr sz="2000">
                <a:latin typeface="Times New Roman"/>
              </a:rPr>
              <a:t>Questions Welcome</a:t>
            </a:r>
          </a:p>
          <a:p/>
          <a:p>
            <a:r>
              <a:rPr sz="2000">
                <a:latin typeface="Times New Roman"/>
              </a:rPr>
              <a:t>Eshita Rai  |  er8137@srmist.edu.in</a:t>
            </a:r>
          </a:p>
          <a:p>
            <a:r>
              <a:rPr sz="2000">
                <a:latin typeface="Times New Roman"/>
              </a:rPr>
              <a:t>Guide: Mrs. P. Sivakamasundari</a:t>
            </a:r>
          </a:p>
          <a:p>
            <a:r>
              <a:rPr sz="2000">
                <a:latin typeface="Times New Roman"/>
              </a:rPr>
              <a:t>SRM Institute of Science and Technology, Chennai</a:t>
            </a:r>
          </a:p>
          <a:p>
            <a:r>
              <a:rPr sz="2000">
                <a:latin typeface="Times New Roman"/>
              </a:rPr>
              <a:t>Batch B904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2575</Words>
  <Application>Microsoft Macintosh PowerPoint</Application>
  <PresentationFormat>Custom</PresentationFormat>
  <Paragraphs>408</Paragraphs>
  <Slides>45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7" baseType="lpstr">
      <vt:lpstr>Arial</vt:lpstr>
      <vt:lpstr>Canela Bold</vt:lpstr>
      <vt:lpstr>Canela Deck Regular</vt:lpstr>
      <vt:lpstr>Canela Regular</vt:lpstr>
      <vt:lpstr>Canela Text Regular</vt:lpstr>
      <vt:lpstr>Graphik</vt:lpstr>
      <vt:lpstr>Graphik Medium</vt:lpstr>
      <vt:lpstr>Graphik Semibold</vt:lpstr>
      <vt:lpstr>Helvetica Neue</vt:lpstr>
      <vt:lpstr>Times New Roman</vt:lpstr>
      <vt:lpstr>Times Roman</vt:lpstr>
      <vt:lpstr>23_ClassicWhite</vt:lpstr>
      <vt:lpstr>LunaAura: An Explainable Machine Learning Framework for Hormonal and Emotional Health Analysis Project Category: Research</vt:lpstr>
      <vt:lpstr>Abstract</vt:lpstr>
      <vt:lpstr>Motivation</vt:lpstr>
      <vt:lpstr>Problem Statement </vt:lpstr>
      <vt:lpstr>Research Objectives </vt:lpstr>
      <vt:lpstr>Research Questions </vt:lpstr>
      <vt:lpstr>Literature Survey </vt:lpstr>
      <vt:lpstr>PowerPoint Presentation</vt:lpstr>
      <vt:lpstr>SDG Alignment</vt:lpstr>
      <vt:lpstr>System Overview </vt:lpstr>
      <vt:lpstr>Dashboard </vt:lpstr>
      <vt:lpstr>System Architecture </vt:lpstr>
      <vt:lpstr>PowerPoint Presentation</vt:lpstr>
      <vt:lpstr>Machine Learning Pipeline</vt:lpstr>
      <vt:lpstr>PowerPoint Presentation</vt:lpstr>
      <vt:lpstr>Data Sources </vt:lpstr>
      <vt:lpstr>Data Preprocessing </vt:lpstr>
      <vt:lpstr>PowerPoint Presentation</vt:lpstr>
      <vt:lpstr>Feature Engineering </vt:lpstr>
      <vt:lpstr>Exploratory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System Implementation</vt:lpstr>
      <vt:lpstr>PowerPoint Presentation</vt:lpstr>
      <vt:lpstr>User Interface Overview </vt:lpstr>
      <vt:lpstr>PowerPoint Presentation</vt:lpstr>
      <vt:lpstr>Daily Behavioral Logging</vt:lpstr>
      <vt:lpstr>PowerPoint Presentation</vt:lpstr>
      <vt:lpstr>Behavioural Analytics Dashboard </vt:lpstr>
      <vt:lpstr>PowerPoint Presentation</vt:lpstr>
      <vt:lpstr>Model Insights </vt:lpstr>
      <vt:lpstr>PowerPoint Presentation</vt:lpstr>
      <vt:lpstr>Research Mode</vt:lpstr>
      <vt:lpstr>PowerPoint Presentation</vt:lpstr>
      <vt:lpstr>Key Contributions </vt:lpstr>
      <vt:lpstr>Limitations </vt:lpstr>
      <vt:lpstr>Future Work</vt:lpstr>
      <vt:lpstr>Conclusion </vt:lpstr>
      <vt:lpstr>Paper Publication Documentation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ESHITA RAI (RA2211003010568)</cp:lastModifiedBy>
  <cp:revision>1</cp:revision>
  <dcterms:modified xsi:type="dcterms:W3CDTF">2026-03-06T13:18:49Z</dcterms:modified>
</cp:coreProperties>
</file>