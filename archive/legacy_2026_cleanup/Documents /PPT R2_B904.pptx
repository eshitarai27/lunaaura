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Canela Text Regular"/>
        <a:ea typeface="Canela Text Regular"/>
        <a:cs typeface="Canela Text Regular"/>
        <a:sym typeface="Canela Text Regular"/>
      </a:defRPr>
    </a:lvl1pPr>
    <a:lvl2pPr marL="0" marR="0" indent="4572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Canela Text Regular"/>
        <a:ea typeface="Canela Text Regular"/>
        <a:cs typeface="Canela Text Regular"/>
        <a:sym typeface="Canela Text Regular"/>
      </a:defRPr>
    </a:lvl2pPr>
    <a:lvl3pPr marL="0" marR="0" indent="9144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Canela Text Regular"/>
        <a:ea typeface="Canela Text Regular"/>
        <a:cs typeface="Canela Text Regular"/>
        <a:sym typeface="Canela Text Regular"/>
      </a:defRPr>
    </a:lvl3pPr>
    <a:lvl4pPr marL="0" marR="0" indent="13716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Canela Text Regular"/>
        <a:ea typeface="Canela Text Regular"/>
        <a:cs typeface="Canela Text Regular"/>
        <a:sym typeface="Canela Text Regular"/>
      </a:defRPr>
    </a:lvl4pPr>
    <a:lvl5pPr marL="0" marR="0" indent="18288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Canela Text Regular"/>
        <a:ea typeface="Canela Text Regular"/>
        <a:cs typeface="Canela Text Regular"/>
        <a:sym typeface="Canela Text Regular"/>
      </a:defRPr>
    </a:lvl5pPr>
    <a:lvl6pPr marL="0" marR="0" indent="22860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Canela Text Regular"/>
        <a:ea typeface="Canela Text Regular"/>
        <a:cs typeface="Canela Text Regular"/>
        <a:sym typeface="Canela Text Regular"/>
      </a:defRPr>
    </a:lvl6pPr>
    <a:lvl7pPr marL="0" marR="0" indent="27432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Canela Text Regular"/>
        <a:ea typeface="Canela Text Regular"/>
        <a:cs typeface="Canela Text Regular"/>
        <a:sym typeface="Canela Text Regular"/>
      </a:defRPr>
    </a:lvl7pPr>
    <a:lvl8pPr marL="0" marR="0" indent="32004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Canela Text Regular"/>
        <a:ea typeface="Canela Text Regular"/>
        <a:cs typeface="Canela Text Regular"/>
        <a:sym typeface="Canela Text Regular"/>
      </a:defRPr>
    </a:lvl8pPr>
    <a:lvl9pPr marL="0" marR="0" indent="36576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Canela Text Regular"/>
        <a:ea typeface="Canela Text Regular"/>
        <a:cs typeface="Canela Text Regular"/>
        <a:sym typeface="Canela Text Regular"/>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
          <a:latin typeface="Graphik"/>
          <a:ea typeface="Graphik"/>
          <a:cs typeface="Graphik"/>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
          <a:latin typeface="Graphik"/>
          <a:ea typeface="Graphik"/>
          <a:cs typeface="Graphik"/>
        </a:font>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
          <a:latin typeface="Graphik"/>
          <a:ea typeface="Graphik"/>
          <a:cs typeface="Graphik"/>
        </a:font>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
          <a:latin typeface="Graphik Semibold"/>
          <a:ea typeface="Graphik Semibold"/>
          <a:cs typeface="Graphik Semibold"/>
        </a:font>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hueOff val="-217956"/>
              <a:satOff val="14368"/>
              <a:lumOff val="17764"/>
            </a:schemeClr>
          </a:solidFill>
        </a:fill>
      </a:tcStyle>
    </a:firstRow>
  </a:tblStyle>
  <a:tblStyle styleId="{EEE7283C-3CF3-47DC-8721-378D4A62B228}" styleName="">
    <a:tblBg/>
    <a:wholeTbl>
      <a:tcTxStyle b="off" i="off">
        <a:font>
          <a:latin typeface="Graphik"/>
          <a:ea typeface="Graphik"/>
          <a:cs typeface="Graphik"/>
        </a:font>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CEEEE"/>
          </a:solidFill>
        </a:fill>
      </a:tcStyle>
    </a:band2H>
    <a:firstCol>
      <a:tcTxStyle b="on" i="off">
        <a:font>
          <a:latin typeface="Graphik Semibold"/>
          <a:ea typeface="Graphik Semibold"/>
          <a:cs typeface="Graphik Semibold"/>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chemeClr val="accent3">
              <a:hueOff val="571091"/>
              <a:satOff val="15926"/>
              <a:lumOff val="22314"/>
            </a:schemeClr>
          </a:solidFill>
        </a:fill>
      </a:tcStyle>
    </a:firstCol>
    <a:lastRow>
      <a:tcTxStyle b="off" i="off">
        <a:font>
          <a:latin typeface="Graphik"/>
          <a:ea typeface="Graphik"/>
          <a:cs typeface="Graphik"/>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45B43B"/>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
          <a:latin typeface="Graphik Semibold"/>
          <a:ea typeface="Graphik Semibold"/>
          <a:cs typeface="Graphik Semibold"/>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45B43B"/>
          </a:solidFill>
        </a:fill>
      </a:tcStyle>
    </a:firstRow>
  </a:tblStyle>
  <a:tblStyle styleId="{CF821DB8-F4EB-4A41-A1BA-3FCAFE7338EE}" styleName="">
    <a:tblBg/>
    <a:wholeTbl>
      <a:tcTxStyle b="off" i="off">
        <a:font>
          <a:latin typeface="Graphik"/>
          <a:ea typeface="Graphik"/>
          <a:cs typeface="Graphik"/>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9036"/>
              <a:lumOff val="17111"/>
            </a:schemeClr>
          </a:solidFill>
        </a:fill>
      </a:tcStyle>
    </a:band2H>
    <a:firstCol>
      <a:tcTxStyle b="on" i="off">
        <a:font>
          <a:latin typeface="Graphik Semibold"/>
          <a:ea typeface="Graphik Semibold"/>
          <a:cs typeface="Graphik Semibold"/>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BD17"/>
          </a:solidFill>
        </a:fill>
      </a:tcStyle>
    </a:firstCol>
    <a:lastRow>
      <a:tcTxStyle b="on" i="off">
        <a:font>
          <a:latin typeface="Graphik Semibold"/>
          <a:ea typeface="Graphik Semibold"/>
          <a:cs typeface="Graphik Semibold"/>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FBD17"/>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n" i="off">
        <a:font>
          <a:latin typeface="Graphik Semibold"/>
          <a:ea typeface="Graphik Semibold"/>
          <a:cs typeface="Graphik Semibold"/>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8A25"/>
          </a:solidFill>
        </a:fill>
      </a:tcStyle>
    </a:firstRow>
  </a:tblStyle>
  <a:tblStyle styleId="{33BA23B1-9221-436E-865A-0063620EA4FD}" styleName="">
    <a:tblBg/>
    <a:wholeTbl>
      <a:tcTxStyle b="off" i="off">
        <a:font>
          <a:latin typeface="Graphik"/>
          <a:ea typeface="Graphik"/>
          <a:cs typeface="Graphik"/>
        </a:font>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12700" cap="flat">
              <a:solidFill>
                <a:srgbClr val="5E5E5E"/>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noFill/>
        </a:fill>
      </a:tcStyle>
    </a:wholeTbl>
    <a:band2H>
      <a:tcTxStyle/>
      <a:tcStyle>
        <a:tcBdr/>
        <a:fill>
          <a:solidFill>
            <a:srgbClr val="ECEEEF"/>
          </a:solidFill>
        </a:fill>
      </a:tcStyle>
    </a:band2H>
    <a:firstCol>
      <a:tcTxStyle b="on" i="off">
        <a:font>
          <a:latin typeface="Graphik Semibold"/>
          <a:ea typeface="Graphik Semibold"/>
          <a:cs typeface="Graphik Semibold"/>
        </a:font>
        <a:srgbClr val="FFFFFF"/>
      </a:tcTxStyle>
      <a:tcStyle>
        <a:tcBdr>
          <a:left>
            <a:ln w="12700" cap="flat">
              <a:solidFill>
                <a:srgbClr val="A6AAA9"/>
              </a:solidFill>
              <a:prstDash val="solid"/>
              <a:miter lim="400000"/>
            </a:ln>
          </a:left>
          <a:right>
            <a:ln w="12700" cap="flat">
              <a:solidFill>
                <a:srgbClr val="5E5E5E"/>
              </a:solidFill>
              <a:prstDash val="solid"/>
              <a:miter lim="400000"/>
            </a:ln>
          </a:right>
          <a:top>
            <a:ln w="12700" cap="flat">
              <a:solidFill>
                <a:srgbClr val="5E5E5E"/>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32C5B9"/>
          </a:solidFill>
        </a:fill>
      </a:tcStyle>
    </a:firstCol>
    <a:lastRow>
      <a:tcTxStyle b="on" i="off">
        <a:font>
          <a:latin typeface="Graphik Semibold"/>
          <a:ea typeface="Graphik Semibold"/>
          <a:cs typeface="Graphik Semibold"/>
        </a:font>
        <a:srgbClr val="000000"/>
      </a:tcTxStyle>
      <a:tcStyle>
        <a:tcBdr>
          <a:left>
            <a:ln w="12700" cap="flat">
              <a:solidFill>
                <a:srgbClr val="A6AAA9"/>
              </a:solidFill>
              <a:prstDash val="solid"/>
              <a:miter lim="400000"/>
            </a:ln>
          </a:left>
          <a:right>
            <a:ln w="12700" cap="flat">
              <a:solidFill>
                <a:srgbClr val="A6AAA9"/>
              </a:solidFill>
              <a:prstDash val="solid"/>
              <a:miter lim="400000"/>
            </a:ln>
          </a:right>
          <a:top>
            <a:ln w="38100" cap="flat">
              <a:solidFill>
                <a:schemeClr val="accent2">
                  <a:hueOff val="240640"/>
                  <a:satOff val="2542"/>
                  <a:lumOff val="-13198"/>
                </a:schemeClr>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FFFFFF"/>
          </a:solidFill>
        </a:fill>
      </a:tcStyle>
    </a:lastRow>
    <a:firstRow>
      <a:tcTxStyle b="on" i="off">
        <a:font>
          <a:latin typeface="Graphik Semibold"/>
          <a:ea typeface="Graphik Semibold"/>
          <a:cs typeface="Graphik Semibold"/>
        </a:font>
        <a:srgbClr val="FFFFFF"/>
      </a:tcTxStyle>
      <a:tcStyle>
        <a:tcBdr>
          <a:left>
            <a:ln w="12700" cap="flat">
              <a:solidFill>
                <a:srgbClr val="5E5E5E"/>
              </a:solidFill>
              <a:prstDash val="solid"/>
              <a:miter lim="400000"/>
            </a:ln>
          </a:left>
          <a:right>
            <a:ln w="12700" cap="flat">
              <a:solidFill>
                <a:srgbClr val="5E5E5E"/>
              </a:solidFill>
              <a:prstDash val="solid"/>
              <a:miter lim="400000"/>
            </a:ln>
          </a:right>
          <a:top>
            <a:ln w="12700" cap="flat">
              <a:solidFill>
                <a:srgbClr val="A6AAA9"/>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chemeClr val="accent2">
              <a:hueOff val="240640"/>
              <a:satOff val="2542"/>
              <a:lumOff val="-13198"/>
            </a:schemeClr>
          </a:solidFill>
        </a:fill>
      </a:tcStyle>
    </a:firstRow>
  </a:tblStyle>
  <a:tblStyle styleId="{2708684C-4D16-4618-839F-0558EEFCDFE6}" styleName="">
    <a:tblBg/>
    <a:wholeTbl>
      <a:tcTxStyle b="off" i="off">
        <a:font>
          <a:latin typeface="Graphik"/>
          <a:ea typeface="Graphik"/>
          <a:cs typeface="Graphik"/>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F"/>
          </a:solidFill>
        </a:fill>
      </a:tcStyle>
    </a:band2H>
    <a:firstCol>
      <a:tcTxStyle b="on" i="off">
        <a:font>
          <a:latin typeface="Graphik Semibold"/>
          <a:ea typeface="Graphik Semibold"/>
          <a:cs typeface="Graphik Semibold"/>
        </a:font>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7685"/>
    <p:restoredTop sz="94635"/>
  </p:normalViewPr>
  <p:slideViewPr>
    <p:cSldViewPr snapToGrid="0">
      <p:cViewPr varScale="1">
        <p:scale>
          <a:sx n="57" d="100"/>
          <a:sy n="57" d="100"/>
        </p:scale>
        <p:origin x="440" y="184"/>
      </p:cViewPr>
      <p:guideLst/>
    </p:cSldViewPr>
  </p:slideViewPr>
  <p:outlineViewPr>
    <p:cViewPr>
      <p:scale>
        <a:sx n="33" d="100"/>
        <a:sy n="33" d="100"/>
      </p:scale>
      <p:origin x="0" y="-1416"/>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8" name="Shape 168"/>
          <p:cNvSpPr>
            <a:spLocks noGrp="1" noRot="1" noChangeAspect="1"/>
          </p:cNvSpPr>
          <p:nvPr>
            <p:ph type="sldImg"/>
          </p:nvPr>
        </p:nvSpPr>
        <p:spPr>
          <a:xfrm>
            <a:off x="1143000" y="685800"/>
            <a:ext cx="4572000" cy="3429000"/>
          </a:xfrm>
          <a:prstGeom prst="rect">
            <a:avLst/>
          </a:prstGeom>
        </p:spPr>
        <p:txBody>
          <a:bodyPr/>
          <a:lstStyle/>
          <a:p>
            <a:endParaRPr/>
          </a:p>
        </p:txBody>
      </p:sp>
      <p:sp>
        <p:nvSpPr>
          <p:cNvPr id="169" name="Shape 169"/>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Helvetica Neue"/>
        <a:ea typeface="Helvetica Neue"/>
        <a:cs typeface="Helvetica Neue"/>
        <a:sym typeface="Helvetica Neue"/>
      </a:defRPr>
    </a:lvl1pPr>
    <a:lvl2pPr indent="228600" defTabSz="457200" latinLnBrk="0">
      <a:lnSpc>
        <a:spcPct val="117999"/>
      </a:lnSpc>
      <a:defRPr sz="2200">
        <a:latin typeface="Helvetica Neue"/>
        <a:ea typeface="Helvetica Neue"/>
        <a:cs typeface="Helvetica Neue"/>
        <a:sym typeface="Helvetica Neue"/>
      </a:defRPr>
    </a:lvl2pPr>
    <a:lvl3pPr indent="457200" defTabSz="457200" latinLnBrk="0">
      <a:lnSpc>
        <a:spcPct val="117999"/>
      </a:lnSpc>
      <a:defRPr sz="2200">
        <a:latin typeface="Helvetica Neue"/>
        <a:ea typeface="Helvetica Neue"/>
        <a:cs typeface="Helvetica Neue"/>
        <a:sym typeface="Helvetica Neue"/>
      </a:defRPr>
    </a:lvl3pPr>
    <a:lvl4pPr indent="685800" defTabSz="457200" latinLnBrk="0">
      <a:lnSpc>
        <a:spcPct val="117999"/>
      </a:lnSpc>
      <a:defRPr sz="2200">
        <a:latin typeface="Helvetica Neue"/>
        <a:ea typeface="Helvetica Neue"/>
        <a:cs typeface="Helvetica Neue"/>
        <a:sym typeface="Helvetica Neue"/>
      </a:defRPr>
    </a:lvl4pPr>
    <a:lvl5pPr indent="914400" defTabSz="457200" latinLnBrk="0">
      <a:lnSpc>
        <a:spcPct val="117999"/>
      </a:lnSpc>
      <a:defRPr sz="2200">
        <a:latin typeface="Helvetica Neue"/>
        <a:ea typeface="Helvetica Neue"/>
        <a:cs typeface="Helvetica Neue"/>
        <a:sym typeface="Helvetica Neue"/>
      </a:defRPr>
    </a:lvl5pPr>
    <a:lvl6pPr indent="1143000" defTabSz="457200" latinLnBrk="0">
      <a:lnSpc>
        <a:spcPct val="117999"/>
      </a:lnSpc>
      <a:defRPr sz="2200">
        <a:latin typeface="Helvetica Neue"/>
        <a:ea typeface="Helvetica Neue"/>
        <a:cs typeface="Helvetica Neue"/>
        <a:sym typeface="Helvetica Neue"/>
      </a:defRPr>
    </a:lvl6pPr>
    <a:lvl7pPr indent="1371600" defTabSz="457200" latinLnBrk="0">
      <a:lnSpc>
        <a:spcPct val="117999"/>
      </a:lnSpc>
      <a:defRPr sz="2200">
        <a:latin typeface="Helvetica Neue"/>
        <a:ea typeface="Helvetica Neue"/>
        <a:cs typeface="Helvetica Neue"/>
        <a:sym typeface="Helvetica Neue"/>
      </a:defRPr>
    </a:lvl7pPr>
    <a:lvl8pPr indent="1600200" defTabSz="457200" latinLnBrk="0">
      <a:lnSpc>
        <a:spcPct val="117999"/>
      </a:lnSpc>
      <a:defRPr sz="2200">
        <a:latin typeface="Helvetica Neue"/>
        <a:ea typeface="Helvetica Neue"/>
        <a:cs typeface="Helvetica Neue"/>
        <a:sym typeface="Helvetica Neue"/>
      </a:defRPr>
    </a:lvl8pPr>
    <a:lvl9pPr indent="1828800" defTabSz="457200" latinLnBrk="0">
      <a:lnSpc>
        <a:spcPct val="117999"/>
      </a:lnSpc>
      <a:defRPr sz="2200">
        <a:latin typeface="Helvetica Neue"/>
        <a:ea typeface="Helvetica Neue"/>
        <a:cs typeface="Helvetica Neue"/>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229393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p:spTree>
      <p:nvGrpSpPr>
        <p:cNvPr id="1" name=""/>
        <p:cNvGrpSpPr/>
        <p:nvPr/>
      </p:nvGrpSpPr>
      <p:grpSpPr>
        <a:xfrm>
          <a:off x="0" y="0"/>
          <a:ext cx="0" cy="0"/>
          <a:chOff x="0" y="0"/>
          <a:chExt cx="0" cy="0"/>
        </a:xfrm>
      </p:grpSpPr>
      <p:sp>
        <p:nvSpPr>
          <p:cNvPr id="11" name="Author and Date"/>
          <p:cNvSpPr txBox="1">
            <a:spLocks noGrp="1"/>
          </p:cNvSpPr>
          <p:nvPr>
            <p:ph type="body" sz="quarter" idx="21" hasCustomPrompt="1"/>
          </p:nvPr>
        </p:nvSpPr>
        <p:spPr>
          <a:xfrm>
            <a:off x="1219200" y="11986162"/>
            <a:ext cx="21945599" cy="605791"/>
          </a:xfrm>
          <a:prstGeom prst="rect">
            <a:avLst/>
          </a:prstGeom>
        </p:spPr>
        <p:txBody>
          <a:bodyPr/>
          <a:lstStyle>
            <a:lvl1pPr marL="0" indent="0" algn="ctr" defTabSz="825500">
              <a:lnSpc>
                <a:spcPct val="100000"/>
              </a:lnSpc>
              <a:spcBef>
                <a:spcPts val="0"/>
              </a:spcBef>
              <a:buSzTx/>
              <a:buNone/>
              <a:defRPr sz="3000" spc="-29">
                <a:latin typeface="Graphik-Medium"/>
                <a:ea typeface="Graphik-Medium"/>
                <a:cs typeface="Graphik-Medium"/>
                <a:sym typeface="Graphik Medium"/>
              </a:defRPr>
            </a:lvl1pPr>
          </a:lstStyle>
          <a:p>
            <a:r>
              <a:t>Author and Date</a:t>
            </a:r>
          </a:p>
        </p:txBody>
      </p:sp>
      <p:sp>
        <p:nvSpPr>
          <p:cNvPr id="12" name="Presentation Title"/>
          <p:cNvSpPr txBox="1">
            <a:spLocks noGrp="1"/>
          </p:cNvSpPr>
          <p:nvPr>
            <p:ph type="title" hasCustomPrompt="1"/>
          </p:nvPr>
        </p:nvSpPr>
        <p:spPr>
          <a:xfrm>
            <a:off x="1219200" y="3543300"/>
            <a:ext cx="21945600" cy="4267200"/>
          </a:xfrm>
          <a:prstGeom prst="rect">
            <a:avLst/>
          </a:prstGeom>
        </p:spPr>
        <p:txBody>
          <a:bodyPr anchor="b"/>
          <a:lstStyle>
            <a:lvl1pPr>
              <a:defRPr sz="12800" spc="-128"/>
            </a:lvl1pPr>
          </a:lstStyle>
          <a:p>
            <a:r>
              <a:t>Presentation Title</a:t>
            </a:r>
          </a:p>
        </p:txBody>
      </p:sp>
      <p:sp>
        <p:nvSpPr>
          <p:cNvPr id="13" name="Body Level One…"/>
          <p:cNvSpPr txBox="1">
            <a:spLocks noGrp="1"/>
          </p:cNvSpPr>
          <p:nvPr>
            <p:ph type="body" sz="quarter" idx="1" hasCustomPrompt="1"/>
          </p:nvPr>
        </p:nvSpPr>
        <p:spPr>
          <a:xfrm>
            <a:off x="1219200" y="7567579"/>
            <a:ext cx="21945600" cy="2250593"/>
          </a:xfrm>
          <a:prstGeom prst="rect">
            <a:avLst/>
          </a:prstGeom>
        </p:spPr>
        <p:txBody>
          <a:bodyPr/>
          <a:lstStyle>
            <a:lvl1pPr marL="0" indent="0" algn="ctr" defTabSz="825500">
              <a:lnSpc>
                <a:spcPct val="100000"/>
              </a:lnSpc>
              <a:spcBef>
                <a:spcPts val="0"/>
              </a:spcBef>
              <a:buSzTx/>
              <a:buNone/>
              <a:defRPr sz="6000" spc="-59">
                <a:latin typeface="Graphik-SemiboldItalic"/>
                <a:ea typeface="Graphik-SemiboldItalic"/>
                <a:cs typeface="Graphik-SemiboldItalic"/>
                <a:sym typeface="Graphik Semibold"/>
              </a:defRPr>
            </a:lvl1pPr>
            <a:lvl2pPr marL="0" indent="457200" algn="ctr" defTabSz="825500">
              <a:lnSpc>
                <a:spcPct val="100000"/>
              </a:lnSpc>
              <a:spcBef>
                <a:spcPts val="0"/>
              </a:spcBef>
              <a:buSzTx/>
              <a:buNone/>
              <a:defRPr sz="6000" spc="-59">
                <a:latin typeface="Graphik-SemiboldItalic"/>
                <a:ea typeface="Graphik-SemiboldItalic"/>
                <a:cs typeface="Graphik-SemiboldItalic"/>
                <a:sym typeface="Graphik Semibold"/>
              </a:defRPr>
            </a:lvl2pPr>
            <a:lvl3pPr marL="0" indent="914400" algn="ctr" defTabSz="825500">
              <a:lnSpc>
                <a:spcPct val="100000"/>
              </a:lnSpc>
              <a:spcBef>
                <a:spcPts val="0"/>
              </a:spcBef>
              <a:buSzTx/>
              <a:buNone/>
              <a:defRPr sz="6000" spc="-59">
                <a:latin typeface="Graphik-SemiboldItalic"/>
                <a:ea typeface="Graphik-SemiboldItalic"/>
                <a:cs typeface="Graphik-SemiboldItalic"/>
                <a:sym typeface="Graphik Semibold"/>
              </a:defRPr>
            </a:lvl3pPr>
            <a:lvl4pPr marL="0" indent="1371600" algn="ctr" defTabSz="825500">
              <a:lnSpc>
                <a:spcPct val="100000"/>
              </a:lnSpc>
              <a:spcBef>
                <a:spcPts val="0"/>
              </a:spcBef>
              <a:buSzTx/>
              <a:buNone/>
              <a:defRPr sz="6000" spc="-59">
                <a:latin typeface="Graphik-SemiboldItalic"/>
                <a:ea typeface="Graphik-SemiboldItalic"/>
                <a:cs typeface="Graphik-SemiboldItalic"/>
                <a:sym typeface="Graphik Semibold"/>
              </a:defRPr>
            </a:lvl4pPr>
            <a:lvl5pPr marL="0" indent="1828800" algn="ctr" defTabSz="825500">
              <a:lnSpc>
                <a:spcPct val="100000"/>
              </a:lnSpc>
              <a:spcBef>
                <a:spcPts val="0"/>
              </a:spcBef>
              <a:buSzTx/>
              <a:buNone/>
              <a:defRPr sz="6000" spc="-59">
                <a:latin typeface="Graphik-SemiboldItalic"/>
                <a:ea typeface="Graphik-SemiboldItalic"/>
                <a:cs typeface="Graphik-SemiboldItalic"/>
                <a:sym typeface="Graphik Semibold"/>
              </a:defRPr>
            </a:lvl5pPr>
          </a:lstStyle>
          <a:p>
            <a:r>
              <a:t>Presentation Subtitle</a:t>
            </a:r>
          </a:p>
          <a:p>
            <a:pPr lvl="1"/>
            <a:endParaRPr/>
          </a:p>
          <a:p>
            <a:pPr lvl="2"/>
            <a:endParaRPr/>
          </a:p>
          <a:p>
            <a:pPr lvl="3"/>
            <a:endParaRPr/>
          </a:p>
          <a:p>
            <a:pPr lvl="4"/>
            <a:endParaRPr/>
          </a:p>
        </p:txBody>
      </p:sp>
      <p:sp>
        <p:nvSpPr>
          <p:cNvPr id="14" name="Slide Number"/>
          <p:cNvSpPr txBox="1">
            <a:spLocks noGrp="1"/>
          </p:cNvSpPr>
          <p:nvPr>
            <p:ph type="sldNum" sz="quarter" idx="2"/>
          </p:nvPr>
        </p:nvSpPr>
        <p:spPr>
          <a:xfrm>
            <a:off x="12001499" y="12700000"/>
            <a:ext cx="388621" cy="42926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Title &amp; Photo">
    <p:spTree>
      <p:nvGrpSpPr>
        <p:cNvPr id="1" name=""/>
        <p:cNvGrpSpPr/>
        <p:nvPr/>
      </p:nvGrpSpPr>
      <p:grpSpPr>
        <a:xfrm>
          <a:off x="0" y="0"/>
          <a:ext cx="0" cy="0"/>
          <a:chOff x="0" y="0"/>
          <a:chExt cx="0" cy="0"/>
        </a:xfrm>
      </p:grpSpPr>
      <p:sp>
        <p:nvSpPr>
          <p:cNvPr id="21" name="Beach and sea at sunset"/>
          <p:cNvSpPr>
            <a:spLocks noGrp="1"/>
          </p:cNvSpPr>
          <p:nvPr>
            <p:ph type="pic" idx="21"/>
          </p:nvPr>
        </p:nvSpPr>
        <p:spPr>
          <a:xfrm>
            <a:off x="0" y="-1270000"/>
            <a:ext cx="24384000" cy="16256000"/>
          </a:xfrm>
          <a:prstGeom prst="rect">
            <a:avLst/>
          </a:prstGeom>
        </p:spPr>
        <p:txBody>
          <a:bodyPr lIns="91439" tIns="45719" rIns="91439" bIns="45719">
            <a:noAutofit/>
          </a:bodyPr>
          <a:lstStyle/>
          <a:p>
            <a:endParaRPr/>
          </a:p>
        </p:txBody>
      </p:sp>
      <p:sp>
        <p:nvSpPr>
          <p:cNvPr id="22" name="Presentation Title"/>
          <p:cNvSpPr txBox="1">
            <a:spLocks noGrp="1"/>
          </p:cNvSpPr>
          <p:nvPr>
            <p:ph type="title" hasCustomPrompt="1"/>
          </p:nvPr>
        </p:nvSpPr>
        <p:spPr>
          <a:xfrm>
            <a:off x="1219200" y="3543300"/>
            <a:ext cx="21945600" cy="4267200"/>
          </a:xfrm>
          <a:prstGeom prst="rect">
            <a:avLst/>
          </a:prstGeom>
        </p:spPr>
        <p:txBody>
          <a:bodyPr anchor="b"/>
          <a:lstStyle>
            <a:lvl1pPr>
              <a:defRPr sz="12800" spc="-128">
                <a:solidFill>
                  <a:srgbClr val="FFFFFF"/>
                </a:solidFill>
              </a:defRPr>
            </a:lvl1pPr>
          </a:lstStyle>
          <a:p>
            <a:r>
              <a:t>Presentation Title</a:t>
            </a:r>
          </a:p>
        </p:txBody>
      </p:sp>
      <p:sp>
        <p:nvSpPr>
          <p:cNvPr id="23" name="Body Level One…"/>
          <p:cNvSpPr txBox="1">
            <a:spLocks noGrp="1"/>
          </p:cNvSpPr>
          <p:nvPr>
            <p:ph type="body" sz="quarter" idx="1" hasCustomPrompt="1"/>
          </p:nvPr>
        </p:nvSpPr>
        <p:spPr>
          <a:xfrm>
            <a:off x="1219200" y="7569200"/>
            <a:ext cx="21945600" cy="2252112"/>
          </a:xfrm>
          <a:prstGeom prst="rect">
            <a:avLst/>
          </a:prstGeom>
        </p:spPr>
        <p:txBody>
          <a:bodyPr/>
          <a:lstStyle>
            <a:lvl1pPr marL="0" indent="0" algn="ctr" defTabSz="825500">
              <a:lnSpc>
                <a:spcPct val="100000"/>
              </a:lnSpc>
              <a:spcBef>
                <a:spcPts val="0"/>
              </a:spcBef>
              <a:buSzTx/>
              <a:buNone/>
              <a:defRPr sz="6000" spc="-59">
                <a:solidFill>
                  <a:srgbClr val="FFFFFF"/>
                </a:solidFill>
                <a:latin typeface="Graphik-SemiboldItalic"/>
                <a:ea typeface="Graphik-SemiboldItalic"/>
                <a:cs typeface="Graphik-SemiboldItalic"/>
                <a:sym typeface="Graphik Semibold"/>
              </a:defRPr>
            </a:lvl1pPr>
            <a:lvl2pPr marL="0" indent="457200" algn="ctr" defTabSz="825500">
              <a:lnSpc>
                <a:spcPct val="100000"/>
              </a:lnSpc>
              <a:spcBef>
                <a:spcPts val="0"/>
              </a:spcBef>
              <a:buSzTx/>
              <a:buNone/>
              <a:defRPr sz="6000" spc="-59">
                <a:solidFill>
                  <a:srgbClr val="FFFFFF"/>
                </a:solidFill>
                <a:latin typeface="Graphik-SemiboldItalic"/>
                <a:ea typeface="Graphik-SemiboldItalic"/>
                <a:cs typeface="Graphik-SemiboldItalic"/>
                <a:sym typeface="Graphik Semibold"/>
              </a:defRPr>
            </a:lvl2pPr>
            <a:lvl3pPr marL="0" indent="914400" algn="ctr" defTabSz="825500">
              <a:lnSpc>
                <a:spcPct val="100000"/>
              </a:lnSpc>
              <a:spcBef>
                <a:spcPts val="0"/>
              </a:spcBef>
              <a:buSzTx/>
              <a:buNone/>
              <a:defRPr sz="6000" spc="-59">
                <a:solidFill>
                  <a:srgbClr val="FFFFFF"/>
                </a:solidFill>
                <a:latin typeface="Graphik-SemiboldItalic"/>
                <a:ea typeface="Graphik-SemiboldItalic"/>
                <a:cs typeface="Graphik-SemiboldItalic"/>
                <a:sym typeface="Graphik Semibold"/>
              </a:defRPr>
            </a:lvl3pPr>
            <a:lvl4pPr marL="0" indent="1371600" algn="ctr" defTabSz="825500">
              <a:lnSpc>
                <a:spcPct val="100000"/>
              </a:lnSpc>
              <a:spcBef>
                <a:spcPts val="0"/>
              </a:spcBef>
              <a:buSzTx/>
              <a:buNone/>
              <a:defRPr sz="6000" spc="-59">
                <a:solidFill>
                  <a:srgbClr val="FFFFFF"/>
                </a:solidFill>
                <a:latin typeface="Graphik-SemiboldItalic"/>
                <a:ea typeface="Graphik-SemiboldItalic"/>
                <a:cs typeface="Graphik-SemiboldItalic"/>
                <a:sym typeface="Graphik Semibold"/>
              </a:defRPr>
            </a:lvl4pPr>
            <a:lvl5pPr marL="0" indent="1828800" algn="ctr" defTabSz="825500">
              <a:lnSpc>
                <a:spcPct val="100000"/>
              </a:lnSpc>
              <a:spcBef>
                <a:spcPts val="0"/>
              </a:spcBef>
              <a:buSzTx/>
              <a:buNone/>
              <a:defRPr sz="6000" spc="-59">
                <a:solidFill>
                  <a:srgbClr val="FFFFFF"/>
                </a:solidFill>
                <a:latin typeface="Graphik-SemiboldItalic"/>
                <a:ea typeface="Graphik-SemiboldItalic"/>
                <a:cs typeface="Graphik-SemiboldItalic"/>
                <a:sym typeface="Graphik Semibold"/>
              </a:defRPr>
            </a:lvl5pPr>
          </a:lstStyle>
          <a:p>
            <a:r>
              <a:t>Presentation Subtitle</a:t>
            </a:r>
          </a:p>
          <a:p>
            <a:pPr lvl="1"/>
            <a:endParaRPr/>
          </a:p>
          <a:p>
            <a:pPr lvl="2"/>
            <a:endParaRPr/>
          </a:p>
          <a:p>
            <a:pPr lvl="3"/>
            <a:endParaRPr/>
          </a:p>
          <a:p>
            <a:pPr lvl="4"/>
            <a:endParaRPr/>
          </a:p>
        </p:txBody>
      </p:sp>
      <p:sp>
        <p:nvSpPr>
          <p:cNvPr id="24" name="Author and Date"/>
          <p:cNvSpPr txBox="1">
            <a:spLocks noGrp="1"/>
          </p:cNvSpPr>
          <p:nvPr>
            <p:ph type="body" sz="quarter" idx="22" hasCustomPrompt="1"/>
          </p:nvPr>
        </p:nvSpPr>
        <p:spPr>
          <a:xfrm>
            <a:off x="1219200" y="11988800"/>
            <a:ext cx="21945602" cy="605791"/>
          </a:xfrm>
          <a:prstGeom prst="rect">
            <a:avLst/>
          </a:prstGeom>
        </p:spPr>
        <p:txBody>
          <a:bodyPr/>
          <a:lstStyle>
            <a:lvl1pPr marL="0" indent="0" algn="ctr" defTabSz="825500">
              <a:lnSpc>
                <a:spcPct val="100000"/>
              </a:lnSpc>
              <a:spcBef>
                <a:spcPts val="0"/>
              </a:spcBef>
              <a:buSzTx/>
              <a:buNone/>
              <a:defRPr sz="3000" spc="-29">
                <a:solidFill>
                  <a:srgbClr val="FFFFFF"/>
                </a:solidFill>
                <a:latin typeface="Graphik-Medium"/>
                <a:ea typeface="Graphik-Medium"/>
                <a:cs typeface="Graphik-Medium"/>
                <a:sym typeface="Graphik Medium"/>
              </a:defRPr>
            </a:lvl1pPr>
          </a:lstStyle>
          <a:p>
            <a:r>
              <a:t>Author and Date</a:t>
            </a:r>
          </a:p>
        </p:txBody>
      </p:sp>
      <p:sp>
        <p:nvSpPr>
          <p:cNvPr id="25" name="Slide Number"/>
          <p:cNvSpPr txBox="1">
            <a:spLocks noGrp="1"/>
          </p:cNvSpPr>
          <p:nvPr>
            <p:ph type="sldNum" sz="quarter" idx="2"/>
          </p:nvPr>
        </p:nvSpPr>
        <p:spPr>
          <a:prstGeom prst="rect">
            <a:avLst/>
          </a:prstGeom>
        </p:spPr>
        <p:txBody>
          <a:bodyPr/>
          <a:lstStyle>
            <a:lvl1pPr>
              <a:defRPr>
                <a:solidFill>
                  <a:srgbClr val="FFFFFF"/>
                </a:solidFill>
              </a:defRPr>
            </a:lvl1p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Title &amp; Photo Alt">
    <p:spTree>
      <p:nvGrpSpPr>
        <p:cNvPr id="1" name=""/>
        <p:cNvGrpSpPr/>
        <p:nvPr/>
      </p:nvGrpSpPr>
      <p:grpSpPr>
        <a:xfrm>
          <a:off x="0" y="0"/>
          <a:ext cx="0" cy="0"/>
          <a:chOff x="0" y="0"/>
          <a:chExt cx="0" cy="0"/>
        </a:xfrm>
      </p:grpSpPr>
      <p:sp>
        <p:nvSpPr>
          <p:cNvPr id="32" name="Slide Title"/>
          <p:cNvSpPr txBox="1">
            <a:spLocks noGrp="1"/>
          </p:cNvSpPr>
          <p:nvPr>
            <p:ph type="title" hasCustomPrompt="1"/>
          </p:nvPr>
        </p:nvSpPr>
        <p:spPr>
          <a:xfrm>
            <a:off x="1215495" y="4585102"/>
            <a:ext cx="9757338" cy="2540001"/>
          </a:xfrm>
          <a:prstGeom prst="rect">
            <a:avLst/>
          </a:prstGeom>
        </p:spPr>
        <p:txBody>
          <a:bodyPr anchor="b"/>
          <a:lstStyle/>
          <a:p>
            <a:r>
              <a:t>Slide Title</a:t>
            </a:r>
          </a:p>
        </p:txBody>
      </p:sp>
      <p:sp>
        <p:nvSpPr>
          <p:cNvPr id="33" name="Sea against sky at sunset"/>
          <p:cNvSpPr>
            <a:spLocks noGrp="1"/>
          </p:cNvSpPr>
          <p:nvPr>
            <p:ph type="pic" idx="21"/>
          </p:nvPr>
        </p:nvSpPr>
        <p:spPr>
          <a:xfrm>
            <a:off x="9283700" y="1270000"/>
            <a:ext cx="16751300" cy="11176000"/>
          </a:xfrm>
          <a:prstGeom prst="rect">
            <a:avLst/>
          </a:prstGeom>
        </p:spPr>
        <p:txBody>
          <a:bodyPr lIns="91439" tIns="45719" rIns="91439" bIns="45719">
            <a:noAutofit/>
          </a:bodyPr>
          <a:lstStyle/>
          <a:p>
            <a:endParaRPr/>
          </a:p>
        </p:txBody>
      </p:sp>
      <p:sp>
        <p:nvSpPr>
          <p:cNvPr id="34" name="Body Level One…"/>
          <p:cNvSpPr txBox="1">
            <a:spLocks noGrp="1"/>
          </p:cNvSpPr>
          <p:nvPr>
            <p:ph type="body" sz="quarter" idx="1" hasCustomPrompt="1"/>
          </p:nvPr>
        </p:nvSpPr>
        <p:spPr>
          <a:xfrm>
            <a:off x="1219200" y="7016750"/>
            <a:ext cx="9753600" cy="5416550"/>
          </a:xfrm>
          <a:prstGeom prst="rect">
            <a:avLst/>
          </a:prstGeom>
        </p:spPr>
        <p:txBody>
          <a:bodyPr/>
          <a:lstStyle>
            <a:lvl1pPr marL="0" indent="0" algn="ctr" defTabSz="825500">
              <a:lnSpc>
                <a:spcPct val="100000"/>
              </a:lnSpc>
              <a:spcBef>
                <a:spcPts val="0"/>
              </a:spcBef>
              <a:buSzTx/>
              <a:buNone/>
              <a:defRPr spc="-44">
                <a:latin typeface="Graphik-SemiboldItalic"/>
                <a:ea typeface="Graphik-SemiboldItalic"/>
                <a:cs typeface="Graphik-SemiboldItalic"/>
                <a:sym typeface="Graphik Semibold"/>
              </a:defRPr>
            </a:lvl1pPr>
            <a:lvl2pPr marL="0" indent="457200" algn="ctr" defTabSz="825500">
              <a:lnSpc>
                <a:spcPct val="100000"/>
              </a:lnSpc>
              <a:spcBef>
                <a:spcPts val="0"/>
              </a:spcBef>
              <a:buSzTx/>
              <a:buNone/>
              <a:defRPr spc="-44">
                <a:latin typeface="Graphik-SemiboldItalic"/>
                <a:ea typeface="Graphik-SemiboldItalic"/>
                <a:cs typeface="Graphik-SemiboldItalic"/>
                <a:sym typeface="Graphik Semibold"/>
              </a:defRPr>
            </a:lvl2pPr>
            <a:lvl3pPr marL="0" indent="914400" algn="ctr" defTabSz="825500">
              <a:lnSpc>
                <a:spcPct val="100000"/>
              </a:lnSpc>
              <a:spcBef>
                <a:spcPts val="0"/>
              </a:spcBef>
              <a:buSzTx/>
              <a:buNone/>
              <a:defRPr spc="-44">
                <a:latin typeface="Graphik-SemiboldItalic"/>
                <a:ea typeface="Graphik-SemiboldItalic"/>
                <a:cs typeface="Graphik-SemiboldItalic"/>
                <a:sym typeface="Graphik Semibold"/>
              </a:defRPr>
            </a:lvl3pPr>
            <a:lvl4pPr marL="0" indent="1371600" algn="ctr" defTabSz="825500">
              <a:lnSpc>
                <a:spcPct val="100000"/>
              </a:lnSpc>
              <a:spcBef>
                <a:spcPts val="0"/>
              </a:spcBef>
              <a:buSzTx/>
              <a:buNone/>
              <a:defRPr spc="-44">
                <a:latin typeface="Graphik-SemiboldItalic"/>
                <a:ea typeface="Graphik-SemiboldItalic"/>
                <a:cs typeface="Graphik-SemiboldItalic"/>
                <a:sym typeface="Graphik Semibold"/>
              </a:defRPr>
            </a:lvl4pPr>
            <a:lvl5pPr marL="0" indent="1828800" algn="ctr" defTabSz="825500">
              <a:lnSpc>
                <a:spcPct val="100000"/>
              </a:lnSpc>
              <a:spcBef>
                <a:spcPts val="0"/>
              </a:spcBef>
              <a:buSzTx/>
              <a:buNone/>
              <a:defRPr spc="-44">
                <a:latin typeface="Graphik-SemiboldItalic"/>
                <a:ea typeface="Graphik-SemiboldItalic"/>
                <a:cs typeface="Graphik-SemiboldItalic"/>
                <a:sym typeface="Graphik Semibold"/>
              </a:defRPr>
            </a:lvl5pPr>
          </a:lstStyle>
          <a:p>
            <a:r>
              <a:t>Slide Subtitle</a:t>
            </a:r>
          </a:p>
          <a:p>
            <a:pPr lvl="1"/>
            <a:endParaRPr/>
          </a:p>
          <a:p>
            <a:pPr lvl="2"/>
            <a:endParaRPr/>
          </a:p>
          <a:p>
            <a:pPr lvl="3"/>
            <a:endParaRPr/>
          </a:p>
          <a:p>
            <a:pPr lvl="4"/>
            <a:endParaRPr/>
          </a:p>
        </p:txBody>
      </p:sp>
      <p:sp>
        <p:nvSpPr>
          <p:cNvPr id="3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42" name="Slide Title"/>
          <p:cNvSpPr txBox="1">
            <a:spLocks noGrp="1"/>
          </p:cNvSpPr>
          <p:nvPr>
            <p:ph type="title" hasCustomPrompt="1"/>
          </p:nvPr>
        </p:nvSpPr>
        <p:spPr>
          <a:prstGeom prst="rect">
            <a:avLst/>
          </a:prstGeom>
        </p:spPr>
        <p:txBody>
          <a:bodyPr/>
          <a:lstStyle/>
          <a:p>
            <a:r>
              <a:t>Slide Title</a:t>
            </a:r>
          </a:p>
        </p:txBody>
      </p:sp>
      <p:sp>
        <p:nvSpPr>
          <p:cNvPr id="43" name="Body Level One…"/>
          <p:cNvSpPr txBox="1">
            <a:spLocks noGrp="1"/>
          </p:cNvSpPr>
          <p:nvPr>
            <p:ph type="body" idx="1" hasCustomPrompt="1"/>
          </p:nvPr>
        </p:nvSpPr>
        <p:spPr>
          <a:prstGeom prst="rect">
            <a:avLst/>
          </a:prstGeom>
        </p:spPr>
        <p:txBody>
          <a:bodyPr/>
          <a:lstStyle/>
          <a:p>
            <a:r>
              <a:t>Slide bullet text</a:t>
            </a:r>
          </a:p>
          <a:p>
            <a:pPr lvl="1"/>
            <a:endParaRPr/>
          </a:p>
          <a:p>
            <a:pPr lvl="2"/>
            <a:endParaRPr/>
          </a:p>
          <a:p>
            <a:pPr lvl="3"/>
            <a:endParaRPr/>
          </a:p>
          <a:p>
            <a:pPr lvl="4"/>
            <a:endParaRPr/>
          </a:p>
        </p:txBody>
      </p:sp>
      <p:sp>
        <p:nvSpPr>
          <p:cNvPr id="44" name="Slide Subtitle"/>
          <p:cNvSpPr txBox="1">
            <a:spLocks noGrp="1"/>
          </p:cNvSpPr>
          <p:nvPr>
            <p:ph type="body" sz="quarter" idx="21" hasCustomPrompt="1"/>
          </p:nvPr>
        </p:nvSpPr>
        <p:spPr>
          <a:xfrm>
            <a:off x="1219200" y="2384648"/>
            <a:ext cx="21945602" cy="832613"/>
          </a:xfrm>
          <a:prstGeom prst="rect">
            <a:avLst/>
          </a:prstGeom>
        </p:spPr>
        <p:txBody>
          <a:bodyPr/>
          <a:lstStyle>
            <a:lvl1pPr marL="0" indent="0" algn="ctr" defTabSz="825500">
              <a:lnSpc>
                <a:spcPct val="100000"/>
              </a:lnSpc>
              <a:spcBef>
                <a:spcPts val="0"/>
              </a:spcBef>
              <a:buSzTx/>
              <a:buNone/>
              <a:defRPr spc="-44">
                <a:latin typeface="Graphik-SemiboldItalic"/>
                <a:ea typeface="Graphik-SemiboldItalic"/>
                <a:cs typeface="Graphik-SemiboldItalic"/>
                <a:sym typeface="Graphik Semibold"/>
              </a:defRPr>
            </a:lvl1pPr>
          </a:lstStyle>
          <a:p>
            <a:r>
              <a:t>Slide Subtitle</a:t>
            </a:r>
          </a:p>
        </p:txBody>
      </p:sp>
      <p:sp>
        <p:nvSpPr>
          <p:cNvPr id="4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Bullets">
    <p:spTree>
      <p:nvGrpSpPr>
        <p:cNvPr id="1" name=""/>
        <p:cNvGrpSpPr/>
        <p:nvPr/>
      </p:nvGrpSpPr>
      <p:grpSpPr>
        <a:xfrm>
          <a:off x="0" y="0"/>
          <a:ext cx="0" cy="0"/>
          <a:chOff x="0" y="0"/>
          <a:chExt cx="0" cy="0"/>
        </a:xfrm>
      </p:grpSpPr>
      <p:sp>
        <p:nvSpPr>
          <p:cNvPr id="52" name="Body Level One…"/>
          <p:cNvSpPr txBox="1">
            <a:spLocks noGrp="1"/>
          </p:cNvSpPr>
          <p:nvPr>
            <p:ph type="body" idx="1" hasCustomPrompt="1"/>
          </p:nvPr>
        </p:nvSpPr>
        <p:spPr>
          <a:xfrm>
            <a:off x="1219200" y="4013200"/>
            <a:ext cx="21945600" cy="8487148"/>
          </a:xfrm>
          <a:prstGeom prst="rect">
            <a:avLst/>
          </a:prstGeom>
        </p:spPr>
        <p:txBody>
          <a:bodyPr numCol="2" spcCol="2558384"/>
          <a:lstStyle/>
          <a:p>
            <a:r>
              <a:t>Slide bullet text</a:t>
            </a:r>
          </a:p>
          <a:p>
            <a:pPr lvl="1"/>
            <a:endParaRPr/>
          </a:p>
          <a:p>
            <a:pPr lvl="2"/>
            <a:endParaRPr/>
          </a:p>
          <a:p>
            <a:pPr lvl="3"/>
            <a:endParaRPr/>
          </a:p>
          <a:p>
            <a:pPr lvl="4"/>
            <a:endParaRPr/>
          </a:p>
        </p:txBody>
      </p:sp>
      <p:sp>
        <p:nvSpPr>
          <p:cNvPr id="53" name="Slide Number"/>
          <p:cNvSpPr txBox="1">
            <a:spLocks noGrp="1"/>
          </p:cNvSpPr>
          <p:nvPr>
            <p:ph type="sldNum" sz="quarter" idx="2"/>
          </p:nvPr>
        </p:nvSpPr>
        <p:spPr>
          <a:xfrm>
            <a:off x="12001499" y="12700000"/>
            <a:ext cx="388621" cy="42926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Title, Bullets &amp; Photo">
    <p:spTree>
      <p:nvGrpSpPr>
        <p:cNvPr id="1" name=""/>
        <p:cNvGrpSpPr/>
        <p:nvPr/>
      </p:nvGrpSpPr>
      <p:grpSpPr>
        <a:xfrm>
          <a:off x="0" y="0"/>
          <a:ext cx="0" cy="0"/>
          <a:chOff x="0" y="0"/>
          <a:chExt cx="0" cy="0"/>
        </a:xfrm>
      </p:grpSpPr>
      <p:sp>
        <p:nvSpPr>
          <p:cNvPr id="60" name="Slide Title"/>
          <p:cNvSpPr txBox="1">
            <a:spLocks noGrp="1"/>
          </p:cNvSpPr>
          <p:nvPr>
            <p:ph type="title" hasCustomPrompt="1"/>
          </p:nvPr>
        </p:nvSpPr>
        <p:spPr>
          <a:xfrm>
            <a:off x="1219200" y="774700"/>
            <a:ext cx="9753600" cy="1600200"/>
          </a:xfrm>
          <a:prstGeom prst="rect">
            <a:avLst/>
          </a:prstGeom>
        </p:spPr>
        <p:txBody>
          <a:bodyPr/>
          <a:lstStyle/>
          <a:p>
            <a:r>
              <a:t>Slide Title</a:t>
            </a:r>
          </a:p>
        </p:txBody>
      </p:sp>
      <p:sp>
        <p:nvSpPr>
          <p:cNvPr id="61" name="Sea against sky at sunset"/>
          <p:cNvSpPr>
            <a:spLocks noGrp="1"/>
          </p:cNvSpPr>
          <p:nvPr>
            <p:ph type="pic" idx="21"/>
          </p:nvPr>
        </p:nvSpPr>
        <p:spPr>
          <a:xfrm>
            <a:off x="12192644" y="718588"/>
            <a:ext cx="10972801" cy="12329624"/>
          </a:xfrm>
          <a:prstGeom prst="rect">
            <a:avLst/>
          </a:prstGeom>
        </p:spPr>
        <p:txBody>
          <a:bodyPr lIns="91439" tIns="45719" rIns="91439" bIns="45719">
            <a:noAutofit/>
          </a:bodyPr>
          <a:lstStyle/>
          <a:p>
            <a:endParaRPr/>
          </a:p>
        </p:txBody>
      </p:sp>
      <p:sp>
        <p:nvSpPr>
          <p:cNvPr id="62" name="Slide Subtitle"/>
          <p:cNvSpPr txBox="1">
            <a:spLocks noGrp="1"/>
          </p:cNvSpPr>
          <p:nvPr>
            <p:ph type="body" sz="quarter" idx="22" hasCustomPrompt="1"/>
          </p:nvPr>
        </p:nvSpPr>
        <p:spPr>
          <a:xfrm>
            <a:off x="1219200" y="2387600"/>
            <a:ext cx="9757569" cy="832612"/>
          </a:xfrm>
          <a:prstGeom prst="rect">
            <a:avLst/>
          </a:prstGeom>
        </p:spPr>
        <p:txBody>
          <a:bodyPr/>
          <a:lstStyle>
            <a:lvl1pPr marL="0" indent="0" algn="ctr" defTabSz="825500">
              <a:lnSpc>
                <a:spcPct val="100000"/>
              </a:lnSpc>
              <a:spcBef>
                <a:spcPts val="0"/>
              </a:spcBef>
              <a:buSzTx/>
              <a:buNone/>
              <a:defRPr spc="-44">
                <a:latin typeface="Graphik-SemiboldItalic"/>
                <a:ea typeface="Graphik-SemiboldItalic"/>
                <a:cs typeface="Graphik-SemiboldItalic"/>
                <a:sym typeface="Graphik Semibold"/>
              </a:defRPr>
            </a:lvl1pPr>
          </a:lstStyle>
          <a:p>
            <a:r>
              <a:t>Slide Subtitle</a:t>
            </a:r>
          </a:p>
        </p:txBody>
      </p:sp>
      <p:sp>
        <p:nvSpPr>
          <p:cNvPr id="63" name="Body Level One…"/>
          <p:cNvSpPr txBox="1">
            <a:spLocks noGrp="1"/>
          </p:cNvSpPr>
          <p:nvPr>
            <p:ph type="body" sz="half" idx="1" hasCustomPrompt="1"/>
          </p:nvPr>
        </p:nvSpPr>
        <p:spPr>
          <a:xfrm>
            <a:off x="1219200" y="4023221"/>
            <a:ext cx="9757569" cy="8384679"/>
          </a:xfrm>
          <a:prstGeom prst="rect">
            <a:avLst/>
          </a:prstGeom>
        </p:spPr>
        <p:txBody>
          <a:bodyPr/>
          <a:lstStyle/>
          <a:p>
            <a:r>
              <a:t>Slide bullet text</a:t>
            </a:r>
          </a:p>
          <a:p>
            <a:pPr lvl="1"/>
            <a:endParaRPr/>
          </a:p>
          <a:p>
            <a:pPr lvl="2"/>
            <a:endParaRPr/>
          </a:p>
          <a:p>
            <a:pPr lvl="3"/>
            <a:endParaRPr/>
          </a:p>
          <a:p>
            <a:pPr lvl="4"/>
            <a:endParaRPr/>
          </a:p>
        </p:txBody>
      </p:sp>
      <p:sp>
        <p:nvSpPr>
          <p:cNvPr id="64" name="Slide Number"/>
          <p:cNvSpPr txBox="1">
            <a:spLocks noGrp="1"/>
          </p:cNvSpPr>
          <p:nvPr>
            <p:ph type="sldNum" sz="quarter" idx="2"/>
          </p:nvPr>
        </p:nvSpPr>
        <p:spPr>
          <a:xfrm>
            <a:off x="12004039" y="12700000"/>
            <a:ext cx="388621" cy="42926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Title, Bullets &amp; Live Video Small">
    <p:spTree>
      <p:nvGrpSpPr>
        <p:cNvPr id="1" name=""/>
        <p:cNvGrpSpPr/>
        <p:nvPr/>
      </p:nvGrpSpPr>
      <p:grpSpPr>
        <a:xfrm>
          <a:off x="0" y="0"/>
          <a:ext cx="0" cy="0"/>
          <a:chOff x="0" y="0"/>
          <a:chExt cx="0" cy="0"/>
        </a:xfrm>
      </p:grpSpPr>
      <p:sp>
        <p:nvSpPr>
          <p:cNvPr id="71" name="Slide Title"/>
          <p:cNvSpPr txBox="1">
            <a:spLocks noGrp="1"/>
          </p:cNvSpPr>
          <p:nvPr>
            <p:ph type="title" hasCustomPrompt="1"/>
          </p:nvPr>
        </p:nvSpPr>
        <p:spPr>
          <a:xfrm>
            <a:off x="1219200" y="774700"/>
            <a:ext cx="9753600" cy="1600200"/>
          </a:xfrm>
          <a:prstGeom prst="rect">
            <a:avLst/>
          </a:prstGeom>
        </p:spPr>
        <p:txBody>
          <a:bodyPr/>
          <a:lstStyle/>
          <a:p>
            <a:r>
              <a:t>Slide Title</a:t>
            </a:r>
          </a:p>
        </p:txBody>
      </p:sp>
      <p:sp>
        <p:nvSpPr>
          <p:cNvPr id="72" name="Slide Subtitle"/>
          <p:cNvSpPr txBox="1">
            <a:spLocks noGrp="1"/>
          </p:cNvSpPr>
          <p:nvPr>
            <p:ph type="body" sz="quarter" idx="21" hasCustomPrompt="1"/>
          </p:nvPr>
        </p:nvSpPr>
        <p:spPr>
          <a:xfrm>
            <a:off x="1219200" y="2387600"/>
            <a:ext cx="9757569" cy="832612"/>
          </a:xfrm>
          <a:prstGeom prst="rect">
            <a:avLst/>
          </a:prstGeom>
        </p:spPr>
        <p:txBody>
          <a:bodyPr/>
          <a:lstStyle>
            <a:lvl1pPr marL="0" indent="0" algn="ctr" defTabSz="825500">
              <a:lnSpc>
                <a:spcPct val="100000"/>
              </a:lnSpc>
              <a:spcBef>
                <a:spcPts val="0"/>
              </a:spcBef>
              <a:buSzTx/>
              <a:buNone/>
              <a:defRPr spc="-44">
                <a:latin typeface="Graphik-SemiboldItalic"/>
                <a:ea typeface="Graphik-SemiboldItalic"/>
                <a:cs typeface="Graphik-SemiboldItalic"/>
                <a:sym typeface="Graphik Semibold"/>
              </a:defRPr>
            </a:lvl1pPr>
          </a:lstStyle>
          <a:p>
            <a:r>
              <a:t>Slide Subtitle</a:t>
            </a:r>
          </a:p>
        </p:txBody>
      </p:sp>
      <p:sp>
        <p:nvSpPr>
          <p:cNvPr id="73" name="Body Level One…"/>
          <p:cNvSpPr txBox="1">
            <a:spLocks noGrp="1"/>
          </p:cNvSpPr>
          <p:nvPr>
            <p:ph type="body" sz="half" idx="1" hasCustomPrompt="1"/>
          </p:nvPr>
        </p:nvSpPr>
        <p:spPr>
          <a:xfrm>
            <a:off x="1219200" y="4023221"/>
            <a:ext cx="9757569" cy="8384679"/>
          </a:xfrm>
          <a:prstGeom prst="rect">
            <a:avLst/>
          </a:prstGeom>
        </p:spPr>
        <p:txBody>
          <a:bodyPr/>
          <a:lstStyle/>
          <a:p>
            <a:r>
              <a:t>Slide bullet text</a:t>
            </a:r>
          </a:p>
          <a:p>
            <a:pPr lvl="1"/>
            <a:endParaRPr/>
          </a:p>
          <a:p>
            <a:pPr lvl="2"/>
            <a:endParaRPr/>
          </a:p>
          <a:p>
            <a:pPr lvl="3"/>
            <a:endParaRPr/>
          </a:p>
          <a:p>
            <a:pPr lvl="4"/>
            <a:endParaRPr/>
          </a:p>
        </p:txBody>
      </p:sp>
      <p:sp>
        <p:nvSpPr>
          <p:cNvPr id="74" name="Slide Number"/>
          <p:cNvSpPr txBox="1">
            <a:spLocks noGrp="1"/>
          </p:cNvSpPr>
          <p:nvPr>
            <p:ph type="sldNum" sz="quarter" idx="2"/>
          </p:nvPr>
        </p:nvSpPr>
        <p:spPr>
          <a:xfrm>
            <a:off x="12004039" y="12700000"/>
            <a:ext cx="388621" cy="42926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Title, Bullets &amp; Live Video Large">
    <p:spTree>
      <p:nvGrpSpPr>
        <p:cNvPr id="1" name=""/>
        <p:cNvGrpSpPr/>
        <p:nvPr/>
      </p:nvGrpSpPr>
      <p:grpSpPr>
        <a:xfrm>
          <a:off x="0" y="0"/>
          <a:ext cx="0" cy="0"/>
          <a:chOff x="0" y="0"/>
          <a:chExt cx="0" cy="0"/>
        </a:xfrm>
      </p:grpSpPr>
      <p:sp>
        <p:nvSpPr>
          <p:cNvPr id="81" name="Slide Title"/>
          <p:cNvSpPr txBox="1">
            <a:spLocks noGrp="1"/>
          </p:cNvSpPr>
          <p:nvPr>
            <p:ph type="title" hasCustomPrompt="1"/>
          </p:nvPr>
        </p:nvSpPr>
        <p:spPr>
          <a:xfrm>
            <a:off x="1219200" y="774700"/>
            <a:ext cx="9753600" cy="1600200"/>
          </a:xfrm>
          <a:prstGeom prst="rect">
            <a:avLst/>
          </a:prstGeom>
        </p:spPr>
        <p:txBody>
          <a:bodyPr/>
          <a:lstStyle/>
          <a:p>
            <a:r>
              <a:t>Slide Title</a:t>
            </a:r>
          </a:p>
        </p:txBody>
      </p:sp>
      <p:sp>
        <p:nvSpPr>
          <p:cNvPr id="82" name="Slide Subtitle"/>
          <p:cNvSpPr txBox="1">
            <a:spLocks noGrp="1"/>
          </p:cNvSpPr>
          <p:nvPr>
            <p:ph type="body" sz="quarter" idx="21" hasCustomPrompt="1"/>
          </p:nvPr>
        </p:nvSpPr>
        <p:spPr>
          <a:xfrm>
            <a:off x="1219200" y="2387600"/>
            <a:ext cx="9757569" cy="832612"/>
          </a:xfrm>
          <a:prstGeom prst="rect">
            <a:avLst/>
          </a:prstGeom>
        </p:spPr>
        <p:txBody>
          <a:bodyPr/>
          <a:lstStyle>
            <a:lvl1pPr marL="0" indent="0" algn="ctr" defTabSz="825500">
              <a:lnSpc>
                <a:spcPct val="100000"/>
              </a:lnSpc>
              <a:spcBef>
                <a:spcPts val="0"/>
              </a:spcBef>
              <a:buSzTx/>
              <a:buNone/>
              <a:defRPr spc="-44">
                <a:latin typeface="Graphik-SemiboldItalic"/>
                <a:ea typeface="Graphik-SemiboldItalic"/>
                <a:cs typeface="Graphik-SemiboldItalic"/>
                <a:sym typeface="Graphik Semibold"/>
              </a:defRPr>
            </a:lvl1pPr>
          </a:lstStyle>
          <a:p>
            <a:r>
              <a:t>Slide Subtitle</a:t>
            </a:r>
          </a:p>
        </p:txBody>
      </p:sp>
      <p:sp>
        <p:nvSpPr>
          <p:cNvPr id="83" name="Body Level One…"/>
          <p:cNvSpPr txBox="1">
            <a:spLocks noGrp="1"/>
          </p:cNvSpPr>
          <p:nvPr>
            <p:ph type="body" sz="half" idx="1" hasCustomPrompt="1"/>
          </p:nvPr>
        </p:nvSpPr>
        <p:spPr>
          <a:xfrm>
            <a:off x="1219200" y="4023221"/>
            <a:ext cx="9757569" cy="8384679"/>
          </a:xfrm>
          <a:prstGeom prst="rect">
            <a:avLst/>
          </a:prstGeom>
        </p:spPr>
        <p:txBody>
          <a:bodyPr/>
          <a:lstStyle/>
          <a:p>
            <a:r>
              <a:t>Slide bullet text</a:t>
            </a:r>
          </a:p>
          <a:p>
            <a:pPr lvl="1"/>
            <a:endParaRPr/>
          </a:p>
          <a:p>
            <a:pPr lvl="2"/>
            <a:endParaRPr/>
          </a:p>
          <a:p>
            <a:pPr lvl="3"/>
            <a:endParaRPr/>
          </a:p>
          <a:p>
            <a:pPr lvl="4"/>
            <a:endParaRPr/>
          </a:p>
        </p:txBody>
      </p:sp>
      <p:sp>
        <p:nvSpPr>
          <p:cNvPr id="84" name="Slide Number"/>
          <p:cNvSpPr txBox="1">
            <a:spLocks noGrp="1"/>
          </p:cNvSpPr>
          <p:nvPr>
            <p:ph type="sldNum" sz="quarter" idx="2"/>
          </p:nvPr>
        </p:nvSpPr>
        <p:spPr>
          <a:xfrm>
            <a:off x="12004039" y="12700000"/>
            <a:ext cx="388621" cy="42926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Section">
    <p:spTree>
      <p:nvGrpSpPr>
        <p:cNvPr id="1" name=""/>
        <p:cNvGrpSpPr/>
        <p:nvPr/>
      </p:nvGrpSpPr>
      <p:grpSpPr>
        <a:xfrm>
          <a:off x="0" y="0"/>
          <a:ext cx="0" cy="0"/>
          <a:chOff x="0" y="0"/>
          <a:chExt cx="0" cy="0"/>
        </a:xfrm>
      </p:grpSpPr>
      <p:sp>
        <p:nvSpPr>
          <p:cNvPr id="91" name="Section Title"/>
          <p:cNvSpPr txBox="1">
            <a:spLocks noGrp="1"/>
          </p:cNvSpPr>
          <p:nvPr>
            <p:ph type="title" hasCustomPrompt="1"/>
          </p:nvPr>
        </p:nvSpPr>
        <p:spPr>
          <a:xfrm>
            <a:off x="1219200" y="3242270"/>
            <a:ext cx="21945600" cy="6604001"/>
          </a:xfrm>
          <a:prstGeom prst="rect">
            <a:avLst/>
          </a:prstGeom>
        </p:spPr>
        <p:txBody>
          <a:bodyPr anchor="ctr"/>
          <a:lstStyle>
            <a:lvl1pPr>
              <a:defRPr sz="12800" spc="0"/>
            </a:lvl1pPr>
          </a:lstStyle>
          <a:p>
            <a:r>
              <a:t>Section Title</a:t>
            </a:r>
          </a:p>
        </p:txBody>
      </p:sp>
      <p:sp>
        <p:nvSpPr>
          <p:cNvPr id="92" name="Slide Number"/>
          <p:cNvSpPr txBox="1">
            <a:spLocks noGrp="1"/>
          </p:cNvSpPr>
          <p:nvPr>
            <p:ph type="sldNum" sz="quarter" idx="2"/>
          </p:nvPr>
        </p:nvSpPr>
        <p:spPr>
          <a:xfrm>
            <a:off x="12001499" y="12700000"/>
            <a:ext cx="388621" cy="42926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Title Only">
    <p:spTree>
      <p:nvGrpSpPr>
        <p:cNvPr id="1" name=""/>
        <p:cNvGrpSpPr/>
        <p:nvPr/>
      </p:nvGrpSpPr>
      <p:grpSpPr>
        <a:xfrm>
          <a:off x="0" y="0"/>
          <a:ext cx="0" cy="0"/>
          <a:chOff x="0" y="0"/>
          <a:chExt cx="0" cy="0"/>
        </a:xfrm>
      </p:grpSpPr>
      <p:sp>
        <p:nvSpPr>
          <p:cNvPr id="99" name="Slide Title"/>
          <p:cNvSpPr txBox="1">
            <a:spLocks noGrp="1"/>
          </p:cNvSpPr>
          <p:nvPr>
            <p:ph type="title" hasCustomPrompt="1"/>
          </p:nvPr>
        </p:nvSpPr>
        <p:spPr>
          <a:prstGeom prst="rect">
            <a:avLst/>
          </a:prstGeom>
        </p:spPr>
        <p:txBody>
          <a:bodyPr/>
          <a:lstStyle/>
          <a:p>
            <a:r>
              <a:t>Slide Title</a:t>
            </a:r>
          </a:p>
        </p:txBody>
      </p:sp>
      <p:sp>
        <p:nvSpPr>
          <p:cNvPr id="100" name="Slide Subtitle"/>
          <p:cNvSpPr txBox="1">
            <a:spLocks noGrp="1"/>
          </p:cNvSpPr>
          <p:nvPr>
            <p:ph type="body" sz="quarter" idx="21" hasCustomPrompt="1"/>
          </p:nvPr>
        </p:nvSpPr>
        <p:spPr>
          <a:xfrm>
            <a:off x="1219200" y="2384648"/>
            <a:ext cx="21945602" cy="832613"/>
          </a:xfrm>
          <a:prstGeom prst="rect">
            <a:avLst/>
          </a:prstGeom>
        </p:spPr>
        <p:txBody>
          <a:bodyPr/>
          <a:lstStyle>
            <a:lvl1pPr marL="0" indent="0" algn="ctr" defTabSz="825500">
              <a:lnSpc>
                <a:spcPct val="100000"/>
              </a:lnSpc>
              <a:spcBef>
                <a:spcPts val="0"/>
              </a:spcBef>
              <a:buSzTx/>
              <a:buNone/>
              <a:defRPr spc="-44">
                <a:latin typeface="Graphik-SemiboldItalic"/>
                <a:ea typeface="Graphik-SemiboldItalic"/>
                <a:cs typeface="Graphik-SemiboldItalic"/>
                <a:sym typeface="Graphik Semibold"/>
              </a:defRPr>
            </a:lvl1pPr>
          </a:lstStyle>
          <a:p>
            <a:r>
              <a:t>Slide Subtitle</a:t>
            </a:r>
          </a:p>
        </p:txBody>
      </p:sp>
      <p:sp>
        <p:nvSpPr>
          <p:cNvPr id="101" name="Slide Number"/>
          <p:cNvSpPr txBox="1">
            <a:spLocks noGrp="1"/>
          </p:cNvSpPr>
          <p:nvPr>
            <p:ph type="sldNum" sz="quarter" idx="2"/>
          </p:nvPr>
        </p:nvSpPr>
        <p:spPr>
          <a:xfrm>
            <a:off x="12001499" y="12700000"/>
            <a:ext cx="388621" cy="42926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Agenda">
    <p:spTree>
      <p:nvGrpSpPr>
        <p:cNvPr id="1" name=""/>
        <p:cNvGrpSpPr/>
        <p:nvPr/>
      </p:nvGrpSpPr>
      <p:grpSpPr>
        <a:xfrm>
          <a:off x="0" y="0"/>
          <a:ext cx="0" cy="0"/>
          <a:chOff x="0" y="0"/>
          <a:chExt cx="0" cy="0"/>
        </a:xfrm>
      </p:grpSpPr>
      <p:sp>
        <p:nvSpPr>
          <p:cNvPr id="108" name="Agenda Title"/>
          <p:cNvSpPr txBox="1">
            <a:spLocks noGrp="1"/>
          </p:cNvSpPr>
          <p:nvPr>
            <p:ph type="title" hasCustomPrompt="1"/>
          </p:nvPr>
        </p:nvSpPr>
        <p:spPr>
          <a:prstGeom prst="rect">
            <a:avLst/>
          </a:prstGeom>
        </p:spPr>
        <p:txBody>
          <a:bodyPr/>
          <a:lstStyle/>
          <a:p>
            <a:r>
              <a:t>Agenda Title</a:t>
            </a:r>
          </a:p>
        </p:txBody>
      </p:sp>
      <p:sp>
        <p:nvSpPr>
          <p:cNvPr id="109" name="Body Level One…"/>
          <p:cNvSpPr txBox="1">
            <a:spLocks noGrp="1"/>
          </p:cNvSpPr>
          <p:nvPr>
            <p:ph type="body" idx="1" hasCustomPrompt="1"/>
          </p:nvPr>
        </p:nvSpPr>
        <p:spPr>
          <a:xfrm>
            <a:off x="1219200" y="4013200"/>
            <a:ext cx="21945600" cy="8385548"/>
          </a:xfrm>
          <a:prstGeom prst="rect">
            <a:avLst/>
          </a:prstGeom>
        </p:spPr>
        <p:txBody>
          <a:bodyPr/>
          <a:lstStyle>
            <a:lvl1pPr marL="0" indent="0" defTabSz="825500">
              <a:lnSpc>
                <a:spcPct val="100000"/>
              </a:lnSpc>
              <a:buSzTx/>
              <a:buNone/>
              <a:defRPr sz="6800" spc="-136">
                <a:latin typeface="Canela Deck Regular"/>
                <a:ea typeface="Canela Deck Regular"/>
                <a:cs typeface="Canela Deck Regular"/>
                <a:sym typeface="Canela Deck Regular"/>
              </a:defRPr>
            </a:lvl1pPr>
            <a:lvl2pPr marL="0" indent="457200" defTabSz="825500">
              <a:lnSpc>
                <a:spcPct val="100000"/>
              </a:lnSpc>
              <a:buSzTx/>
              <a:buNone/>
              <a:defRPr sz="6800" spc="-136">
                <a:latin typeface="Canela Deck Regular"/>
                <a:ea typeface="Canela Deck Regular"/>
                <a:cs typeface="Canela Deck Regular"/>
                <a:sym typeface="Canela Deck Regular"/>
              </a:defRPr>
            </a:lvl2pPr>
            <a:lvl3pPr marL="0" indent="914400" defTabSz="825500">
              <a:lnSpc>
                <a:spcPct val="100000"/>
              </a:lnSpc>
              <a:buSzTx/>
              <a:buNone/>
              <a:defRPr sz="6800" spc="-136">
                <a:latin typeface="Canela Deck Regular"/>
                <a:ea typeface="Canela Deck Regular"/>
                <a:cs typeface="Canela Deck Regular"/>
                <a:sym typeface="Canela Deck Regular"/>
              </a:defRPr>
            </a:lvl3pPr>
            <a:lvl4pPr marL="0" indent="1371600" defTabSz="825500">
              <a:lnSpc>
                <a:spcPct val="100000"/>
              </a:lnSpc>
              <a:buSzTx/>
              <a:buNone/>
              <a:defRPr sz="6800" spc="-136">
                <a:latin typeface="Canela Deck Regular"/>
                <a:ea typeface="Canela Deck Regular"/>
                <a:cs typeface="Canela Deck Regular"/>
                <a:sym typeface="Canela Deck Regular"/>
              </a:defRPr>
            </a:lvl4pPr>
            <a:lvl5pPr marL="0" indent="1828800" defTabSz="825500">
              <a:lnSpc>
                <a:spcPct val="100000"/>
              </a:lnSpc>
              <a:buSzTx/>
              <a:buNone/>
              <a:defRPr sz="6800" spc="-136">
                <a:latin typeface="Canela Deck Regular"/>
                <a:ea typeface="Canela Deck Regular"/>
                <a:cs typeface="Canela Deck Regular"/>
                <a:sym typeface="Canela Deck Regular"/>
              </a:defRPr>
            </a:lvl5pPr>
          </a:lstStyle>
          <a:p>
            <a:r>
              <a:t>Agenda Topics</a:t>
            </a:r>
          </a:p>
          <a:p>
            <a:pPr lvl="1"/>
            <a:endParaRPr/>
          </a:p>
          <a:p>
            <a:pPr lvl="2"/>
            <a:endParaRPr/>
          </a:p>
          <a:p>
            <a:pPr lvl="3"/>
            <a:endParaRPr/>
          </a:p>
          <a:p>
            <a:pPr lvl="4"/>
            <a:endParaRPr/>
          </a:p>
        </p:txBody>
      </p:sp>
      <p:sp>
        <p:nvSpPr>
          <p:cNvPr id="110" name="Agenda Subtitle"/>
          <p:cNvSpPr txBox="1">
            <a:spLocks noGrp="1"/>
          </p:cNvSpPr>
          <p:nvPr>
            <p:ph type="body" sz="quarter" idx="21" hasCustomPrompt="1"/>
          </p:nvPr>
        </p:nvSpPr>
        <p:spPr>
          <a:xfrm>
            <a:off x="1219200" y="2387115"/>
            <a:ext cx="21945602" cy="832613"/>
          </a:xfrm>
          <a:prstGeom prst="rect">
            <a:avLst/>
          </a:prstGeom>
        </p:spPr>
        <p:txBody>
          <a:bodyPr/>
          <a:lstStyle>
            <a:lvl1pPr marL="0" indent="0" algn="ctr" defTabSz="825500">
              <a:lnSpc>
                <a:spcPct val="100000"/>
              </a:lnSpc>
              <a:spcBef>
                <a:spcPts val="0"/>
              </a:spcBef>
              <a:buSzTx/>
              <a:buNone/>
              <a:defRPr spc="-44">
                <a:latin typeface="Graphik-SemiboldItalic"/>
                <a:ea typeface="Graphik-SemiboldItalic"/>
                <a:cs typeface="Graphik-SemiboldItalic"/>
                <a:sym typeface="Graphik Semibold"/>
              </a:defRPr>
            </a:lvl1pPr>
          </a:lstStyle>
          <a:p>
            <a:r>
              <a:t>Agenda Subtitle</a:t>
            </a:r>
          </a:p>
        </p:txBody>
      </p:sp>
      <p:sp>
        <p:nvSpPr>
          <p:cNvPr id="111" name="Slide Number"/>
          <p:cNvSpPr txBox="1">
            <a:spLocks noGrp="1"/>
          </p:cNvSpPr>
          <p:nvPr>
            <p:ph type="sldNum" sz="quarter" idx="2"/>
          </p:nvPr>
        </p:nvSpPr>
        <p:spPr>
          <a:xfrm>
            <a:off x="12001499" y="12700000"/>
            <a:ext cx="388621" cy="42926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Statement">
    <p:spTree>
      <p:nvGrpSpPr>
        <p:cNvPr id="1" name=""/>
        <p:cNvGrpSpPr/>
        <p:nvPr/>
      </p:nvGrpSpPr>
      <p:grpSpPr>
        <a:xfrm>
          <a:off x="0" y="0"/>
          <a:ext cx="0" cy="0"/>
          <a:chOff x="0" y="0"/>
          <a:chExt cx="0" cy="0"/>
        </a:xfrm>
      </p:grpSpPr>
      <p:sp>
        <p:nvSpPr>
          <p:cNvPr id="118" name="Body Level One…"/>
          <p:cNvSpPr txBox="1">
            <a:spLocks noGrp="1"/>
          </p:cNvSpPr>
          <p:nvPr>
            <p:ph type="body" idx="1" hasCustomPrompt="1"/>
          </p:nvPr>
        </p:nvSpPr>
        <p:spPr>
          <a:xfrm>
            <a:off x="1219200" y="3251200"/>
            <a:ext cx="21945600" cy="6604000"/>
          </a:xfrm>
          <a:prstGeom prst="rect">
            <a:avLst/>
          </a:prstGeom>
        </p:spPr>
        <p:txBody>
          <a:bodyPr anchor="ctr"/>
          <a:lstStyle>
            <a:lvl1pPr marL="0" indent="0" algn="ctr" defTabSz="2438400">
              <a:lnSpc>
                <a:spcPct val="80000"/>
              </a:lnSpc>
              <a:spcBef>
                <a:spcPts val="0"/>
              </a:spcBef>
              <a:buSzTx/>
              <a:buNone/>
              <a:defRPr sz="12800">
                <a:latin typeface="Canela Regular"/>
                <a:ea typeface="Canela Regular"/>
                <a:cs typeface="Canela Regular"/>
                <a:sym typeface="Canela Regular"/>
              </a:defRPr>
            </a:lvl1pPr>
            <a:lvl2pPr marL="0" indent="457200" algn="ctr" defTabSz="2438400">
              <a:lnSpc>
                <a:spcPct val="80000"/>
              </a:lnSpc>
              <a:spcBef>
                <a:spcPts val="0"/>
              </a:spcBef>
              <a:buSzTx/>
              <a:buNone/>
              <a:defRPr sz="12800">
                <a:latin typeface="Canela Regular"/>
                <a:ea typeface="Canela Regular"/>
                <a:cs typeface="Canela Regular"/>
                <a:sym typeface="Canela Regular"/>
              </a:defRPr>
            </a:lvl2pPr>
            <a:lvl3pPr marL="0" indent="914400" algn="ctr" defTabSz="2438400">
              <a:lnSpc>
                <a:spcPct val="80000"/>
              </a:lnSpc>
              <a:spcBef>
                <a:spcPts val="0"/>
              </a:spcBef>
              <a:buSzTx/>
              <a:buNone/>
              <a:defRPr sz="12800">
                <a:latin typeface="Canela Regular"/>
                <a:ea typeface="Canela Regular"/>
                <a:cs typeface="Canela Regular"/>
                <a:sym typeface="Canela Regular"/>
              </a:defRPr>
            </a:lvl3pPr>
            <a:lvl4pPr marL="0" indent="1371600" algn="ctr" defTabSz="2438400">
              <a:lnSpc>
                <a:spcPct val="80000"/>
              </a:lnSpc>
              <a:spcBef>
                <a:spcPts val="0"/>
              </a:spcBef>
              <a:buSzTx/>
              <a:buNone/>
              <a:defRPr sz="12800">
                <a:latin typeface="Canela Regular"/>
                <a:ea typeface="Canela Regular"/>
                <a:cs typeface="Canela Regular"/>
                <a:sym typeface="Canela Regular"/>
              </a:defRPr>
            </a:lvl4pPr>
            <a:lvl5pPr marL="0" indent="1828800" algn="ctr" defTabSz="2438400">
              <a:lnSpc>
                <a:spcPct val="80000"/>
              </a:lnSpc>
              <a:spcBef>
                <a:spcPts val="0"/>
              </a:spcBef>
              <a:buSzTx/>
              <a:buNone/>
              <a:defRPr sz="12800">
                <a:latin typeface="Canela Regular"/>
                <a:ea typeface="Canela Regular"/>
                <a:cs typeface="Canela Regular"/>
                <a:sym typeface="Canela Regular"/>
              </a:defRPr>
            </a:lvl5pPr>
          </a:lstStyle>
          <a:p>
            <a:r>
              <a:t>Statement</a:t>
            </a:r>
          </a:p>
          <a:p>
            <a:pPr lvl="1"/>
            <a:endParaRPr/>
          </a:p>
          <a:p>
            <a:pPr lvl="2"/>
            <a:endParaRPr/>
          </a:p>
          <a:p>
            <a:pPr lvl="3"/>
            <a:endParaRPr/>
          </a:p>
          <a:p>
            <a:pPr lvl="4"/>
            <a:endParaRPr/>
          </a:p>
        </p:txBody>
      </p:sp>
      <p:sp>
        <p:nvSpPr>
          <p:cNvPr id="11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Big Fact">
    <p:spTree>
      <p:nvGrpSpPr>
        <p:cNvPr id="1" name=""/>
        <p:cNvGrpSpPr/>
        <p:nvPr/>
      </p:nvGrpSpPr>
      <p:grpSpPr>
        <a:xfrm>
          <a:off x="0" y="0"/>
          <a:ext cx="0" cy="0"/>
          <a:chOff x="0" y="0"/>
          <a:chExt cx="0" cy="0"/>
        </a:xfrm>
      </p:grpSpPr>
      <p:sp>
        <p:nvSpPr>
          <p:cNvPr id="126" name="Fact information"/>
          <p:cNvSpPr txBox="1">
            <a:spLocks noGrp="1"/>
          </p:cNvSpPr>
          <p:nvPr>
            <p:ph type="body" sz="quarter" idx="21" hasCustomPrompt="1"/>
          </p:nvPr>
        </p:nvSpPr>
        <p:spPr>
          <a:xfrm>
            <a:off x="1219200" y="8462239"/>
            <a:ext cx="21945602" cy="832613"/>
          </a:xfrm>
          <a:prstGeom prst="rect">
            <a:avLst/>
          </a:prstGeom>
        </p:spPr>
        <p:txBody>
          <a:bodyPr/>
          <a:lstStyle>
            <a:lvl1pPr marL="0" indent="0" algn="ctr" defTabSz="825500">
              <a:lnSpc>
                <a:spcPct val="100000"/>
              </a:lnSpc>
              <a:spcBef>
                <a:spcPts val="0"/>
              </a:spcBef>
              <a:buSzTx/>
              <a:buNone/>
              <a:defRPr spc="-44">
                <a:latin typeface="Graphik-SemiboldItalic"/>
                <a:ea typeface="Graphik-SemiboldItalic"/>
                <a:cs typeface="Graphik-SemiboldItalic"/>
                <a:sym typeface="Graphik Semibold"/>
              </a:defRPr>
            </a:lvl1pPr>
          </a:lstStyle>
          <a:p>
            <a:r>
              <a:t>Fact information</a:t>
            </a:r>
          </a:p>
        </p:txBody>
      </p:sp>
      <p:sp>
        <p:nvSpPr>
          <p:cNvPr id="127" name="Body Level One…"/>
          <p:cNvSpPr txBox="1">
            <a:spLocks noGrp="1"/>
          </p:cNvSpPr>
          <p:nvPr>
            <p:ph type="body" sz="half" idx="1" hasCustomPrompt="1"/>
          </p:nvPr>
        </p:nvSpPr>
        <p:spPr>
          <a:xfrm>
            <a:off x="1219200" y="4214484"/>
            <a:ext cx="21945600" cy="4269708"/>
          </a:xfrm>
          <a:prstGeom prst="rect">
            <a:avLst/>
          </a:prstGeom>
        </p:spPr>
        <p:txBody>
          <a:bodyPr anchor="b"/>
          <a:lstStyle>
            <a:lvl1pPr marL="0" indent="0" algn="ctr" defTabSz="2438400">
              <a:lnSpc>
                <a:spcPct val="80000"/>
              </a:lnSpc>
              <a:spcBef>
                <a:spcPts val="0"/>
              </a:spcBef>
              <a:buSzTx/>
              <a:buNone/>
              <a:defRPr sz="22400">
                <a:latin typeface="+mn-lt"/>
                <a:ea typeface="+mn-ea"/>
                <a:cs typeface="+mn-cs"/>
                <a:sym typeface="Canela Bold"/>
              </a:defRPr>
            </a:lvl1pPr>
            <a:lvl2pPr marL="0" indent="457200" algn="ctr" defTabSz="2438400">
              <a:lnSpc>
                <a:spcPct val="80000"/>
              </a:lnSpc>
              <a:spcBef>
                <a:spcPts val="0"/>
              </a:spcBef>
              <a:buSzTx/>
              <a:buNone/>
              <a:defRPr sz="22400">
                <a:latin typeface="+mn-lt"/>
                <a:ea typeface="+mn-ea"/>
                <a:cs typeface="+mn-cs"/>
                <a:sym typeface="Canela Bold"/>
              </a:defRPr>
            </a:lvl2pPr>
            <a:lvl3pPr marL="0" indent="914400" algn="ctr" defTabSz="2438400">
              <a:lnSpc>
                <a:spcPct val="80000"/>
              </a:lnSpc>
              <a:spcBef>
                <a:spcPts val="0"/>
              </a:spcBef>
              <a:buSzTx/>
              <a:buNone/>
              <a:defRPr sz="22400">
                <a:latin typeface="+mn-lt"/>
                <a:ea typeface="+mn-ea"/>
                <a:cs typeface="+mn-cs"/>
                <a:sym typeface="Canela Bold"/>
              </a:defRPr>
            </a:lvl3pPr>
            <a:lvl4pPr marL="0" indent="1371600" algn="ctr" defTabSz="2438400">
              <a:lnSpc>
                <a:spcPct val="80000"/>
              </a:lnSpc>
              <a:spcBef>
                <a:spcPts val="0"/>
              </a:spcBef>
              <a:buSzTx/>
              <a:buNone/>
              <a:defRPr sz="22400">
                <a:latin typeface="+mn-lt"/>
                <a:ea typeface="+mn-ea"/>
                <a:cs typeface="+mn-cs"/>
                <a:sym typeface="Canela Bold"/>
              </a:defRPr>
            </a:lvl4pPr>
            <a:lvl5pPr marL="0" indent="1828800" algn="ctr" defTabSz="2438400">
              <a:lnSpc>
                <a:spcPct val="80000"/>
              </a:lnSpc>
              <a:spcBef>
                <a:spcPts val="0"/>
              </a:spcBef>
              <a:buSzTx/>
              <a:buNone/>
              <a:defRPr sz="22400">
                <a:latin typeface="+mn-lt"/>
                <a:ea typeface="+mn-ea"/>
                <a:cs typeface="+mn-cs"/>
                <a:sym typeface="Canela Bold"/>
              </a:defRPr>
            </a:lvl5pPr>
          </a:lstStyle>
          <a:p>
            <a:r>
              <a:t>100%</a:t>
            </a:r>
          </a:p>
          <a:p>
            <a:pPr lvl="1"/>
            <a:endParaRPr/>
          </a:p>
          <a:p>
            <a:pPr lvl="2"/>
            <a:endParaRPr/>
          </a:p>
          <a:p>
            <a:pPr lvl="3"/>
            <a:endParaRPr/>
          </a:p>
          <a:p>
            <a:pPr lvl="4"/>
            <a:endParaRPr/>
          </a:p>
        </p:txBody>
      </p:sp>
      <p:sp>
        <p:nvSpPr>
          <p:cNvPr id="12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type="tx">
  <p:cSld name="Quote">
    <p:spTree>
      <p:nvGrpSpPr>
        <p:cNvPr id="1" name=""/>
        <p:cNvGrpSpPr/>
        <p:nvPr/>
      </p:nvGrpSpPr>
      <p:grpSpPr>
        <a:xfrm>
          <a:off x="0" y="0"/>
          <a:ext cx="0" cy="0"/>
          <a:chOff x="0" y="0"/>
          <a:chExt cx="0" cy="0"/>
        </a:xfrm>
      </p:grpSpPr>
      <p:sp>
        <p:nvSpPr>
          <p:cNvPr id="135" name="Attribution"/>
          <p:cNvSpPr txBox="1">
            <a:spLocks noGrp="1"/>
          </p:cNvSpPr>
          <p:nvPr>
            <p:ph type="body" sz="quarter" idx="21" hasCustomPrompt="1"/>
          </p:nvPr>
        </p:nvSpPr>
        <p:spPr>
          <a:xfrm>
            <a:off x="1219200" y="11100053"/>
            <a:ext cx="21945602" cy="832613"/>
          </a:xfrm>
          <a:prstGeom prst="rect">
            <a:avLst/>
          </a:prstGeom>
        </p:spPr>
        <p:txBody>
          <a:bodyPr anchor="ctr"/>
          <a:lstStyle>
            <a:lvl1pPr marL="0" indent="0" algn="ctr" defTabSz="825500">
              <a:lnSpc>
                <a:spcPct val="100000"/>
              </a:lnSpc>
              <a:spcBef>
                <a:spcPts val="0"/>
              </a:spcBef>
              <a:buSzTx/>
              <a:buNone/>
              <a:defRPr spc="-44">
                <a:latin typeface="Graphik-SemiboldItalic"/>
                <a:ea typeface="Graphik-SemiboldItalic"/>
                <a:cs typeface="Graphik-SemiboldItalic"/>
                <a:sym typeface="Graphik Semibold"/>
              </a:defRPr>
            </a:lvl1pPr>
          </a:lstStyle>
          <a:p>
            <a:r>
              <a:t>Attribution</a:t>
            </a:r>
          </a:p>
        </p:txBody>
      </p:sp>
      <p:sp>
        <p:nvSpPr>
          <p:cNvPr id="136" name="Body Level One…"/>
          <p:cNvSpPr txBox="1">
            <a:spLocks noGrp="1"/>
          </p:cNvSpPr>
          <p:nvPr>
            <p:ph type="body" sz="half" idx="1" hasCustomPrompt="1"/>
          </p:nvPr>
        </p:nvSpPr>
        <p:spPr>
          <a:xfrm>
            <a:off x="1219200" y="4178300"/>
            <a:ext cx="21945600" cy="4416425"/>
          </a:xfrm>
          <a:prstGeom prst="rect">
            <a:avLst/>
          </a:prstGeom>
        </p:spPr>
        <p:txBody>
          <a:bodyPr anchor="ctr"/>
          <a:lstStyle>
            <a:lvl1pPr marL="0" indent="0" algn="ctr" defTabSz="2438400">
              <a:lnSpc>
                <a:spcPct val="80000"/>
              </a:lnSpc>
              <a:spcBef>
                <a:spcPts val="0"/>
              </a:spcBef>
              <a:buSzTx/>
              <a:buNone/>
              <a:defRPr sz="8400">
                <a:latin typeface="+mn-lt"/>
                <a:ea typeface="+mn-ea"/>
                <a:cs typeface="+mn-cs"/>
                <a:sym typeface="Canela Bold"/>
              </a:defRPr>
            </a:lvl1pPr>
            <a:lvl2pPr marL="0" indent="457200" algn="ctr" defTabSz="2438400">
              <a:lnSpc>
                <a:spcPct val="80000"/>
              </a:lnSpc>
              <a:spcBef>
                <a:spcPts val="0"/>
              </a:spcBef>
              <a:buSzTx/>
              <a:buNone/>
              <a:defRPr sz="8400">
                <a:latin typeface="+mn-lt"/>
                <a:ea typeface="+mn-ea"/>
                <a:cs typeface="+mn-cs"/>
                <a:sym typeface="Canela Bold"/>
              </a:defRPr>
            </a:lvl2pPr>
            <a:lvl3pPr marL="0" indent="914400" algn="ctr" defTabSz="2438400">
              <a:lnSpc>
                <a:spcPct val="80000"/>
              </a:lnSpc>
              <a:spcBef>
                <a:spcPts val="0"/>
              </a:spcBef>
              <a:buSzTx/>
              <a:buNone/>
              <a:defRPr sz="8400">
                <a:latin typeface="+mn-lt"/>
                <a:ea typeface="+mn-ea"/>
                <a:cs typeface="+mn-cs"/>
                <a:sym typeface="Canela Bold"/>
              </a:defRPr>
            </a:lvl3pPr>
            <a:lvl4pPr marL="0" indent="1371600" algn="ctr" defTabSz="2438400">
              <a:lnSpc>
                <a:spcPct val="80000"/>
              </a:lnSpc>
              <a:spcBef>
                <a:spcPts val="0"/>
              </a:spcBef>
              <a:buSzTx/>
              <a:buNone/>
              <a:defRPr sz="8400">
                <a:latin typeface="+mn-lt"/>
                <a:ea typeface="+mn-ea"/>
                <a:cs typeface="+mn-cs"/>
                <a:sym typeface="Canela Bold"/>
              </a:defRPr>
            </a:lvl4pPr>
            <a:lvl5pPr marL="0" indent="1828800" algn="ctr" defTabSz="2438400">
              <a:lnSpc>
                <a:spcPct val="80000"/>
              </a:lnSpc>
              <a:spcBef>
                <a:spcPts val="0"/>
              </a:spcBef>
              <a:buSzTx/>
              <a:buNone/>
              <a:defRPr sz="8400">
                <a:latin typeface="+mn-lt"/>
                <a:ea typeface="+mn-ea"/>
                <a:cs typeface="+mn-cs"/>
                <a:sym typeface="Canela Bold"/>
              </a:defRPr>
            </a:lvl5pPr>
          </a:lstStyle>
          <a:p>
            <a:r>
              <a:t>“Notable Quote”</a:t>
            </a:r>
          </a:p>
          <a:p>
            <a:pPr lvl="1"/>
            <a:endParaRPr/>
          </a:p>
          <a:p>
            <a:pPr lvl="2"/>
            <a:endParaRPr/>
          </a:p>
          <a:p>
            <a:pPr lvl="3"/>
            <a:endParaRPr/>
          </a:p>
          <a:p>
            <a:pPr lvl="4"/>
            <a:endParaRPr/>
          </a:p>
        </p:txBody>
      </p:sp>
      <p:sp>
        <p:nvSpPr>
          <p:cNvPr id="137" name="Slide Number"/>
          <p:cNvSpPr txBox="1">
            <a:spLocks noGrp="1"/>
          </p:cNvSpPr>
          <p:nvPr>
            <p:ph type="sldNum" sz="quarter" idx="2"/>
          </p:nvPr>
        </p:nvSpPr>
        <p:spPr>
          <a:xfrm>
            <a:off x="12001499" y="12700000"/>
            <a:ext cx="388621" cy="42926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type="tx">
  <p:cSld name="Photo - 3 Up">
    <p:spTree>
      <p:nvGrpSpPr>
        <p:cNvPr id="1" name=""/>
        <p:cNvGrpSpPr/>
        <p:nvPr/>
      </p:nvGrpSpPr>
      <p:grpSpPr>
        <a:xfrm>
          <a:off x="0" y="0"/>
          <a:ext cx="0" cy="0"/>
          <a:chOff x="0" y="0"/>
          <a:chExt cx="0" cy="0"/>
        </a:xfrm>
      </p:grpSpPr>
      <p:sp>
        <p:nvSpPr>
          <p:cNvPr id="144" name="Sea against sky at sunset 2"/>
          <p:cNvSpPr>
            <a:spLocks noGrp="1"/>
          </p:cNvSpPr>
          <p:nvPr>
            <p:ph type="pic" sz="quarter" idx="21"/>
          </p:nvPr>
        </p:nvSpPr>
        <p:spPr>
          <a:xfrm>
            <a:off x="15744825" y="5581752"/>
            <a:ext cx="7365408" cy="8280401"/>
          </a:xfrm>
          <a:prstGeom prst="rect">
            <a:avLst/>
          </a:prstGeom>
        </p:spPr>
        <p:txBody>
          <a:bodyPr lIns="91439" tIns="45719" rIns="91439" bIns="45719">
            <a:noAutofit/>
          </a:bodyPr>
          <a:lstStyle/>
          <a:p>
            <a:endParaRPr/>
          </a:p>
        </p:txBody>
      </p:sp>
      <p:sp>
        <p:nvSpPr>
          <p:cNvPr id="145" name="Sea against sky at sunset 1"/>
          <p:cNvSpPr>
            <a:spLocks noGrp="1"/>
          </p:cNvSpPr>
          <p:nvPr>
            <p:ph type="pic" sz="quarter" idx="22"/>
          </p:nvPr>
        </p:nvSpPr>
        <p:spPr>
          <a:xfrm>
            <a:off x="15363825" y="1270000"/>
            <a:ext cx="8115300" cy="5409006"/>
          </a:xfrm>
          <a:prstGeom prst="rect">
            <a:avLst/>
          </a:prstGeom>
        </p:spPr>
        <p:txBody>
          <a:bodyPr lIns="91439" tIns="45719" rIns="91439" bIns="45719">
            <a:noAutofit/>
          </a:bodyPr>
          <a:lstStyle/>
          <a:p>
            <a:endParaRPr/>
          </a:p>
        </p:txBody>
      </p:sp>
      <p:sp>
        <p:nvSpPr>
          <p:cNvPr id="146" name="Beach and sea at sunset"/>
          <p:cNvSpPr>
            <a:spLocks noGrp="1"/>
          </p:cNvSpPr>
          <p:nvPr>
            <p:ph type="pic" idx="23"/>
          </p:nvPr>
        </p:nvSpPr>
        <p:spPr>
          <a:xfrm>
            <a:off x="-63500" y="1270000"/>
            <a:ext cx="16764000" cy="11176000"/>
          </a:xfrm>
          <a:prstGeom prst="rect">
            <a:avLst/>
          </a:prstGeom>
        </p:spPr>
        <p:txBody>
          <a:bodyPr lIns="91439" tIns="45719" rIns="91439" bIns="45719">
            <a:noAutofit/>
          </a:bodyPr>
          <a:lstStyle/>
          <a:p>
            <a:endParaRPr/>
          </a:p>
        </p:txBody>
      </p:sp>
      <p:sp>
        <p:nvSpPr>
          <p:cNvPr id="147" name="Slide Number"/>
          <p:cNvSpPr txBox="1">
            <a:spLocks noGrp="1"/>
          </p:cNvSpPr>
          <p:nvPr>
            <p:ph type="sldNum" sz="quarter" idx="2"/>
          </p:nvPr>
        </p:nvSpPr>
        <p:spPr>
          <a:xfrm>
            <a:off x="12001499" y="12700000"/>
            <a:ext cx="388621" cy="42926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type="tx">
  <p:cSld name="Photo">
    <p:spTree>
      <p:nvGrpSpPr>
        <p:cNvPr id="1" name=""/>
        <p:cNvGrpSpPr/>
        <p:nvPr/>
      </p:nvGrpSpPr>
      <p:grpSpPr>
        <a:xfrm>
          <a:off x="0" y="0"/>
          <a:ext cx="0" cy="0"/>
          <a:chOff x="0" y="0"/>
          <a:chExt cx="0" cy="0"/>
        </a:xfrm>
      </p:grpSpPr>
      <p:sp>
        <p:nvSpPr>
          <p:cNvPr id="154" name="beach and sea at sunset"/>
          <p:cNvSpPr>
            <a:spLocks noGrp="1"/>
          </p:cNvSpPr>
          <p:nvPr>
            <p:ph type="pic" idx="21"/>
          </p:nvPr>
        </p:nvSpPr>
        <p:spPr>
          <a:xfrm>
            <a:off x="1270000" y="-423334"/>
            <a:ext cx="21844000" cy="14562668"/>
          </a:xfrm>
          <a:prstGeom prst="rect">
            <a:avLst/>
          </a:prstGeom>
        </p:spPr>
        <p:txBody>
          <a:bodyPr lIns="91439" tIns="45719" rIns="91439" bIns="45719">
            <a:noAutofit/>
          </a:bodyPr>
          <a:lstStyle/>
          <a:p>
            <a:endParaRPr/>
          </a:p>
        </p:txBody>
      </p:sp>
      <p:sp>
        <p:nvSpPr>
          <p:cNvPr id="155" name="Slide Number"/>
          <p:cNvSpPr txBox="1">
            <a:spLocks noGrp="1"/>
          </p:cNvSpPr>
          <p:nvPr>
            <p:ph type="sldNum" sz="quarter" idx="2"/>
          </p:nvPr>
        </p:nvSpPr>
        <p:spPr>
          <a:xfrm>
            <a:off x="12001499" y="12700000"/>
            <a:ext cx="388621" cy="42926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162" name="Slide Number"/>
          <p:cNvSpPr txBox="1">
            <a:spLocks noGrp="1"/>
          </p:cNvSpPr>
          <p:nvPr>
            <p:ph type="sldNum" sz="quarter" idx="2"/>
          </p:nvPr>
        </p:nvSpPr>
        <p:spPr>
          <a:xfrm>
            <a:off x="12001499" y="12700000"/>
            <a:ext cx="388621" cy="429261"/>
          </a:xfrm>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lide Title"/>
          <p:cNvSpPr txBox="1">
            <a:spLocks noGrp="1"/>
          </p:cNvSpPr>
          <p:nvPr>
            <p:ph type="title" hasCustomPrompt="1"/>
          </p:nvPr>
        </p:nvSpPr>
        <p:spPr>
          <a:xfrm>
            <a:off x="1219200" y="774700"/>
            <a:ext cx="21945600" cy="17272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r>
              <a:t>Slide Title</a:t>
            </a:r>
          </a:p>
        </p:txBody>
      </p:sp>
      <p:sp>
        <p:nvSpPr>
          <p:cNvPr id="3" name="Body Level One…"/>
          <p:cNvSpPr txBox="1">
            <a:spLocks noGrp="1"/>
          </p:cNvSpPr>
          <p:nvPr>
            <p:ph type="body" idx="1" hasCustomPrompt="1"/>
          </p:nvPr>
        </p:nvSpPr>
        <p:spPr>
          <a:xfrm>
            <a:off x="1219200" y="4013200"/>
            <a:ext cx="21948577" cy="84836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r>
              <a:t>Slide bullet text</a:t>
            </a:r>
          </a:p>
          <a:p>
            <a:pPr lvl="1"/>
            <a:endParaRPr/>
          </a:p>
          <a:p>
            <a:pPr lvl="2"/>
            <a:endParaRPr/>
          </a:p>
          <a:p>
            <a:pPr lvl="3"/>
            <a:endParaRPr/>
          </a:p>
          <a:p>
            <a:pPr lvl="4"/>
            <a:endParaRPr/>
          </a:p>
        </p:txBody>
      </p:sp>
      <p:sp>
        <p:nvSpPr>
          <p:cNvPr id="4" name="Slide Number"/>
          <p:cNvSpPr txBox="1">
            <a:spLocks noGrp="1"/>
          </p:cNvSpPr>
          <p:nvPr>
            <p:ph type="sldNum" sz="quarter" idx="2"/>
          </p:nvPr>
        </p:nvSpPr>
        <p:spPr>
          <a:xfrm>
            <a:off x="11997689" y="12700000"/>
            <a:ext cx="388621" cy="429261"/>
          </a:xfrm>
          <a:prstGeom prst="rect">
            <a:avLst/>
          </a:prstGeom>
          <a:ln w="12700">
            <a:miter lim="400000"/>
          </a:ln>
        </p:spPr>
        <p:txBody>
          <a:bodyPr wrap="none" lIns="50800" tIns="50800" rIns="50800" bIns="50800" anchor="b">
            <a:spAutoFit/>
          </a:bodyPr>
          <a:lstStyle>
            <a:lvl1pPr algn="ctr" defTabSz="584200">
              <a:lnSpc>
                <a:spcPct val="100000"/>
              </a:lnSpc>
              <a:spcBef>
                <a:spcPts val="0"/>
              </a:spcBef>
              <a:defRPr sz="2000">
                <a:solidFill>
                  <a:srgbClr val="5E5E5E"/>
                </a:solidFill>
                <a:latin typeface="Graphik"/>
                <a:ea typeface="Graphik"/>
                <a:cs typeface="Graphik"/>
                <a:sym typeface="Graphik"/>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transition spd="med"/>
  <p:txStyles>
    <p:titleStyle>
      <a:lvl1pPr marL="0" marR="0" indent="0" algn="ctr" defTabSz="2438400" rtl="0" latinLnBrk="0">
        <a:lnSpc>
          <a:spcPct val="80000"/>
        </a:lnSpc>
        <a:spcBef>
          <a:spcPts val="0"/>
        </a:spcBef>
        <a:spcAft>
          <a:spcPts val="0"/>
        </a:spcAft>
        <a:buClrTx/>
        <a:buSzTx/>
        <a:buFontTx/>
        <a:buNone/>
        <a:tabLst/>
        <a:defRPr sz="8400" b="0" i="0" u="none" strike="noStrike" cap="none" spc="-84" baseline="0">
          <a:solidFill>
            <a:srgbClr val="000000"/>
          </a:solidFill>
          <a:uFillTx/>
          <a:latin typeface="+mn-lt"/>
          <a:ea typeface="+mn-ea"/>
          <a:cs typeface="+mn-cs"/>
          <a:sym typeface="Canela Bold"/>
        </a:defRPr>
      </a:lvl1pPr>
      <a:lvl2pPr marL="0" marR="0" indent="457200" algn="ctr" defTabSz="2438400" rtl="0" latinLnBrk="0">
        <a:lnSpc>
          <a:spcPct val="80000"/>
        </a:lnSpc>
        <a:spcBef>
          <a:spcPts val="0"/>
        </a:spcBef>
        <a:spcAft>
          <a:spcPts val="0"/>
        </a:spcAft>
        <a:buClrTx/>
        <a:buSzTx/>
        <a:buFontTx/>
        <a:buNone/>
        <a:tabLst/>
        <a:defRPr sz="8400" b="0" i="0" u="none" strike="noStrike" cap="none" spc="-84" baseline="0">
          <a:solidFill>
            <a:srgbClr val="000000"/>
          </a:solidFill>
          <a:uFillTx/>
          <a:latin typeface="+mn-lt"/>
          <a:ea typeface="+mn-ea"/>
          <a:cs typeface="+mn-cs"/>
          <a:sym typeface="Canela Bold"/>
        </a:defRPr>
      </a:lvl2pPr>
      <a:lvl3pPr marL="0" marR="0" indent="914400" algn="ctr" defTabSz="2438400" rtl="0" latinLnBrk="0">
        <a:lnSpc>
          <a:spcPct val="80000"/>
        </a:lnSpc>
        <a:spcBef>
          <a:spcPts val="0"/>
        </a:spcBef>
        <a:spcAft>
          <a:spcPts val="0"/>
        </a:spcAft>
        <a:buClrTx/>
        <a:buSzTx/>
        <a:buFontTx/>
        <a:buNone/>
        <a:tabLst/>
        <a:defRPr sz="8400" b="0" i="0" u="none" strike="noStrike" cap="none" spc="-84" baseline="0">
          <a:solidFill>
            <a:srgbClr val="000000"/>
          </a:solidFill>
          <a:uFillTx/>
          <a:latin typeface="+mn-lt"/>
          <a:ea typeface="+mn-ea"/>
          <a:cs typeface="+mn-cs"/>
          <a:sym typeface="Canela Bold"/>
        </a:defRPr>
      </a:lvl3pPr>
      <a:lvl4pPr marL="0" marR="0" indent="1371600" algn="ctr" defTabSz="2438400" rtl="0" latinLnBrk="0">
        <a:lnSpc>
          <a:spcPct val="80000"/>
        </a:lnSpc>
        <a:spcBef>
          <a:spcPts val="0"/>
        </a:spcBef>
        <a:spcAft>
          <a:spcPts val="0"/>
        </a:spcAft>
        <a:buClrTx/>
        <a:buSzTx/>
        <a:buFontTx/>
        <a:buNone/>
        <a:tabLst/>
        <a:defRPr sz="8400" b="0" i="0" u="none" strike="noStrike" cap="none" spc="-84" baseline="0">
          <a:solidFill>
            <a:srgbClr val="000000"/>
          </a:solidFill>
          <a:uFillTx/>
          <a:latin typeface="+mn-lt"/>
          <a:ea typeface="+mn-ea"/>
          <a:cs typeface="+mn-cs"/>
          <a:sym typeface="Canela Bold"/>
        </a:defRPr>
      </a:lvl4pPr>
      <a:lvl5pPr marL="0" marR="0" indent="1828800" algn="ctr" defTabSz="2438400" rtl="0" latinLnBrk="0">
        <a:lnSpc>
          <a:spcPct val="80000"/>
        </a:lnSpc>
        <a:spcBef>
          <a:spcPts val="0"/>
        </a:spcBef>
        <a:spcAft>
          <a:spcPts val="0"/>
        </a:spcAft>
        <a:buClrTx/>
        <a:buSzTx/>
        <a:buFontTx/>
        <a:buNone/>
        <a:tabLst/>
        <a:defRPr sz="8400" b="0" i="0" u="none" strike="noStrike" cap="none" spc="-84" baseline="0">
          <a:solidFill>
            <a:srgbClr val="000000"/>
          </a:solidFill>
          <a:uFillTx/>
          <a:latin typeface="+mn-lt"/>
          <a:ea typeface="+mn-ea"/>
          <a:cs typeface="+mn-cs"/>
          <a:sym typeface="Canela Bold"/>
        </a:defRPr>
      </a:lvl5pPr>
      <a:lvl6pPr marL="0" marR="0" indent="2286000" algn="ctr" defTabSz="2438400" rtl="0" latinLnBrk="0">
        <a:lnSpc>
          <a:spcPct val="80000"/>
        </a:lnSpc>
        <a:spcBef>
          <a:spcPts val="0"/>
        </a:spcBef>
        <a:spcAft>
          <a:spcPts val="0"/>
        </a:spcAft>
        <a:buClrTx/>
        <a:buSzTx/>
        <a:buFontTx/>
        <a:buNone/>
        <a:tabLst/>
        <a:defRPr sz="8400" b="0" i="0" u="none" strike="noStrike" cap="none" spc="-84" baseline="0">
          <a:solidFill>
            <a:srgbClr val="000000"/>
          </a:solidFill>
          <a:uFillTx/>
          <a:latin typeface="+mn-lt"/>
          <a:ea typeface="+mn-ea"/>
          <a:cs typeface="+mn-cs"/>
          <a:sym typeface="Canela Bold"/>
        </a:defRPr>
      </a:lvl6pPr>
      <a:lvl7pPr marL="0" marR="0" indent="2743200" algn="ctr" defTabSz="2438400" rtl="0" latinLnBrk="0">
        <a:lnSpc>
          <a:spcPct val="80000"/>
        </a:lnSpc>
        <a:spcBef>
          <a:spcPts val="0"/>
        </a:spcBef>
        <a:spcAft>
          <a:spcPts val="0"/>
        </a:spcAft>
        <a:buClrTx/>
        <a:buSzTx/>
        <a:buFontTx/>
        <a:buNone/>
        <a:tabLst/>
        <a:defRPr sz="8400" b="0" i="0" u="none" strike="noStrike" cap="none" spc="-84" baseline="0">
          <a:solidFill>
            <a:srgbClr val="000000"/>
          </a:solidFill>
          <a:uFillTx/>
          <a:latin typeface="+mn-lt"/>
          <a:ea typeface="+mn-ea"/>
          <a:cs typeface="+mn-cs"/>
          <a:sym typeface="Canela Bold"/>
        </a:defRPr>
      </a:lvl7pPr>
      <a:lvl8pPr marL="0" marR="0" indent="3200400" algn="ctr" defTabSz="2438400" rtl="0" latinLnBrk="0">
        <a:lnSpc>
          <a:spcPct val="80000"/>
        </a:lnSpc>
        <a:spcBef>
          <a:spcPts val="0"/>
        </a:spcBef>
        <a:spcAft>
          <a:spcPts val="0"/>
        </a:spcAft>
        <a:buClrTx/>
        <a:buSzTx/>
        <a:buFontTx/>
        <a:buNone/>
        <a:tabLst/>
        <a:defRPr sz="8400" b="0" i="0" u="none" strike="noStrike" cap="none" spc="-84" baseline="0">
          <a:solidFill>
            <a:srgbClr val="000000"/>
          </a:solidFill>
          <a:uFillTx/>
          <a:latin typeface="+mn-lt"/>
          <a:ea typeface="+mn-ea"/>
          <a:cs typeface="+mn-cs"/>
          <a:sym typeface="Canela Bold"/>
        </a:defRPr>
      </a:lvl8pPr>
      <a:lvl9pPr marL="0" marR="0" indent="3657600" algn="ctr" defTabSz="2438400" rtl="0" latinLnBrk="0">
        <a:lnSpc>
          <a:spcPct val="80000"/>
        </a:lnSpc>
        <a:spcBef>
          <a:spcPts val="0"/>
        </a:spcBef>
        <a:spcAft>
          <a:spcPts val="0"/>
        </a:spcAft>
        <a:buClrTx/>
        <a:buSzTx/>
        <a:buFontTx/>
        <a:buNone/>
        <a:tabLst/>
        <a:defRPr sz="8400" b="0" i="0" u="none" strike="noStrike" cap="none" spc="-84" baseline="0">
          <a:solidFill>
            <a:srgbClr val="000000"/>
          </a:solidFill>
          <a:uFillTx/>
          <a:latin typeface="+mn-lt"/>
          <a:ea typeface="+mn-ea"/>
          <a:cs typeface="+mn-cs"/>
          <a:sym typeface="Canela Bold"/>
        </a:defRPr>
      </a:lvl9pPr>
    </p:titleStyle>
    <p:bodyStyle>
      <a:lvl1pPr marL="5461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Canela Text Regular"/>
          <a:ea typeface="Canela Text Regular"/>
          <a:cs typeface="Canela Text Regular"/>
          <a:sym typeface="Canela Text Regular"/>
        </a:defRPr>
      </a:lvl1pPr>
      <a:lvl2pPr marL="10922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Canela Text Regular"/>
          <a:ea typeface="Canela Text Regular"/>
          <a:cs typeface="Canela Text Regular"/>
          <a:sym typeface="Canela Text Regular"/>
        </a:defRPr>
      </a:lvl2pPr>
      <a:lvl3pPr marL="16383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Canela Text Regular"/>
          <a:ea typeface="Canela Text Regular"/>
          <a:cs typeface="Canela Text Regular"/>
          <a:sym typeface="Canela Text Regular"/>
        </a:defRPr>
      </a:lvl3pPr>
      <a:lvl4pPr marL="21844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Canela Text Regular"/>
          <a:ea typeface="Canela Text Regular"/>
          <a:cs typeface="Canela Text Regular"/>
          <a:sym typeface="Canela Text Regular"/>
        </a:defRPr>
      </a:lvl4pPr>
      <a:lvl5pPr marL="27305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Canela Text Regular"/>
          <a:ea typeface="Canela Text Regular"/>
          <a:cs typeface="Canela Text Regular"/>
          <a:sym typeface="Canela Text Regular"/>
        </a:defRPr>
      </a:lvl5pPr>
      <a:lvl6pPr marL="32766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Canela Text Regular"/>
          <a:ea typeface="Canela Text Regular"/>
          <a:cs typeface="Canela Text Regular"/>
          <a:sym typeface="Canela Text Regular"/>
        </a:defRPr>
      </a:lvl6pPr>
      <a:lvl7pPr marL="38227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Canela Text Regular"/>
          <a:ea typeface="Canela Text Regular"/>
          <a:cs typeface="Canela Text Regular"/>
          <a:sym typeface="Canela Text Regular"/>
        </a:defRPr>
      </a:lvl7pPr>
      <a:lvl8pPr marL="43688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Canela Text Regular"/>
          <a:ea typeface="Canela Text Regular"/>
          <a:cs typeface="Canela Text Regular"/>
          <a:sym typeface="Canela Text Regular"/>
        </a:defRPr>
      </a:lvl8pPr>
      <a:lvl9pPr marL="49149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Canela Text Regular"/>
          <a:ea typeface="Canela Text Regular"/>
          <a:cs typeface="Canela Text Regular"/>
          <a:sym typeface="Canela Text Regular"/>
        </a:defRPr>
      </a:lvl9pPr>
    </p:bodyStyle>
    <p:otherStyle>
      <a:lvl1pPr marL="0" marR="0" indent="0" algn="ctr" defTabSz="584200" rtl="0" latinLnBrk="0">
        <a:lnSpc>
          <a:spcPct val="100000"/>
        </a:lnSpc>
        <a:spcBef>
          <a:spcPts val="0"/>
        </a:spcBef>
        <a:spcAft>
          <a:spcPts val="0"/>
        </a:spcAft>
        <a:buClrTx/>
        <a:buSzTx/>
        <a:buFontTx/>
        <a:buNone/>
        <a:tabLst/>
        <a:defRPr sz="2000" b="0" i="0" u="none" strike="noStrike" cap="none" spc="0" baseline="0">
          <a:solidFill>
            <a:schemeClr val="tx1"/>
          </a:solidFill>
          <a:uFillTx/>
          <a:latin typeface="+mn-lt"/>
          <a:ea typeface="+mn-ea"/>
          <a:cs typeface="+mn-cs"/>
          <a:sym typeface="Graphik"/>
        </a:defRPr>
      </a:lvl1pPr>
      <a:lvl2pPr marL="0" marR="0" indent="457200" algn="ctr" defTabSz="584200" rtl="0" latinLnBrk="0">
        <a:lnSpc>
          <a:spcPct val="100000"/>
        </a:lnSpc>
        <a:spcBef>
          <a:spcPts val="0"/>
        </a:spcBef>
        <a:spcAft>
          <a:spcPts val="0"/>
        </a:spcAft>
        <a:buClrTx/>
        <a:buSzTx/>
        <a:buFontTx/>
        <a:buNone/>
        <a:tabLst/>
        <a:defRPr sz="2000" b="0" i="0" u="none" strike="noStrike" cap="none" spc="0" baseline="0">
          <a:solidFill>
            <a:schemeClr val="tx1"/>
          </a:solidFill>
          <a:uFillTx/>
          <a:latin typeface="+mn-lt"/>
          <a:ea typeface="+mn-ea"/>
          <a:cs typeface="+mn-cs"/>
          <a:sym typeface="Graphik"/>
        </a:defRPr>
      </a:lvl2pPr>
      <a:lvl3pPr marL="0" marR="0" indent="914400" algn="ctr" defTabSz="584200" rtl="0" latinLnBrk="0">
        <a:lnSpc>
          <a:spcPct val="100000"/>
        </a:lnSpc>
        <a:spcBef>
          <a:spcPts val="0"/>
        </a:spcBef>
        <a:spcAft>
          <a:spcPts val="0"/>
        </a:spcAft>
        <a:buClrTx/>
        <a:buSzTx/>
        <a:buFontTx/>
        <a:buNone/>
        <a:tabLst/>
        <a:defRPr sz="2000" b="0" i="0" u="none" strike="noStrike" cap="none" spc="0" baseline="0">
          <a:solidFill>
            <a:schemeClr val="tx1"/>
          </a:solidFill>
          <a:uFillTx/>
          <a:latin typeface="+mn-lt"/>
          <a:ea typeface="+mn-ea"/>
          <a:cs typeface="+mn-cs"/>
          <a:sym typeface="Graphik"/>
        </a:defRPr>
      </a:lvl3pPr>
      <a:lvl4pPr marL="0" marR="0" indent="1371600" algn="ctr" defTabSz="584200" rtl="0" latinLnBrk="0">
        <a:lnSpc>
          <a:spcPct val="100000"/>
        </a:lnSpc>
        <a:spcBef>
          <a:spcPts val="0"/>
        </a:spcBef>
        <a:spcAft>
          <a:spcPts val="0"/>
        </a:spcAft>
        <a:buClrTx/>
        <a:buSzTx/>
        <a:buFontTx/>
        <a:buNone/>
        <a:tabLst/>
        <a:defRPr sz="2000" b="0" i="0" u="none" strike="noStrike" cap="none" spc="0" baseline="0">
          <a:solidFill>
            <a:schemeClr val="tx1"/>
          </a:solidFill>
          <a:uFillTx/>
          <a:latin typeface="+mn-lt"/>
          <a:ea typeface="+mn-ea"/>
          <a:cs typeface="+mn-cs"/>
          <a:sym typeface="Graphik"/>
        </a:defRPr>
      </a:lvl4pPr>
      <a:lvl5pPr marL="0" marR="0" indent="1828800" algn="ctr" defTabSz="584200" rtl="0" latinLnBrk="0">
        <a:lnSpc>
          <a:spcPct val="100000"/>
        </a:lnSpc>
        <a:spcBef>
          <a:spcPts val="0"/>
        </a:spcBef>
        <a:spcAft>
          <a:spcPts val="0"/>
        </a:spcAft>
        <a:buClrTx/>
        <a:buSzTx/>
        <a:buFontTx/>
        <a:buNone/>
        <a:tabLst/>
        <a:defRPr sz="2000" b="0" i="0" u="none" strike="noStrike" cap="none" spc="0" baseline="0">
          <a:solidFill>
            <a:schemeClr val="tx1"/>
          </a:solidFill>
          <a:uFillTx/>
          <a:latin typeface="+mn-lt"/>
          <a:ea typeface="+mn-ea"/>
          <a:cs typeface="+mn-cs"/>
          <a:sym typeface="Graphik"/>
        </a:defRPr>
      </a:lvl5pPr>
      <a:lvl6pPr marL="0" marR="0" indent="2286000" algn="ctr" defTabSz="584200" rtl="0" latinLnBrk="0">
        <a:lnSpc>
          <a:spcPct val="100000"/>
        </a:lnSpc>
        <a:spcBef>
          <a:spcPts val="0"/>
        </a:spcBef>
        <a:spcAft>
          <a:spcPts val="0"/>
        </a:spcAft>
        <a:buClrTx/>
        <a:buSzTx/>
        <a:buFontTx/>
        <a:buNone/>
        <a:tabLst/>
        <a:defRPr sz="2000" b="0" i="0" u="none" strike="noStrike" cap="none" spc="0" baseline="0">
          <a:solidFill>
            <a:schemeClr val="tx1"/>
          </a:solidFill>
          <a:uFillTx/>
          <a:latin typeface="+mn-lt"/>
          <a:ea typeface="+mn-ea"/>
          <a:cs typeface="+mn-cs"/>
          <a:sym typeface="Graphik"/>
        </a:defRPr>
      </a:lvl6pPr>
      <a:lvl7pPr marL="0" marR="0" indent="2743200" algn="ctr" defTabSz="584200" rtl="0" latinLnBrk="0">
        <a:lnSpc>
          <a:spcPct val="100000"/>
        </a:lnSpc>
        <a:spcBef>
          <a:spcPts val="0"/>
        </a:spcBef>
        <a:spcAft>
          <a:spcPts val="0"/>
        </a:spcAft>
        <a:buClrTx/>
        <a:buSzTx/>
        <a:buFontTx/>
        <a:buNone/>
        <a:tabLst/>
        <a:defRPr sz="2000" b="0" i="0" u="none" strike="noStrike" cap="none" spc="0" baseline="0">
          <a:solidFill>
            <a:schemeClr val="tx1"/>
          </a:solidFill>
          <a:uFillTx/>
          <a:latin typeface="+mn-lt"/>
          <a:ea typeface="+mn-ea"/>
          <a:cs typeface="+mn-cs"/>
          <a:sym typeface="Graphik"/>
        </a:defRPr>
      </a:lvl7pPr>
      <a:lvl8pPr marL="0" marR="0" indent="3200400" algn="ctr" defTabSz="584200" rtl="0" latinLnBrk="0">
        <a:lnSpc>
          <a:spcPct val="100000"/>
        </a:lnSpc>
        <a:spcBef>
          <a:spcPts val="0"/>
        </a:spcBef>
        <a:spcAft>
          <a:spcPts val="0"/>
        </a:spcAft>
        <a:buClrTx/>
        <a:buSzTx/>
        <a:buFontTx/>
        <a:buNone/>
        <a:tabLst/>
        <a:defRPr sz="2000" b="0" i="0" u="none" strike="noStrike" cap="none" spc="0" baseline="0">
          <a:solidFill>
            <a:schemeClr val="tx1"/>
          </a:solidFill>
          <a:uFillTx/>
          <a:latin typeface="+mn-lt"/>
          <a:ea typeface="+mn-ea"/>
          <a:cs typeface="+mn-cs"/>
          <a:sym typeface="Graphik"/>
        </a:defRPr>
      </a:lvl8pPr>
      <a:lvl9pPr marL="0" marR="0" indent="3657600" algn="ctr" defTabSz="584200" rtl="0" latinLnBrk="0">
        <a:lnSpc>
          <a:spcPct val="100000"/>
        </a:lnSpc>
        <a:spcBef>
          <a:spcPts val="0"/>
        </a:spcBef>
        <a:spcAft>
          <a:spcPts val="0"/>
        </a:spcAft>
        <a:buClrTx/>
        <a:buSzTx/>
        <a:buFontTx/>
        <a:buNone/>
        <a:tabLst/>
        <a:defRPr sz="2000" b="0" i="0" u="none" strike="noStrike" cap="none" spc="0" baseline="0">
          <a:solidFill>
            <a:schemeClr val="tx1"/>
          </a:solidFill>
          <a:uFillTx/>
          <a:latin typeface="+mn-lt"/>
          <a:ea typeface="+mn-ea"/>
          <a:cs typeface="+mn-cs"/>
          <a:sym typeface="Graphik"/>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 name="BATCH: 904"/>
          <p:cNvSpPr txBox="1">
            <a:spLocks noGrp="1"/>
          </p:cNvSpPr>
          <p:nvPr>
            <p:ph type="body" idx="21"/>
          </p:nvPr>
        </p:nvSpPr>
        <p:spPr>
          <a:xfrm>
            <a:off x="884599" y="11358787"/>
            <a:ext cx="21945600" cy="605791"/>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b="1" i="1">
                <a:latin typeface="Times New Roman"/>
                <a:ea typeface="Times New Roman"/>
                <a:cs typeface="Times New Roman"/>
                <a:sym typeface="Times New Roman"/>
              </a:defRPr>
            </a:lvl1pPr>
          </a:lstStyle>
          <a:p>
            <a:r>
              <a:rPr dirty="0"/>
              <a:t>BATCH</a:t>
            </a:r>
            <a:r>
              <a:t>: </a:t>
            </a:r>
            <a:r>
              <a:rPr lang="en-US"/>
              <a:t>898</a:t>
            </a:r>
            <a:endParaRPr dirty="0"/>
          </a:p>
        </p:txBody>
      </p:sp>
      <p:sp>
        <p:nvSpPr>
          <p:cNvPr id="172" name="LunaAura: An Explainable Machine Learning Framework for Hormonal and Emotional Health Analysis Project Category: Research"/>
          <p:cNvSpPr txBox="1">
            <a:spLocks noGrp="1"/>
          </p:cNvSpPr>
          <p:nvPr>
            <p:ph type="ctrTitle"/>
          </p:nvPr>
        </p:nvSpPr>
        <p:spPr>
          <a:xfrm>
            <a:off x="884598" y="4340745"/>
            <a:ext cx="21945601" cy="4267201"/>
          </a:xfrm>
          <a:prstGeom prst="rect">
            <a:avLst/>
          </a:prstGeom>
        </p:spPr>
        <p:txBody>
          <a:bodyPr anchor="ctr"/>
          <a:lstStyle/>
          <a:p>
            <a:pPr defTabSz="12700">
              <a:lnSpc>
                <a:spcPct val="135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5500" b="1" spc="0">
                <a:solidFill>
                  <a:srgbClr val="111111"/>
                </a:solidFill>
                <a:latin typeface="Times New Roman"/>
                <a:ea typeface="Times New Roman"/>
                <a:cs typeface="Times New Roman"/>
                <a:sym typeface="Times New Roman"/>
              </a:defRPr>
            </a:pPr>
            <a:r>
              <a:rPr dirty="0" err="1"/>
              <a:t>LunaAura</a:t>
            </a:r>
            <a:r>
              <a:rPr dirty="0"/>
              <a:t>: An Explainable Machine Learning Framework for Hormonal and Emotional Health Analysis</a:t>
            </a:r>
            <a:br>
              <a:rPr dirty="0"/>
            </a:br>
            <a:r>
              <a:rPr sz="3000" i="1" dirty="0"/>
              <a:t>Project Category: Research</a:t>
            </a:r>
          </a:p>
        </p:txBody>
      </p:sp>
      <p:sp>
        <p:nvSpPr>
          <p:cNvPr id="173" name="Guide Name                                                             Student Name &amp; Registration Number…"/>
          <p:cNvSpPr txBox="1">
            <a:spLocks noGrp="1"/>
          </p:cNvSpPr>
          <p:nvPr>
            <p:ph type="subTitle" sz="quarter" idx="1"/>
          </p:nvPr>
        </p:nvSpPr>
        <p:spPr>
          <a:xfrm>
            <a:off x="2055700" y="8354784"/>
            <a:ext cx="21945601" cy="2250593"/>
          </a:xfrm>
          <a:prstGeom prst="rect">
            <a:avLst/>
          </a:prstGeom>
        </p:spPr>
        <p:txBody>
          <a:bodyPr anchor="b"/>
          <a:lstStyle/>
          <a:p>
            <a:pPr defTabSz="457200">
              <a:lnSpc>
                <a:spcPts val="4900"/>
              </a:lnSpc>
              <a:defRPr sz="3200" spc="0">
                <a:latin typeface="Times New Roman"/>
                <a:ea typeface="Times New Roman"/>
                <a:cs typeface="Times New Roman"/>
                <a:sym typeface="Times New Roman"/>
              </a:defRPr>
            </a:pPr>
            <a:r>
              <a:t>Guide Name                                                             Student Name &amp; Registration Number</a:t>
            </a:r>
            <a:endParaRPr sz="1200"/>
          </a:p>
          <a:p>
            <a:pPr lvl="2" algn="l" defTabSz="457200">
              <a:defRPr sz="3000" spc="0">
                <a:latin typeface="Times New Roman"/>
                <a:ea typeface="Times New Roman"/>
                <a:cs typeface="Times New Roman"/>
                <a:sym typeface="Times New Roman"/>
              </a:defRPr>
            </a:pPr>
            <a:r>
              <a:t>                   Mrs. P Sivakamasundari                                                                 Eshita Rai – RA2211003010568</a:t>
            </a:r>
            <a:r>
              <a:rPr>
                <a:latin typeface="Times Roman"/>
                <a:ea typeface="Times Roman"/>
                <a:cs typeface="Times Roman"/>
                <a:sym typeface="Times Roman"/>
              </a:rPr>
              <a:t> </a:t>
            </a:r>
          </a:p>
        </p:txBody>
      </p:sp>
      <p:pic>
        <p:nvPicPr>
          <p:cNvPr id="174" name="pasted-movie.png" descr="pasted-movie.png"/>
          <p:cNvPicPr>
            <a:picLocks noChangeAspect="1"/>
          </p:cNvPicPr>
          <p:nvPr/>
        </p:nvPicPr>
        <p:blipFill>
          <a:blip r:embed="rId2"/>
          <a:stretch>
            <a:fillRect/>
          </a:stretch>
        </p:blipFill>
        <p:spPr>
          <a:xfrm>
            <a:off x="20362357" y="151822"/>
            <a:ext cx="3939093" cy="3939094"/>
          </a:xfrm>
          <a:prstGeom prst="rect">
            <a:avLst/>
          </a:prstGeom>
          <a:ln w="12700">
            <a:miter lim="400000"/>
          </a:ln>
        </p:spPr>
      </p:pic>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 name="Abstract"/>
          <p:cNvSpPr txBox="1">
            <a:spLocks noGrp="1"/>
          </p:cNvSpPr>
          <p:nvPr>
            <p:ph type="title"/>
          </p:nvPr>
        </p:nvSpPr>
        <p:spPr>
          <a:prstGeom prst="rect">
            <a:avLst/>
          </a:prstGeom>
        </p:spPr>
        <p:txBody>
          <a:bodyPr/>
          <a:lstStyle>
            <a:lvl1pPr defTabSz="1609344">
              <a:defRPr sz="8448" spc="0"/>
            </a:lvl1pPr>
          </a:lstStyle>
          <a:p>
            <a:r>
              <a:rPr dirty="0"/>
              <a:t>Abstract</a:t>
            </a:r>
          </a:p>
        </p:txBody>
      </p:sp>
      <p:sp>
        <p:nvSpPr>
          <p:cNvPr id="177" name="Emotional wellbeing is influenced by multiple interconnected factors including hormonal cycles, lifestyle habits, stress levels, and sleep patterns. However, most existing wellness applications rely primarily on manual tracking and descriptive visualizat"/>
          <p:cNvSpPr txBox="1">
            <a:spLocks noGrp="1"/>
          </p:cNvSpPr>
          <p:nvPr>
            <p:ph type="body" idx="1"/>
          </p:nvPr>
        </p:nvSpPr>
        <p:spPr>
          <a:xfrm>
            <a:off x="1511975" y="3176699"/>
            <a:ext cx="21945601" cy="9691462"/>
          </a:xfrm>
          <a:prstGeom prst="rect">
            <a:avLst/>
          </a:prstGeom>
        </p:spPr>
        <p:txBody>
          <a:bodyPr anchor="ctr"/>
          <a:lstStyle/>
          <a:p>
            <a:pPr marL="0" indent="0" algn="just" defTabSz="914400">
              <a:lnSpc>
                <a:spcPct val="135000"/>
              </a:lnSpc>
              <a:spcBef>
                <a:spcPts val="0"/>
              </a:spcBef>
              <a:buSzTx/>
              <a:buNone/>
              <a:tabLst>
                <a:tab pos="342900" algn="l"/>
                <a:tab pos="698500" algn="l"/>
                <a:tab pos="1054100" algn="l"/>
                <a:tab pos="1397000" algn="l"/>
                <a:tab pos="1752600" algn="l"/>
                <a:tab pos="2108200" algn="l"/>
                <a:tab pos="2463800" algn="l"/>
                <a:tab pos="2806700" algn="l"/>
                <a:tab pos="3162300" algn="l"/>
                <a:tab pos="3517900" algn="l"/>
                <a:tab pos="3860800" algn="l"/>
                <a:tab pos="4216400" algn="l"/>
              </a:tabLst>
              <a:defRPr sz="3861">
                <a:solidFill>
                  <a:srgbClr val="111111"/>
                </a:solidFill>
                <a:latin typeface="Times New Roman"/>
                <a:ea typeface="Times New Roman"/>
                <a:cs typeface="Times New Roman"/>
                <a:sym typeface="Times New Roman"/>
              </a:defRPr>
            </a:pPr>
            <a:r>
              <a:rPr dirty="0"/>
              <a:t>Emotional wellbeing is influenced by multiple interconnected factors including hormonal cycles, lifestyle habits, stress levels, and sleep patterns. However, most existing wellness applications rely primarily on manual tracking and descriptive visualization without providing analytical insights into how these signals interact.</a:t>
            </a:r>
          </a:p>
          <a:p>
            <a:pPr marL="0" indent="0" algn="just" defTabSz="914400">
              <a:lnSpc>
                <a:spcPct val="135000"/>
              </a:lnSpc>
              <a:spcBef>
                <a:spcPts val="0"/>
              </a:spcBef>
              <a:buSzTx/>
              <a:buNone/>
              <a:tabLst>
                <a:tab pos="342900" algn="l"/>
                <a:tab pos="698500" algn="l"/>
                <a:tab pos="1054100" algn="l"/>
                <a:tab pos="1397000" algn="l"/>
                <a:tab pos="1752600" algn="l"/>
                <a:tab pos="2108200" algn="l"/>
                <a:tab pos="2463800" algn="l"/>
                <a:tab pos="2806700" algn="l"/>
                <a:tab pos="3162300" algn="l"/>
                <a:tab pos="3517900" algn="l"/>
                <a:tab pos="3860800" algn="l"/>
                <a:tab pos="4216400" algn="l"/>
              </a:tabLst>
              <a:defRPr sz="3861">
                <a:solidFill>
                  <a:srgbClr val="111111"/>
                </a:solidFill>
                <a:latin typeface="Times New Roman"/>
                <a:ea typeface="Times New Roman"/>
                <a:cs typeface="Times New Roman"/>
                <a:sym typeface="Times New Roman"/>
              </a:defRPr>
            </a:pPr>
            <a:r>
              <a:rPr dirty="0"/>
              <a:t>This project presents </a:t>
            </a:r>
            <a:r>
              <a:rPr b="1" dirty="0" err="1"/>
              <a:t>LunaAura</a:t>
            </a:r>
            <a:r>
              <a:rPr dirty="0"/>
              <a:t>, a cycle-aware behavioral analytics platform designed to analyze emotional wellbeing patterns using machine learning. The system integrates behavioral signals such as mood state, perceived stress, sleep duration, physical activity, and menstrual cycle phase into a unified analytical framework.</a:t>
            </a:r>
          </a:p>
          <a:p>
            <a:pPr marL="0" indent="0" algn="just" defTabSz="914400">
              <a:lnSpc>
                <a:spcPct val="135000"/>
              </a:lnSpc>
              <a:spcBef>
                <a:spcPts val="0"/>
              </a:spcBef>
              <a:buSzTx/>
              <a:buNone/>
              <a:tabLst>
                <a:tab pos="342900" algn="l"/>
                <a:tab pos="698500" algn="l"/>
                <a:tab pos="1054100" algn="l"/>
                <a:tab pos="1397000" algn="l"/>
                <a:tab pos="1752600" algn="l"/>
                <a:tab pos="2108200" algn="l"/>
                <a:tab pos="2463800" algn="l"/>
                <a:tab pos="2806700" algn="l"/>
                <a:tab pos="3162300" algn="l"/>
                <a:tab pos="3517900" algn="l"/>
                <a:tab pos="3860800" algn="l"/>
                <a:tab pos="4216400" algn="l"/>
              </a:tabLst>
              <a:defRPr sz="3861">
                <a:solidFill>
                  <a:srgbClr val="111111"/>
                </a:solidFill>
                <a:latin typeface="Times New Roman"/>
                <a:ea typeface="Times New Roman"/>
                <a:cs typeface="Times New Roman"/>
                <a:sym typeface="Times New Roman"/>
              </a:defRPr>
            </a:pPr>
            <a:r>
              <a:rPr dirty="0"/>
              <a:t>Multiple machine learning models including </a:t>
            </a:r>
            <a:r>
              <a:rPr b="1" dirty="0"/>
              <a:t>Logistic Regression, Random Forest, and Gradient Boosting</a:t>
            </a:r>
            <a:r>
              <a:rPr dirty="0"/>
              <a:t> are evaluated to identify patterns in emotional wellbeing data. Gradient Boosting achieved the highest predictive performance in the model comparison stage.</a:t>
            </a:r>
          </a:p>
          <a:p>
            <a:pPr marL="0" indent="0" algn="just" defTabSz="914400">
              <a:lnSpc>
                <a:spcPct val="135000"/>
              </a:lnSpc>
              <a:spcBef>
                <a:spcPts val="0"/>
              </a:spcBef>
              <a:buSzTx/>
              <a:buNone/>
              <a:tabLst>
                <a:tab pos="342900" algn="l"/>
                <a:tab pos="698500" algn="l"/>
                <a:tab pos="1054100" algn="l"/>
                <a:tab pos="1397000" algn="l"/>
                <a:tab pos="1752600" algn="l"/>
                <a:tab pos="2108200" algn="l"/>
                <a:tab pos="2463800" algn="l"/>
                <a:tab pos="2806700" algn="l"/>
                <a:tab pos="3162300" algn="l"/>
                <a:tab pos="3517900" algn="l"/>
                <a:tab pos="3860800" algn="l"/>
                <a:tab pos="4216400" algn="l"/>
              </a:tabLst>
              <a:defRPr sz="3861">
                <a:solidFill>
                  <a:srgbClr val="111111"/>
                </a:solidFill>
                <a:latin typeface="Times New Roman"/>
                <a:ea typeface="Times New Roman"/>
                <a:cs typeface="Times New Roman"/>
                <a:sym typeface="Times New Roman"/>
              </a:defRPr>
            </a:pPr>
            <a:r>
              <a:rPr dirty="0"/>
              <a:t>The system provides </a:t>
            </a:r>
            <a:r>
              <a:rPr b="1" dirty="0"/>
              <a:t>interpretable analytics and visual insights</a:t>
            </a:r>
            <a:r>
              <a:rPr dirty="0"/>
              <a:t> to help researchers and users understand how behavioral and physiological factors influence emotional patterns.</a:t>
            </a: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 name="Motivation"/>
          <p:cNvSpPr txBox="1">
            <a:spLocks noGrp="1"/>
          </p:cNvSpPr>
          <p:nvPr>
            <p:ph type="title"/>
          </p:nvPr>
        </p:nvSpPr>
        <p:spPr>
          <a:prstGeom prst="rect">
            <a:avLst/>
          </a:prstGeom>
        </p:spPr>
        <p:txBody>
          <a:bodyPr/>
          <a:lstStyle/>
          <a:p>
            <a:r>
              <a:rPr dirty="0"/>
              <a:t>Motivation</a:t>
            </a:r>
          </a:p>
        </p:txBody>
      </p:sp>
      <p:sp>
        <p:nvSpPr>
          <p:cNvPr id="180" name="Emotional health is affected by multiple physiological and behavioral signals.…"/>
          <p:cNvSpPr txBox="1">
            <a:spLocks noGrp="1"/>
          </p:cNvSpPr>
          <p:nvPr>
            <p:ph type="body" idx="1"/>
          </p:nvPr>
        </p:nvSpPr>
        <p:spPr>
          <a:xfrm>
            <a:off x="1219200" y="2611080"/>
            <a:ext cx="21948577" cy="9885720"/>
          </a:xfrm>
          <a:prstGeom prst="rect">
            <a:avLst/>
          </a:prstGeom>
        </p:spPr>
        <p:txBody>
          <a:bodyPr/>
          <a:lstStyle/>
          <a:p>
            <a:pPr marL="0" indent="0" algn="just" defTabSz="914400">
              <a:lnSpc>
                <a:spcPct val="135000"/>
              </a:lnSpc>
              <a:spcBef>
                <a:spcPts val="0"/>
              </a:spcBef>
              <a:buSzTx/>
              <a:buNone/>
              <a:tabLst>
                <a:tab pos="304800" algn="l"/>
                <a:tab pos="622300" algn="l"/>
                <a:tab pos="927100" algn="l"/>
                <a:tab pos="1244600" algn="l"/>
                <a:tab pos="1562100" algn="l"/>
                <a:tab pos="1866900" algn="l"/>
                <a:tab pos="2184400" algn="l"/>
                <a:tab pos="2501900" algn="l"/>
                <a:tab pos="2806700" algn="l"/>
                <a:tab pos="3124200" algn="l"/>
                <a:tab pos="3441700" algn="l"/>
                <a:tab pos="3746500" algn="l"/>
              </a:tabLst>
              <a:defRPr sz="3520">
                <a:solidFill>
                  <a:srgbClr val="111111"/>
                </a:solidFill>
                <a:latin typeface="Times New Roman"/>
                <a:ea typeface="Times New Roman"/>
                <a:cs typeface="Times New Roman"/>
                <a:sym typeface="Times New Roman"/>
              </a:defRPr>
            </a:pPr>
            <a:r>
              <a:t>Emotional health is affected by multiple physiological and behavioral signals.</a:t>
            </a:r>
          </a:p>
          <a:p>
            <a:pPr marL="0" indent="0" algn="just" defTabSz="914400">
              <a:lnSpc>
                <a:spcPct val="135000"/>
              </a:lnSpc>
              <a:spcBef>
                <a:spcPts val="0"/>
              </a:spcBef>
              <a:buSzTx/>
              <a:buNone/>
              <a:tabLst>
                <a:tab pos="304800" algn="l"/>
                <a:tab pos="622300" algn="l"/>
                <a:tab pos="927100" algn="l"/>
                <a:tab pos="1244600" algn="l"/>
                <a:tab pos="1562100" algn="l"/>
                <a:tab pos="1866900" algn="l"/>
                <a:tab pos="2184400" algn="l"/>
                <a:tab pos="2501900" algn="l"/>
                <a:tab pos="2806700" algn="l"/>
                <a:tab pos="3124200" algn="l"/>
                <a:tab pos="3441700" algn="l"/>
                <a:tab pos="3746500" algn="l"/>
              </a:tabLst>
              <a:defRPr sz="3520">
                <a:solidFill>
                  <a:srgbClr val="111111"/>
                </a:solidFill>
                <a:latin typeface="Times New Roman"/>
                <a:ea typeface="Times New Roman"/>
                <a:cs typeface="Times New Roman"/>
                <a:sym typeface="Times New Roman"/>
              </a:defRPr>
            </a:pPr>
            <a:r>
              <a:t>Important influencing factors include:</a:t>
            </a:r>
          </a:p>
          <a:p>
            <a:pPr marL="0" indent="0" algn="just" defTabSz="914400">
              <a:lnSpc>
                <a:spcPct val="135000"/>
              </a:lnSpc>
              <a:spcBef>
                <a:spcPts val="0"/>
              </a:spcBef>
              <a:buSzTx/>
              <a:buNone/>
              <a:tabLst>
                <a:tab pos="304800" algn="l"/>
                <a:tab pos="622300" algn="l"/>
                <a:tab pos="927100" algn="l"/>
                <a:tab pos="1244600" algn="l"/>
                <a:tab pos="1562100" algn="l"/>
                <a:tab pos="1866900" algn="l"/>
                <a:tab pos="2184400" algn="l"/>
                <a:tab pos="2501900" algn="l"/>
                <a:tab pos="2806700" algn="l"/>
                <a:tab pos="3124200" algn="l"/>
                <a:tab pos="3441700" algn="l"/>
                <a:tab pos="3746500" algn="l"/>
              </a:tabLst>
              <a:defRPr sz="3520">
                <a:solidFill>
                  <a:srgbClr val="111111"/>
                </a:solidFill>
                <a:latin typeface="Times New Roman"/>
                <a:ea typeface="Times New Roman"/>
                <a:cs typeface="Times New Roman"/>
                <a:sym typeface="Times New Roman"/>
              </a:defRPr>
            </a:pPr>
            <a:r>
              <a:t>• sleep duration</a:t>
            </a:r>
          </a:p>
          <a:p>
            <a:pPr marL="0" indent="0" algn="just" defTabSz="914400">
              <a:lnSpc>
                <a:spcPct val="135000"/>
              </a:lnSpc>
              <a:spcBef>
                <a:spcPts val="0"/>
              </a:spcBef>
              <a:buSzTx/>
              <a:buNone/>
              <a:tabLst>
                <a:tab pos="304800" algn="l"/>
                <a:tab pos="622300" algn="l"/>
                <a:tab pos="927100" algn="l"/>
                <a:tab pos="1244600" algn="l"/>
                <a:tab pos="1562100" algn="l"/>
                <a:tab pos="1866900" algn="l"/>
                <a:tab pos="2184400" algn="l"/>
                <a:tab pos="2501900" algn="l"/>
                <a:tab pos="2806700" algn="l"/>
                <a:tab pos="3124200" algn="l"/>
                <a:tab pos="3441700" algn="l"/>
                <a:tab pos="3746500" algn="l"/>
              </a:tabLst>
              <a:defRPr sz="3520">
                <a:solidFill>
                  <a:srgbClr val="111111"/>
                </a:solidFill>
                <a:latin typeface="Times New Roman"/>
                <a:ea typeface="Times New Roman"/>
                <a:cs typeface="Times New Roman"/>
                <a:sym typeface="Times New Roman"/>
              </a:defRPr>
            </a:pPr>
            <a:r>
              <a:t>• stress levels</a:t>
            </a:r>
          </a:p>
          <a:p>
            <a:pPr marL="0" indent="0" algn="just" defTabSz="914400">
              <a:lnSpc>
                <a:spcPct val="135000"/>
              </a:lnSpc>
              <a:spcBef>
                <a:spcPts val="0"/>
              </a:spcBef>
              <a:buSzTx/>
              <a:buNone/>
              <a:tabLst>
                <a:tab pos="304800" algn="l"/>
                <a:tab pos="622300" algn="l"/>
                <a:tab pos="927100" algn="l"/>
                <a:tab pos="1244600" algn="l"/>
                <a:tab pos="1562100" algn="l"/>
                <a:tab pos="1866900" algn="l"/>
                <a:tab pos="2184400" algn="l"/>
                <a:tab pos="2501900" algn="l"/>
                <a:tab pos="2806700" algn="l"/>
                <a:tab pos="3124200" algn="l"/>
                <a:tab pos="3441700" algn="l"/>
                <a:tab pos="3746500" algn="l"/>
              </a:tabLst>
              <a:defRPr sz="3520">
                <a:solidFill>
                  <a:srgbClr val="111111"/>
                </a:solidFill>
                <a:latin typeface="Times New Roman"/>
                <a:ea typeface="Times New Roman"/>
                <a:cs typeface="Times New Roman"/>
                <a:sym typeface="Times New Roman"/>
              </a:defRPr>
            </a:pPr>
            <a:r>
              <a:t>• hormonal cycle phase</a:t>
            </a:r>
          </a:p>
          <a:p>
            <a:pPr marL="0" indent="0" algn="just" defTabSz="914400">
              <a:lnSpc>
                <a:spcPct val="135000"/>
              </a:lnSpc>
              <a:spcBef>
                <a:spcPts val="0"/>
              </a:spcBef>
              <a:buSzTx/>
              <a:buNone/>
              <a:tabLst>
                <a:tab pos="304800" algn="l"/>
                <a:tab pos="622300" algn="l"/>
                <a:tab pos="927100" algn="l"/>
                <a:tab pos="1244600" algn="l"/>
                <a:tab pos="1562100" algn="l"/>
                <a:tab pos="1866900" algn="l"/>
                <a:tab pos="2184400" algn="l"/>
                <a:tab pos="2501900" algn="l"/>
                <a:tab pos="2806700" algn="l"/>
                <a:tab pos="3124200" algn="l"/>
                <a:tab pos="3441700" algn="l"/>
                <a:tab pos="3746500" algn="l"/>
              </a:tabLst>
              <a:defRPr sz="3520">
                <a:solidFill>
                  <a:srgbClr val="111111"/>
                </a:solidFill>
                <a:latin typeface="Times New Roman"/>
                <a:ea typeface="Times New Roman"/>
                <a:cs typeface="Times New Roman"/>
                <a:sym typeface="Times New Roman"/>
              </a:defRPr>
            </a:pPr>
            <a:r>
              <a:t>• daily lifestyle activity</a:t>
            </a:r>
          </a:p>
          <a:p>
            <a:pPr marL="0" indent="0" algn="just" defTabSz="914400">
              <a:lnSpc>
                <a:spcPct val="135000"/>
              </a:lnSpc>
              <a:spcBef>
                <a:spcPts val="0"/>
              </a:spcBef>
              <a:buSzTx/>
              <a:buNone/>
              <a:tabLst>
                <a:tab pos="304800" algn="l"/>
                <a:tab pos="622300" algn="l"/>
                <a:tab pos="927100" algn="l"/>
                <a:tab pos="1244600" algn="l"/>
                <a:tab pos="1562100" algn="l"/>
                <a:tab pos="1866900" algn="l"/>
                <a:tab pos="2184400" algn="l"/>
                <a:tab pos="2501900" algn="l"/>
                <a:tab pos="2806700" algn="l"/>
                <a:tab pos="3124200" algn="l"/>
                <a:tab pos="3441700" algn="l"/>
                <a:tab pos="3746500" algn="l"/>
              </a:tabLst>
              <a:defRPr sz="3520">
                <a:solidFill>
                  <a:srgbClr val="111111"/>
                </a:solidFill>
                <a:latin typeface="Times New Roman"/>
                <a:ea typeface="Times New Roman"/>
                <a:cs typeface="Times New Roman"/>
                <a:sym typeface="Times New Roman"/>
              </a:defRPr>
            </a:pPr>
            <a:r>
              <a:t>• mood state</a:t>
            </a:r>
          </a:p>
          <a:p>
            <a:pPr marL="0" indent="0" algn="just" defTabSz="914400">
              <a:lnSpc>
                <a:spcPct val="135000"/>
              </a:lnSpc>
              <a:spcBef>
                <a:spcPts val="0"/>
              </a:spcBef>
              <a:buSzTx/>
              <a:buNone/>
              <a:tabLst>
                <a:tab pos="304800" algn="l"/>
                <a:tab pos="622300" algn="l"/>
                <a:tab pos="927100" algn="l"/>
                <a:tab pos="1244600" algn="l"/>
                <a:tab pos="1562100" algn="l"/>
                <a:tab pos="1866900" algn="l"/>
                <a:tab pos="2184400" algn="l"/>
                <a:tab pos="2501900" algn="l"/>
                <a:tab pos="2806700" algn="l"/>
                <a:tab pos="3124200" algn="l"/>
                <a:tab pos="3441700" algn="l"/>
                <a:tab pos="3746500" algn="l"/>
              </a:tabLst>
              <a:defRPr sz="3520">
                <a:solidFill>
                  <a:srgbClr val="111111"/>
                </a:solidFill>
                <a:latin typeface="Times New Roman"/>
                <a:ea typeface="Times New Roman"/>
                <a:cs typeface="Times New Roman"/>
                <a:sym typeface="Times New Roman"/>
              </a:defRPr>
            </a:pPr>
            <a:endParaRPr/>
          </a:p>
          <a:p>
            <a:pPr marL="0" indent="0" algn="just" defTabSz="914400">
              <a:lnSpc>
                <a:spcPct val="135000"/>
              </a:lnSpc>
              <a:spcBef>
                <a:spcPts val="0"/>
              </a:spcBef>
              <a:buSzTx/>
              <a:buNone/>
              <a:tabLst>
                <a:tab pos="304800" algn="l"/>
                <a:tab pos="622300" algn="l"/>
                <a:tab pos="927100" algn="l"/>
                <a:tab pos="1244600" algn="l"/>
                <a:tab pos="1562100" algn="l"/>
                <a:tab pos="1866900" algn="l"/>
                <a:tab pos="2184400" algn="l"/>
                <a:tab pos="2501900" algn="l"/>
                <a:tab pos="2806700" algn="l"/>
                <a:tab pos="3124200" algn="l"/>
                <a:tab pos="3441700" algn="l"/>
                <a:tab pos="3746500" algn="l"/>
              </a:tabLst>
              <a:defRPr sz="3520">
                <a:solidFill>
                  <a:srgbClr val="111111"/>
                </a:solidFill>
                <a:latin typeface="Times New Roman"/>
                <a:ea typeface="Times New Roman"/>
                <a:cs typeface="Times New Roman"/>
                <a:sym typeface="Times New Roman"/>
              </a:defRPr>
            </a:pPr>
            <a:r>
              <a:t>However, most existing wellness applications:</a:t>
            </a:r>
          </a:p>
          <a:p>
            <a:pPr marL="0" indent="0" algn="just" defTabSz="914400">
              <a:lnSpc>
                <a:spcPct val="135000"/>
              </a:lnSpc>
              <a:spcBef>
                <a:spcPts val="0"/>
              </a:spcBef>
              <a:buSzTx/>
              <a:buNone/>
              <a:tabLst>
                <a:tab pos="304800" algn="l"/>
                <a:tab pos="622300" algn="l"/>
                <a:tab pos="927100" algn="l"/>
                <a:tab pos="1244600" algn="l"/>
                <a:tab pos="1562100" algn="l"/>
                <a:tab pos="1866900" algn="l"/>
                <a:tab pos="2184400" algn="l"/>
                <a:tab pos="2501900" algn="l"/>
                <a:tab pos="2806700" algn="l"/>
                <a:tab pos="3124200" algn="l"/>
                <a:tab pos="3441700" algn="l"/>
                <a:tab pos="3746500" algn="l"/>
              </a:tabLst>
              <a:defRPr sz="3520">
                <a:solidFill>
                  <a:srgbClr val="111111"/>
                </a:solidFill>
                <a:latin typeface="Times New Roman"/>
                <a:ea typeface="Times New Roman"/>
                <a:cs typeface="Times New Roman"/>
                <a:sym typeface="Times New Roman"/>
              </a:defRPr>
            </a:pPr>
            <a:r>
              <a:t>• only track data manually</a:t>
            </a:r>
          </a:p>
          <a:p>
            <a:pPr marL="0" indent="0" algn="just" defTabSz="914400">
              <a:lnSpc>
                <a:spcPct val="135000"/>
              </a:lnSpc>
              <a:spcBef>
                <a:spcPts val="0"/>
              </a:spcBef>
              <a:buSzTx/>
              <a:buNone/>
              <a:tabLst>
                <a:tab pos="304800" algn="l"/>
                <a:tab pos="622300" algn="l"/>
                <a:tab pos="927100" algn="l"/>
                <a:tab pos="1244600" algn="l"/>
                <a:tab pos="1562100" algn="l"/>
                <a:tab pos="1866900" algn="l"/>
                <a:tab pos="2184400" algn="l"/>
                <a:tab pos="2501900" algn="l"/>
                <a:tab pos="2806700" algn="l"/>
                <a:tab pos="3124200" algn="l"/>
                <a:tab pos="3441700" algn="l"/>
                <a:tab pos="3746500" algn="l"/>
              </a:tabLst>
              <a:defRPr sz="3520">
                <a:solidFill>
                  <a:srgbClr val="111111"/>
                </a:solidFill>
                <a:latin typeface="Times New Roman"/>
                <a:ea typeface="Times New Roman"/>
                <a:cs typeface="Times New Roman"/>
                <a:sym typeface="Times New Roman"/>
              </a:defRPr>
            </a:pPr>
            <a:r>
              <a:t>• provide static graphs</a:t>
            </a:r>
          </a:p>
          <a:p>
            <a:pPr marL="0" indent="0" algn="just" defTabSz="914400">
              <a:lnSpc>
                <a:spcPct val="135000"/>
              </a:lnSpc>
              <a:spcBef>
                <a:spcPts val="0"/>
              </a:spcBef>
              <a:buSzTx/>
              <a:buNone/>
              <a:tabLst>
                <a:tab pos="304800" algn="l"/>
                <a:tab pos="622300" algn="l"/>
                <a:tab pos="927100" algn="l"/>
                <a:tab pos="1244600" algn="l"/>
                <a:tab pos="1562100" algn="l"/>
                <a:tab pos="1866900" algn="l"/>
                <a:tab pos="2184400" algn="l"/>
                <a:tab pos="2501900" algn="l"/>
                <a:tab pos="2806700" algn="l"/>
                <a:tab pos="3124200" algn="l"/>
                <a:tab pos="3441700" algn="l"/>
                <a:tab pos="3746500" algn="l"/>
              </a:tabLst>
              <a:defRPr sz="3520">
                <a:solidFill>
                  <a:srgbClr val="111111"/>
                </a:solidFill>
                <a:latin typeface="Times New Roman"/>
                <a:ea typeface="Times New Roman"/>
                <a:cs typeface="Times New Roman"/>
                <a:sym typeface="Times New Roman"/>
              </a:defRPr>
            </a:pPr>
            <a:r>
              <a:t>• lack predictive analysis</a:t>
            </a:r>
          </a:p>
          <a:p>
            <a:pPr marL="0" indent="0" algn="just" defTabSz="914400">
              <a:lnSpc>
                <a:spcPct val="135000"/>
              </a:lnSpc>
              <a:spcBef>
                <a:spcPts val="0"/>
              </a:spcBef>
              <a:buSzTx/>
              <a:buNone/>
              <a:tabLst>
                <a:tab pos="304800" algn="l"/>
                <a:tab pos="622300" algn="l"/>
                <a:tab pos="927100" algn="l"/>
                <a:tab pos="1244600" algn="l"/>
                <a:tab pos="1562100" algn="l"/>
                <a:tab pos="1866900" algn="l"/>
                <a:tab pos="2184400" algn="l"/>
                <a:tab pos="2501900" algn="l"/>
                <a:tab pos="2806700" algn="l"/>
                <a:tab pos="3124200" algn="l"/>
                <a:tab pos="3441700" algn="l"/>
                <a:tab pos="3746500" algn="l"/>
              </a:tabLst>
              <a:defRPr sz="3520">
                <a:solidFill>
                  <a:srgbClr val="111111"/>
                </a:solidFill>
                <a:latin typeface="Times New Roman"/>
                <a:ea typeface="Times New Roman"/>
                <a:cs typeface="Times New Roman"/>
                <a:sym typeface="Times New Roman"/>
              </a:defRPr>
            </a:pPr>
            <a:r>
              <a:t>• do not explain emotional fluctuations</a:t>
            </a:r>
          </a:p>
          <a:p>
            <a:pPr marL="0" indent="0" algn="just" defTabSz="914400">
              <a:lnSpc>
                <a:spcPct val="135000"/>
              </a:lnSpc>
              <a:spcBef>
                <a:spcPts val="0"/>
              </a:spcBef>
              <a:buSzTx/>
              <a:buNone/>
              <a:tabLst>
                <a:tab pos="304800" algn="l"/>
                <a:tab pos="622300" algn="l"/>
                <a:tab pos="927100" algn="l"/>
                <a:tab pos="1244600" algn="l"/>
                <a:tab pos="1562100" algn="l"/>
                <a:tab pos="1866900" algn="l"/>
                <a:tab pos="2184400" algn="l"/>
                <a:tab pos="2501900" algn="l"/>
                <a:tab pos="2806700" algn="l"/>
                <a:tab pos="3124200" algn="l"/>
                <a:tab pos="3441700" algn="l"/>
                <a:tab pos="3746500" algn="l"/>
              </a:tabLst>
              <a:defRPr sz="3520" b="1">
                <a:solidFill>
                  <a:srgbClr val="111111"/>
                </a:solidFill>
                <a:latin typeface="Times New Roman"/>
                <a:ea typeface="Times New Roman"/>
                <a:cs typeface="Times New Roman"/>
                <a:sym typeface="Times New Roman"/>
              </a:defRPr>
            </a:pPr>
            <a:r>
              <a:rPr b="0"/>
              <a:t>This creates a need for </a:t>
            </a:r>
            <a:r>
              <a:t>AI-based behavioral analytics for emotional wellbeing research.</a:t>
            </a:r>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 name="Problem Statement"/>
          <p:cNvSpPr txBox="1">
            <a:spLocks noGrp="1"/>
          </p:cNvSpPr>
          <p:nvPr>
            <p:ph type="title"/>
          </p:nvPr>
        </p:nvSpPr>
        <p:spPr>
          <a:prstGeom prst="rect">
            <a:avLst/>
          </a:prstGeom>
        </p:spPr>
        <p:txBody>
          <a:bodyPr/>
          <a:lstStyle/>
          <a:p>
            <a:r>
              <a:t>Problem Statement </a:t>
            </a:r>
          </a:p>
        </p:txBody>
      </p:sp>
      <p:sp>
        <p:nvSpPr>
          <p:cNvPr id="183" name="Mental and emotional wellbeing fluctuations are influenced by lifestyle behavior and physiological context such as hormonal cycles.…"/>
          <p:cNvSpPr txBox="1">
            <a:spLocks noGrp="1"/>
          </p:cNvSpPr>
          <p:nvPr>
            <p:ph type="body" idx="1"/>
          </p:nvPr>
        </p:nvSpPr>
        <p:spPr>
          <a:xfrm>
            <a:off x="1217711" y="3469474"/>
            <a:ext cx="21948578" cy="8483601"/>
          </a:xfrm>
          <a:prstGeom prst="rect">
            <a:avLst/>
          </a:prstGeom>
        </p:spPr>
        <p:txBody>
          <a:bodyPr anchor="ctr"/>
          <a:lstStyle/>
          <a:p>
            <a:pPr marL="0" indent="0" algn="just" defTabSz="12700">
              <a:lnSpc>
                <a:spcPct val="135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4100">
                <a:solidFill>
                  <a:srgbClr val="111111"/>
                </a:solidFill>
                <a:latin typeface="Times New Roman"/>
                <a:ea typeface="Times New Roman"/>
                <a:cs typeface="Times New Roman"/>
                <a:sym typeface="Times New Roman"/>
              </a:defRPr>
            </a:pPr>
            <a:r>
              <a:t>Mental and emotional wellbeing fluctuations are influenced by lifestyle behavior and physiological context such as hormonal cycles.</a:t>
            </a:r>
          </a:p>
          <a:p>
            <a:pPr marL="0" indent="0" algn="just" defTabSz="12700">
              <a:lnSpc>
                <a:spcPct val="135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4100">
                <a:solidFill>
                  <a:srgbClr val="111111"/>
                </a:solidFill>
                <a:latin typeface="Times New Roman"/>
                <a:ea typeface="Times New Roman"/>
                <a:cs typeface="Times New Roman"/>
                <a:sym typeface="Times New Roman"/>
              </a:defRPr>
            </a:pPr>
            <a:endParaRPr/>
          </a:p>
          <a:p>
            <a:pPr marL="0" indent="0" algn="just" defTabSz="12700">
              <a:lnSpc>
                <a:spcPct val="135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4100">
                <a:solidFill>
                  <a:srgbClr val="111111"/>
                </a:solidFill>
                <a:latin typeface="Times New Roman"/>
                <a:ea typeface="Times New Roman"/>
                <a:cs typeface="Times New Roman"/>
                <a:sym typeface="Times New Roman"/>
              </a:defRPr>
            </a:pPr>
            <a:r>
              <a:t>Current digital health platforms have several limitations:</a:t>
            </a:r>
          </a:p>
          <a:p>
            <a:pPr marL="0" indent="0" algn="just" defTabSz="12700">
              <a:lnSpc>
                <a:spcPct val="135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4100">
                <a:solidFill>
                  <a:srgbClr val="111111"/>
                </a:solidFill>
                <a:latin typeface="Times New Roman"/>
                <a:ea typeface="Times New Roman"/>
                <a:cs typeface="Times New Roman"/>
                <a:sym typeface="Times New Roman"/>
              </a:defRPr>
            </a:pPr>
            <a:r>
              <a:t>• lack of integrated behavioral and hormonal analysis</a:t>
            </a:r>
          </a:p>
          <a:p>
            <a:pPr marL="0" indent="0" algn="just" defTabSz="12700">
              <a:lnSpc>
                <a:spcPct val="135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4100">
                <a:solidFill>
                  <a:srgbClr val="111111"/>
                </a:solidFill>
                <a:latin typeface="Times New Roman"/>
                <a:ea typeface="Times New Roman"/>
                <a:cs typeface="Times New Roman"/>
                <a:sym typeface="Times New Roman"/>
              </a:defRPr>
            </a:pPr>
            <a:r>
              <a:t>• limited predictive capability</a:t>
            </a:r>
          </a:p>
          <a:p>
            <a:pPr marL="0" indent="0" algn="just" defTabSz="12700">
              <a:lnSpc>
                <a:spcPct val="135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4100">
                <a:solidFill>
                  <a:srgbClr val="111111"/>
                </a:solidFill>
                <a:latin typeface="Times New Roman"/>
                <a:ea typeface="Times New Roman"/>
                <a:cs typeface="Times New Roman"/>
                <a:sym typeface="Times New Roman"/>
              </a:defRPr>
            </a:pPr>
            <a:r>
              <a:t>• absence of explainable machine learning insights</a:t>
            </a:r>
          </a:p>
          <a:p>
            <a:pPr marL="0" indent="0" algn="just" defTabSz="12700">
              <a:lnSpc>
                <a:spcPct val="135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4100">
                <a:solidFill>
                  <a:srgbClr val="111111"/>
                </a:solidFill>
                <a:latin typeface="Times New Roman"/>
                <a:ea typeface="Times New Roman"/>
                <a:cs typeface="Times New Roman"/>
                <a:sym typeface="Times New Roman"/>
              </a:defRPr>
            </a:pPr>
            <a:endParaRPr/>
          </a:p>
          <a:p>
            <a:pPr marL="0" indent="0" algn="just" defTabSz="12700">
              <a:lnSpc>
                <a:spcPct val="135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4100">
                <a:solidFill>
                  <a:srgbClr val="111111"/>
                </a:solidFill>
                <a:latin typeface="Times New Roman"/>
                <a:ea typeface="Times New Roman"/>
                <a:cs typeface="Times New Roman"/>
                <a:sym typeface="Times New Roman"/>
              </a:defRPr>
            </a:pPr>
            <a:r>
              <a:t>Therefore, there is a need for a </a:t>
            </a:r>
            <a:r>
              <a:rPr b="1"/>
              <a:t>cycle-aware behavioral analytics system</a:t>
            </a:r>
            <a:r>
              <a:t> that can analyze emotional wellbeing patterns using machine learning.</a:t>
            </a:r>
          </a:p>
        </p:txBody>
      </p:sp>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 name="Research Objectives"/>
          <p:cNvSpPr txBox="1">
            <a:spLocks noGrp="1"/>
          </p:cNvSpPr>
          <p:nvPr>
            <p:ph type="title"/>
          </p:nvPr>
        </p:nvSpPr>
        <p:spPr>
          <a:prstGeom prst="rect">
            <a:avLst/>
          </a:prstGeom>
        </p:spPr>
        <p:txBody>
          <a:bodyPr/>
          <a:lstStyle/>
          <a:p>
            <a:r>
              <a:t>Research Objectives </a:t>
            </a:r>
          </a:p>
        </p:txBody>
      </p:sp>
      <p:sp>
        <p:nvSpPr>
          <p:cNvPr id="186" name="The objectives of this project are:…"/>
          <p:cNvSpPr txBox="1">
            <a:spLocks noGrp="1"/>
          </p:cNvSpPr>
          <p:nvPr>
            <p:ph type="body" idx="1"/>
          </p:nvPr>
        </p:nvSpPr>
        <p:spPr>
          <a:prstGeom prst="rect">
            <a:avLst/>
          </a:prstGeom>
        </p:spPr>
        <p:txBody>
          <a:bodyPr/>
          <a:lstStyle/>
          <a:p>
            <a:pPr marL="0" indent="0" algn="just" defTabSz="12700">
              <a:lnSpc>
                <a:spcPct val="135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400">
                <a:solidFill>
                  <a:srgbClr val="111111"/>
                </a:solidFill>
                <a:latin typeface="Times New Roman"/>
                <a:ea typeface="Times New Roman"/>
                <a:cs typeface="Times New Roman"/>
                <a:sym typeface="Times New Roman"/>
              </a:defRPr>
            </a:pPr>
            <a:r>
              <a:t>The objectives of this project are:</a:t>
            </a:r>
          </a:p>
          <a:p>
            <a:pPr marL="0" indent="0" algn="just" defTabSz="12700">
              <a:lnSpc>
                <a:spcPct val="135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400">
                <a:solidFill>
                  <a:srgbClr val="111111"/>
                </a:solidFill>
                <a:latin typeface="Times New Roman"/>
                <a:ea typeface="Times New Roman"/>
                <a:cs typeface="Times New Roman"/>
                <a:sym typeface="Times New Roman"/>
              </a:defRPr>
            </a:pPr>
            <a:endParaRPr/>
          </a:p>
          <a:p>
            <a:pPr marL="0" indent="0" algn="just" defTabSz="12700">
              <a:lnSpc>
                <a:spcPct val="135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400">
                <a:solidFill>
                  <a:srgbClr val="111111"/>
                </a:solidFill>
                <a:latin typeface="Times New Roman"/>
                <a:ea typeface="Times New Roman"/>
                <a:cs typeface="Times New Roman"/>
                <a:sym typeface="Times New Roman"/>
              </a:defRPr>
            </a:pPr>
            <a:r>
              <a:t>• analyze behavioral signals influencing emotional wellbeing</a:t>
            </a:r>
          </a:p>
          <a:p>
            <a:pPr marL="0" indent="0" algn="just" defTabSz="12700">
              <a:lnSpc>
                <a:spcPct val="135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400">
                <a:solidFill>
                  <a:srgbClr val="111111"/>
                </a:solidFill>
                <a:latin typeface="Times New Roman"/>
                <a:ea typeface="Times New Roman"/>
                <a:cs typeface="Times New Roman"/>
                <a:sym typeface="Times New Roman"/>
              </a:defRPr>
            </a:pPr>
            <a:endParaRPr/>
          </a:p>
          <a:p>
            <a:pPr marL="0" indent="0" algn="just" defTabSz="12700">
              <a:lnSpc>
                <a:spcPct val="135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400">
                <a:solidFill>
                  <a:srgbClr val="111111"/>
                </a:solidFill>
                <a:latin typeface="Times New Roman"/>
                <a:ea typeface="Times New Roman"/>
                <a:cs typeface="Times New Roman"/>
                <a:sym typeface="Times New Roman"/>
              </a:defRPr>
            </a:pPr>
            <a:r>
              <a:t>• identify relationships between hormonal cycle phases and emotional states</a:t>
            </a:r>
          </a:p>
          <a:p>
            <a:pPr marL="0" indent="0" algn="just" defTabSz="12700">
              <a:lnSpc>
                <a:spcPct val="135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400">
                <a:solidFill>
                  <a:srgbClr val="111111"/>
                </a:solidFill>
                <a:latin typeface="Times New Roman"/>
                <a:ea typeface="Times New Roman"/>
                <a:cs typeface="Times New Roman"/>
                <a:sym typeface="Times New Roman"/>
              </a:defRPr>
            </a:pPr>
            <a:endParaRPr/>
          </a:p>
          <a:p>
            <a:pPr marL="0" indent="0" algn="just" defTabSz="12700">
              <a:lnSpc>
                <a:spcPct val="135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400">
                <a:solidFill>
                  <a:srgbClr val="111111"/>
                </a:solidFill>
                <a:latin typeface="Times New Roman"/>
                <a:ea typeface="Times New Roman"/>
                <a:cs typeface="Times New Roman"/>
                <a:sym typeface="Times New Roman"/>
              </a:defRPr>
            </a:pPr>
            <a:r>
              <a:t>• build machine learning models capable of identifying emotional pattern trends</a:t>
            </a:r>
          </a:p>
          <a:p>
            <a:pPr marL="0" indent="0" algn="just" defTabSz="12700">
              <a:lnSpc>
                <a:spcPct val="135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400">
                <a:solidFill>
                  <a:srgbClr val="111111"/>
                </a:solidFill>
                <a:latin typeface="Times New Roman"/>
                <a:ea typeface="Times New Roman"/>
                <a:cs typeface="Times New Roman"/>
                <a:sym typeface="Times New Roman"/>
              </a:defRPr>
            </a:pPr>
            <a:endParaRPr/>
          </a:p>
          <a:p>
            <a:pPr marL="0" indent="0" algn="just" defTabSz="12700">
              <a:lnSpc>
                <a:spcPct val="135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400">
                <a:solidFill>
                  <a:srgbClr val="111111"/>
                </a:solidFill>
                <a:latin typeface="Times New Roman"/>
                <a:ea typeface="Times New Roman"/>
                <a:cs typeface="Times New Roman"/>
                <a:sym typeface="Times New Roman"/>
              </a:defRPr>
            </a:pPr>
            <a:r>
              <a:t>• compare multiple ML models to determine the most effective predictor</a:t>
            </a:r>
          </a:p>
          <a:p>
            <a:pPr marL="0" indent="0" algn="just" defTabSz="12700">
              <a:lnSpc>
                <a:spcPct val="135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400">
                <a:solidFill>
                  <a:srgbClr val="111111"/>
                </a:solidFill>
                <a:latin typeface="Times New Roman"/>
                <a:ea typeface="Times New Roman"/>
                <a:cs typeface="Times New Roman"/>
                <a:sym typeface="Times New Roman"/>
              </a:defRPr>
            </a:pPr>
            <a:endParaRPr/>
          </a:p>
          <a:p>
            <a:pPr marL="0" indent="0" algn="just" defTabSz="12700">
              <a:lnSpc>
                <a:spcPct val="135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400">
                <a:solidFill>
                  <a:srgbClr val="111111"/>
                </a:solidFill>
                <a:latin typeface="Times New Roman"/>
                <a:ea typeface="Times New Roman"/>
                <a:cs typeface="Times New Roman"/>
                <a:sym typeface="Times New Roman"/>
              </a:defRPr>
            </a:pPr>
            <a:r>
              <a:t>• develop a behavioral analytics platform for research and insight generation</a:t>
            </a:r>
          </a:p>
        </p:txBody>
      </p:sp>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 name="Research Questions"/>
          <p:cNvSpPr txBox="1">
            <a:spLocks noGrp="1"/>
          </p:cNvSpPr>
          <p:nvPr>
            <p:ph type="title"/>
          </p:nvPr>
        </p:nvSpPr>
        <p:spPr>
          <a:prstGeom prst="rect">
            <a:avLst/>
          </a:prstGeom>
        </p:spPr>
        <p:txBody>
          <a:bodyPr/>
          <a:lstStyle/>
          <a:p>
            <a:r>
              <a:t>Research Questions </a:t>
            </a:r>
          </a:p>
        </p:txBody>
      </p:sp>
      <p:sp>
        <p:nvSpPr>
          <p:cNvPr id="189" name="This research aims to answer the following questions:…"/>
          <p:cNvSpPr txBox="1">
            <a:spLocks noGrp="1"/>
          </p:cNvSpPr>
          <p:nvPr>
            <p:ph type="body" idx="1"/>
          </p:nvPr>
        </p:nvSpPr>
        <p:spPr>
          <a:prstGeom prst="rect">
            <a:avLst/>
          </a:prstGeom>
        </p:spPr>
        <p:txBody>
          <a:bodyPr/>
          <a:lstStyle/>
          <a:p>
            <a:pPr marL="0" indent="0" algn="just" defTabSz="12700">
              <a:lnSpc>
                <a:spcPct val="135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800">
                <a:solidFill>
                  <a:srgbClr val="111111"/>
                </a:solidFill>
                <a:latin typeface="Times New Roman"/>
                <a:ea typeface="Times New Roman"/>
                <a:cs typeface="Times New Roman"/>
                <a:sym typeface="Times New Roman"/>
              </a:defRPr>
            </a:pPr>
            <a:r>
              <a:t>This research aims to answer the following questions:</a:t>
            </a:r>
          </a:p>
          <a:p>
            <a:pPr marL="0" indent="0" algn="just" defTabSz="12700">
              <a:lnSpc>
                <a:spcPct val="135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800">
                <a:solidFill>
                  <a:srgbClr val="111111"/>
                </a:solidFill>
                <a:latin typeface="Times New Roman"/>
                <a:ea typeface="Times New Roman"/>
                <a:cs typeface="Times New Roman"/>
                <a:sym typeface="Times New Roman"/>
              </a:defRPr>
            </a:pPr>
            <a:endParaRPr/>
          </a:p>
          <a:p>
            <a:pPr marL="0" indent="0" algn="just" defTabSz="12700">
              <a:lnSpc>
                <a:spcPct val="135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800">
                <a:solidFill>
                  <a:srgbClr val="111111"/>
                </a:solidFill>
                <a:latin typeface="Times New Roman"/>
                <a:ea typeface="Times New Roman"/>
                <a:cs typeface="Times New Roman"/>
                <a:sym typeface="Times New Roman"/>
              </a:defRPr>
            </a:pPr>
            <a:r>
              <a:t>• Can emotional wellbeing patterns be analyzed using behavioral and physiological signals?</a:t>
            </a:r>
          </a:p>
          <a:p>
            <a:pPr marL="0" indent="0" algn="just" defTabSz="12700">
              <a:lnSpc>
                <a:spcPct val="135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800">
                <a:solidFill>
                  <a:srgbClr val="111111"/>
                </a:solidFill>
                <a:latin typeface="Times New Roman"/>
                <a:ea typeface="Times New Roman"/>
                <a:cs typeface="Times New Roman"/>
                <a:sym typeface="Times New Roman"/>
              </a:defRPr>
            </a:pPr>
            <a:endParaRPr/>
          </a:p>
          <a:p>
            <a:pPr marL="0" indent="0" algn="just" defTabSz="12700">
              <a:lnSpc>
                <a:spcPct val="135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800">
                <a:solidFill>
                  <a:srgbClr val="111111"/>
                </a:solidFill>
                <a:latin typeface="Times New Roman"/>
                <a:ea typeface="Times New Roman"/>
                <a:cs typeface="Times New Roman"/>
                <a:sym typeface="Times New Roman"/>
              </a:defRPr>
            </a:pPr>
            <a:r>
              <a:t>• Do menstrual cycle phases influence emotional patterns?</a:t>
            </a:r>
          </a:p>
          <a:p>
            <a:pPr marL="0" indent="0" algn="just" defTabSz="12700">
              <a:lnSpc>
                <a:spcPct val="135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800">
                <a:solidFill>
                  <a:srgbClr val="111111"/>
                </a:solidFill>
                <a:latin typeface="Times New Roman"/>
                <a:ea typeface="Times New Roman"/>
                <a:cs typeface="Times New Roman"/>
                <a:sym typeface="Times New Roman"/>
              </a:defRPr>
            </a:pPr>
            <a:endParaRPr/>
          </a:p>
          <a:p>
            <a:pPr marL="0" indent="0" algn="just" defTabSz="12700">
              <a:lnSpc>
                <a:spcPct val="135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800">
                <a:solidFill>
                  <a:srgbClr val="111111"/>
                </a:solidFill>
                <a:latin typeface="Times New Roman"/>
                <a:ea typeface="Times New Roman"/>
                <a:cs typeface="Times New Roman"/>
                <a:sym typeface="Times New Roman"/>
              </a:defRPr>
            </a:pPr>
            <a:r>
              <a:t>• Which behavioral factors have the strongest relationship with emotional wellbeing?</a:t>
            </a:r>
          </a:p>
          <a:p>
            <a:pPr marL="0" indent="0" algn="just" defTabSz="12700">
              <a:lnSpc>
                <a:spcPct val="135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800">
                <a:solidFill>
                  <a:srgbClr val="111111"/>
                </a:solidFill>
                <a:latin typeface="Times New Roman"/>
                <a:ea typeface="Times New Roman"/>
                <a:cs typeface="Times New Roman"/>
                <a:sym typeface="Times New Roman"/>
              </a:defRPr>
            </a:pPr>
            <a:endParaRPr/>
          </a:p>
          <a:p>
            <a:pPr marL="0" indent="0" algn="just" defTabSz="12700">
              <a:lnSpc>
                <a:spcPct val="135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800">
                <a:solidFill>
                  <a:srgbClr val="111111"/>
                </a:solidFill>
                <a:latin typeface="Times New Roman"/>
                <a:ea typeface="Times New Roman"/>
                <a:cs typeface="Times New Roman"/>
                <a:sym typeface="Times New Roman"/>
              </a:defRPr>
            </a:pPr>
            <a:r>
              <a:t>• Which machine learning model performs best for emotional pattern analysis?</a:t>
            </a:r>
          </a:p>
        </p:txBody>
      </p:sp>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 name="Literature Survey"/>
          <p:cNvSpPr txBox="1">
            <a:spLocks noGrp="1"/>
          </p:cNvSpPr>
          <p:nvPr>
            <p:ph type="title"/>
          </p:nvPr>
        </p:nvSpPr>
        <p:spPr>
          <a:prstGeom prst="rect">
            <a:avLst/>
          </a:prstGeom>
        </p:spPr>
        <p:txBody>
          <a:bodyPr/>
          <a:lstStyle/>
          <a:p>
            <a:r>
              <a:t>Literature Survey </a:t>
            </a:r>
          </a:p>
        </p:txBody>
      </p:sp>
      <p:graphicFrame>
        <p:nvGraphicFramePr>
          <p:cNvPr id="192" name="Table 1"/>
          <p:cNvGraphicFramePr/>
          <p:nvPr/>
        </p:nvGraphicFramePr>
        <p:xfrm>
          <a:off x="1210702" y="3104902"/>
          <a:ext cx="22761440" cy="10600585"/>
        </p:xfrm>
        <a:graphic>
          <a:graphicData uri="http://schemas.openxmlformats.org/drawingml/2006/table">
            <a:tbl>
              <a:tblPr>
                <a:tableStyleId>{4C3C2611-4C71-4FC5-86AE-919BDF0F9419}</a:tableStyleId>
              </a:tblPr>
              <a:tblGrid>
                <a:gridCol w="1873385">
                  <a:extLst>
                    <a:ext uri="{9D8B030D-6E8A-4147-A177-3AD203B41FA5}">
                      <a16:colId xmlns:a16="http://schemas.microsoft.com/office/drawing/2014/main" val="20000"/>
                    </a:ext>
                  </a:extLst>
                </a:gridCol>
                <a:gridCol w="7623955">
                  <a:extLst>
                    <a:ext uri="{9D8B030D-6E8A-4147-A177-3AD203B41FA5}">
                      <a16:colId xmlns:a16="http://schemas.microsoft.com/office/drawing/2014/main" val="20001"/>
                    </a:ext>
                  </a:extLst>
                </a:gridCol>
                <a:gridCol w="7155608">
                  <a:extLst>
                    <a:ext uri="{9D8B030D-6E8A-4147-A177-3AD203B41FA5}">
                      <a16:colId xmlns:a16="http://schemas.microsoft.com/office/drawing/2014/main" val="20002"/>
                    </a:ext>
                  </a:extLst>
                </a:gridCol>
                <a:gridCol w="6108492">
                  <a:extLst>
                    <a:ext uri="{9D8B030D-6E8A-4147-A177-3AD203B41FA5}">
                      <a16:colId xmlns:a16="http://schemas.microsoft.com/office/drawing/2014/main" val="20003"/>
                    </a:ext>
                  </a:extLst>
                </a:gridCol>
              </a:tblGrid>
              <a:tr h="1404613">
                <a:tc>
                  <a:txBody>
                    <a:bodyPr/>
                    <a:lstStyle/>
                    <a:p>
                      <a:pPr marL="109220" algn="l" defTabSz="457200">
                        <a:lnSpc>
                          <a:spcPts val="5600"/>
                        </a:lnSpc>
                        <a:spcBef>
                          <a:spcPts val="1000"/>
                        </a:spcBef>
                        <a:tabLst>
                          <a:tab pos="1663700" algn="l"/>
                        </a:tabLst>
                        <a:defRPr sz="1800"/>
                      </a:pPr>
                      <a:r>
                        <a:rPr sz="2600" b="1">
                          <a:latin typeface="Times New Roman"/>
                          <a:ea typeface="Times New Roman"/>
                          <a:cs typeface="Times New Roman"/>
                          <a:sym typeface="Times New Roman"/>
                        </a:rPr>
                        <a:t>S. No</a:t>
                      </a:r>
                    </a:p>
                  </a:txBody>
                  <a:tcPr marT="12700" marB="0" horzOverflow="overflow"/>
                </a:tc>
                <a:tc>
                  <a:txBody>
                    <a:bodyPr/>
                    <a:lstStyle/>
                    <a:p>
                      <a:pPr marL="109220" defTabSz="457200">
                        <a:lnSpc>
                          <a:spcPts val="5600"/>
                        </a:lnSpc>
                        <a:spcBef>
                          <a:spcPts val="1000"/>
                        </a:spcBef>
                        <a:tabLst>
                          <a:tab pos="1663700" algn="l"/>
                        </a:tabLst>
                        <a:defRPr sz="2600" b="1">
                          <a:latin typeface="Times New Roman"/>
                          <a:ea typeface="Times New Roman"/>
                          <a:cs typeface="Times New Roman"/>
                          <a:sym typeface="Times New Roman"/>
                        </a:defRPr>
                      </a:pPr>
                      <a:r>
                        <a:t>Title</a:t>
                      </a:r>
                      <a:endParaRPr b="0">
                        <a:solidFill>
                          <a:srgbClr val="000000">
                            <a:alpha val="84706"/>
                          </a:srgbClr>
                        </a:solidFill>
                      </a:endParaRPr>
                    </a:p>
                    <a:p>
                      <a:pPr marL="109220" defTabSz="457200">
                        <a:lnSpc>
                          <a:spcPts val="5600"/>
                        </a:lnSpc>
                        <a:spcBef>
                          <a:spcPts val="1000"/>
                        </a:spcBef>
                        <a:tabLst>
                          <a:tab pos="1663700" algn="l"/>
                        </a:tabLst>
                        <a:defRPr sz="2600" i="1">
                          <a:latin typeface="Times New Roman"/>
                          <a:ea typeface="Times New Roman"/>
                          <a:cs typeface="Times New Roman"/>
                          <a:sym typeface="Times New Roman"/>
                        </a:defRPr>
                      </a:pPr>
                      <a:r>
                        <a:t>(Name of the journal, author and publication details)</a:t>
                      </a:r>
                    </a:p>
                  </a:txBody>
                  <a:tcPr marT="12700" marB="0" horzOverflow="overflow"/>
                </a:tc>
                <a:tc>
                  <a:txBody>
                    <a:bodyPr/>
                    <a:lstStyle/>
                    <a:p>
                      <a:pPr marL="109220" defTabSz="457200">
                        <a:lnSpc>
                          <a:spcPts val="5600"/>
                        </a:lnSpc>
                        <a:spcBef>
                          <a:spcPts val="1000"/>
                        </a:spcBef>
                        <a:tabLst>
                          <a:tab pos="1663700" algn="l"/>
                        </a:tabLst>
                        <a:defRPr sz="2600" b="1">
                          <a:latin typeface="Times New Roman"/>
                          <a:ea typeface="Times New Roman"/>
                          <a:cs typeface="Times New Roman"/>
                          <a:sym typeface="Times New Roman"/>
                        </a:defRPr>
                      </a:pPr>
                      <a:r>
                        <a:t>Methodology</a:t>
                      </a:r>
                      <a:endParaRPr b="0">
                        <a:solidFill>
                          <a:srgbClr val="000000">
                            <a:alpha val="84706"/>
                          </a:srgbClr>
                        </a:solidFill>
                      </a:endParaRPr>
                    </a:p>
                    <a:p>
                      <a:pPr marL="109220" defTabSz="457200">
                        <a:lnSpc>
                          <a:spcPts val="5600"/>
                        </a:lnSpc>
                        <a:spcBef>
                          <a:spcPts val="1000"/>
                        </a:spcBef>
                        <a:tabLst>
                          <a:tab pos="1663700" algn="l"/>
                        </a:tabLst>
                        <a:defRPr sz="2600" i="1">
                          <a:latin typeface="Times New Roman"/>
                          <a:ea typeface="Times New Roman"/>
                          <a:cs typeface="Times New Roman"/>
                          <a:sym typeface="Times New Roman"/>
                        </a:defRPr>
                      </a:pPr>
                      <a:r>
                        <a:t>(Provide a Summary of key studies and their findings)</a:t>
                      </a:r>
                    </a:p>
                  </a:txBody>
                  <a:tcPr marT="12700" marB="0" horzOverflow="overflow"/>
                </a:tc>
                <a:tc>
                  <a:txBody>
                    <a:bodyPr/>
                    <a:lstStyle/>
                    <a:p>
                      <a:pPr marL="109220" algn="l" defTabSz="457200">
                        <a:lnSpc>
                          <a:spcPts val="5600"/>
                        </a:lnSpc>
                        <a:spcBef>
                          <a:spcPts val="1000"/>
                        </a:spcBef>
                        <a:tabLst>
                          <a:tab pos="1663700" algn="l"/>
                        </a:tabLst>
                        <a:defRPr sz="2600" b="1">
                          <a:latin typeface="Times New Roman"/>
                          <a:ea typeface="Times New Roman"/>
                          <a:cs typeface="Times New Roman"/>
                          <a:sym typeface="Times New Roman"/>
                        </a:defRPr>
                      </a:pPr>
                      <a:r>
                        <a:t>Identification of gaps and limitations.</a:t>
                      </a:r>
                      <a:endParaRPr b="0">
                        <a:solidFill>
                          <a:srgbClr val="000000">
                            <a:alpha val="84706"/>
                          </a:srgbClr>
                        </a:solidFill>
                      </a:endParaRPr>
                    </a:p>
                    <a:p>
                      <a:pPr marL="109220" defTabSz="457200">
                        <a:lnSpc>
                          <a:spcPts val="5600"/>
                        </a:lnSpc>
                        <a:spcBef>
                          <a:spcPts val="1000"/>
                        </a:spcBef>
                        <a:tabLst>
                          <a:tab pos="1663700" algn="l"/>
                        </a:tabLst>
                        <a:defRPr sz="2600" i="1">
                          <a:latin typeface="Times New Roman"/>
                          <a:ea typeface="Times New Roman"/>
                          <a:cs typeface="Times New Roman"/>
                          <a:sym typeface="Times New Roman"/>
                        </a:defRPr>
                      </a:pPr>
                      <a:r>
                        <a:t>(Identify the limitations of the Research Paper)</a:t>
                      </a:r>
                    </a:p>
                  </a:txBody>
                  <a:tcPr marT="12700" marB="0" horzOverflow="overflow"/>
                </a:tc>
                <a:extLst>
                  <a:ext uri="{0D108BD9-81ED-4DB2-BD59-A6C34878D82A}">
                    <a16:rowId xmlns:a16="http://schemas.microsoft.com/office/drawing/2014/main" val="10000"/>
                  </a:ext>
                </a:extLst>
              </a:tr>
              <a:tr h="1404613">
                <a:tc>
                  <a:txBody>
                    <a:bodyPr/>
                    <a:lstStyle/>
                    <a:p>
                      <a:pPr defTabSz="457200">
                        <a:tabLst>
                          <a:tab pos="1663700" algn="l"/>
                        </a:tabLst>
                        <a:defRPr sz="1800"/>
                      </a:pPr>
                      <a:r>
                        <a:rPr sz="2600">
                          <a:latin typeface="Times New Roman"/>
                          <a:ea typeface="Times New Roman"/>
                          <a:cs typeface="Times New Roman"/>
                          <a:sym typeface="Times New Roman"/>
                        </a:rPr>
                        <a:t>1</a:t>
                      </a:r>
                    </a:p>
                  </a:txBody>
                  <a:tcPr marL="121920" marR="121920" marT="60960" marB="60960" anchor="ctr" horzOverflow="overflow"/>
                </a:tc>
                <a:tc>
                  <a:txBody>
                    <a:bodyPr/>
                    <a:lstStyle/>
                    <a:p>
                      <a:pPr algn="l" defTabSz="457200">
                        <a:tabLst>
                          <a:tab pos="1663700" algn="l"/>
                        </a:tabLst>
                        <a:defRPr sz="2600" b="1">
                          <a:latin typeface="Times New Roman"/>
                          <a:ea typeface="Times New Roman"/>
                          <a:cs typeface="Times New Roman"/>
                          <a:sym typeface="Times New Roman"/>
                        </a:defRPr>
                      </a:pPr>
                      <a:r>
                        <a:t>AI-Based Correlation Between Hormonal Changes and Mood</a:t>
                      </a:r>
                      <a:r>
                        <a:rPr b="0"/>
                        <a:t> – </a:t>
                      </a:r>
                      <a:r>
                        <a:rPr b="0" i="1"/>
                        <a:t>Zhang &amp; Kumar, 2023, Journal of Biomedical Informatics</a:t>
                      </a:r>
                    </a:p>
                  </a:txBody>
                  <a:tcPr marL="121920" marR="121920" marT="60960" marB="60960" anchor="ctr" horzOverflow="overflow"/>
                </a:tc>
                <a:tc>
                  <a:txBody>
                    <a:bodyPr/>
                    <a:lstStyle/>
                    <a:p>
                      <a:pPr algn="l" defTabSz="457200">
                        <a:tabLst>
                          <a:tab pos="1663700" algn="l"/>
                        </a:tabLst>
                        <a:defRPr sz="1800"/>
                      </a:pPr>
                      <a:r>
                        <a:rPr sz="2600">
                          <a:latin typeface="Times New Roman"/>
                          <a:ea typeface="Times New Roman"/>
                          <a:cs typeface="Times New Roman"/>
                          <a:sym typeface="Times New Roman"/>
                        </a:rPr>
                        <a:t>Used Deep Neural Networks to analyse large-scale labelled datasets and establish statistical correlation between hormonal fluctuations and emotional states</a:t>
                      </a:r>
                    </a:p>
                  </a:txBody>
                  <a:tcPr marL="121920" marR="121920" marT="60960" marB="60960" anchor="ctr" horzOverflow="overflow"/>
                </a:tc>
                <a:tc>
                  <a:txBody>
                    <a:bodyPr/>
                    <a:lstStyle/>
                    <a:p>
                      <a:pPr algn="l" defTabSz="457200">
                        <a:tabLst>
                          <a:tab pos="1663700" algn="l"/>
                        </a:tabLst>
                        <a:defRPr sz="1800"/>
                      </a:pPr>
                      <a:r>
                        <a:rPr sz="2600">
                          <a:latin typeface="Times New Roman"/>
                          <a:ea typeface="Times New Roman"/>
                          <a:cs typeface="Times New Roman"/>
                          <a:sym typeface="Times New Roman"/>
                        </a:rPr>
                        <a:t>No user-level validation, no prototype implementation, requires large labelled datasets</a:t>
                      </a:r>
                    </a:p>
                  </a:txBody>
                  <a:tcPr marL="121920" marR="121920" marT="60960" marB="60960" anchor="ctr" horzOverflow="overflow"/>
                </a:tc>
                <a:extLst>
                  <a:ext uri="{0D108BD9-81ED-4DB2-BD59-A6C34878D82A}">
                    <a16:rowId xmlns:a16="http://schemas.microsoft.com/office/drawing/2014/main" val="10001"/>
                  </a:ext>
                </a:extLst>
              </a:tr>
              <a:tr h="1404613">
                <a:tc>
                  <a:txBody>
                    <a:bodyPr/>
                    <a:lstStyle/>
                    <a:p>
                      <a:pPr defTabSz="457200">
                        <a:tabLst>
                          <a:tab pos="1663700" algn="l"/>
                        </a:tabLst>
                        <a:defRPr sz="1800"/>
                      </a:pPr>
                      <a:r>
                        <a:rPr sz="2600">
                          <a:latin typeface="Times New Roman"/>
                          <a:ea typeface="Times New Roman"/>
                          <a:cs typeface="Times New Roman"/>
                          <a:sym typeface="Times New Roman"/>
                        </a:rPr>
                        <a:t>2</a:t>
                      </a:r>
                    </a:p>
                  </a:txBody>
                  <a:tcPr marL="121920" marR="121920" marT="60960" marB="60960" anchor="ctr" horzOverflow="overflow"/>
                </a:tc>
                <a:tc>
                  <a:txBody>
                    <a:bodyPr/>
                    <a:lstStyle/>
                    <a:p>
                      <a:pPr algn="l" defTabSz="457200">
                        <a:tabLst>
                          <a:tab pos="1663700" algn="l"/>
                        </a:tabLst>
                        <a:defRPr sz="2600" b="1">
                          <a:latin typeface="Times New Roman"/>
                          <a:ea typeface="Times New Roman"/>
                          <a:cs typeface="Times New Roman"/>
                          <a:sym typeface="Times New Roman"/>
                        </a:defRPr>
                      </a:pPr>
                      <a:r>
                        <a:t>AI for Predicting Hormonal Cycles Through Bio signals</a:t>
                      </a:r>
                      <a:r>
                        <a:rPr b="0"/>
                        <a:t> – </a:t>
                      </a:r>
                      <a:r>
                        <a:rPr b="0" i="1"/>
                        <a:t>Lee et al., 2021, Nature Medicine</a:t>
                      </a:r>
                    </a:p>
                  </a:txBody>
                  <a:tcPr marL="121920" marR="121920" marT="60960" marB="60960" anchor="ctr" horzOverflow="overflow"/>
                </a:tc>
                <a:tc>
                  <a:txBody>
                    <a:bodyPr/>
                    <a:lstStyle/>
                    <a:p>
                      <a:pPr algn="l" defTabSz="457200">
                        <a:tabLst>
                          <a:tab pos="1663700" algn="l"/>
                        </a:tabLst>
                        <a:defRPr sz="1800"/>
                      </a:pPr>
                      <a:r>
                        <a:rPr sz="2600">
                          <a:latin typeface="Times New Roman"/>
                          <a:ea typeface="Times New Roman"/>
                          <a:cs typeface="Times New Roman"/>
                          <a:sym typeface="Times New Roman"/>
                        </a:rPr>
                        <a:t>Applied LSTM-based time-series models on bio signal data to predict hormonal cycle patterns</a:t>
                      </a:r>
                    </a:p>
                  </a:txBody>
                  <a:tcPr marL="121920" marR="121920" marT="60960" marB="60960" anchor="ctr" horzOverflow="overflow"/>
                </a:tc>
                <a:tc>
                  <a:txBody>
                    <a:bodyPr/>
                    <a:lstStyle/>
                    <a:p>
                      <a:pPr algn="l" defTabSz="457200">
                        <a:tabLst>
                          <a:tab pos="1663700" algn="l"/>
                        </a:tabLst>
                        <a:defRPr sz="1800"/>
                      </a:pPr>
                      <a:r>
                        <a:rPr sz="2600">
                          <a:latin typeface="Times New Roman"/>
                          <a:ea typeface="Times New Roman"/>
                          <a:cs typeface="Times New Roman"/>
                          <a:sym typeface="Times New Roman"/>
                        </a:rPr>
                        <a:t>Requires continuous wearable data; emotional analysis not included</a:t>
                      </a:r>
                    </a:p>
                  </a:txBody>
                  <a:tcPr marL="121920" marR="121920" marT="60960" marB="60960" anchor="ctr" horzOverflow="overflow"/>
                </a:tc>
                <a:extLst>
                  <a:ext uri="{0D108BD9-81ED-4DB2-BD59-A6C34878D82A}">
                    <a16:rowId xmlns:a16="http://schemas.microsoft.com/office/drawing/2014/main" val="10002"/>
                  </a:ext>
                </a:extLst>
              </a:tr>
              <a:tr h="1404613">
                <a:tc>
                  <a:txBody>
                    <a:bodyPr/>
                    <a:lstStyle/>
                    <a:p>
                      <a:pPr defTabSz="457200">
                        <a:tabLst>
                          <a:tab pos="1663700" algn="l"/>
                        </a:tabLst>
                        <a:defRPr sz="1800"/>
                      </a:pPr>
                      <a:r>
                        <a:rPr sz="2600">
                          <a:latin typeface="Times New Roman"/>
                          <a:ea typeface="Times New Roman"/>
                          <a:cs typeface="Times New Roman"/>
                          <a:sym typeface="Times New Roman"/>
                        </a:rPr>
                        <a:t>3</a:t>
                      </a:r>
                    </a:p>
                  </a:txBody>
                  <a:tcPr marL="121920" marR="121920" marT="60960" marB="60960" anchor="ctr" horzOverflow="overflow"/>
                </a:tc>
                <a:tc>
                  <a:txBody>
                    <a:bodyPr/>
                    <a:lstStyle/>
                    <a:p>
                      <a:pPr algn="l" defTabSz="457200">
                        <a:tabLst>
                          <a:tab pos="1663700" algn="l"/>
                        </a:tabLst>
                        <a:defRPr sz="2600" i="1">
                          <a:latin typeface="Times New Roman"/>
                          <a:ea typeface="Times New Roman"/>
                          <a:cs typeface="Times New Roman"/>
                          <a:sym typeface="Times New Roman"/>
                        </a:defRPr>
                      </a:pPr>
                      <a:r>
                        <a:rPr b="1" i="0"/>
                        <a:t>Emotion Recognition Using Multimodal AI</a:t>
                      </a:r>
                      <a:r>
                        <a:rPr i="0"/>
                        <a:t> – </a:t>
                      </a:r>
                      <a:r>
                        <a:t>Patel et al., 2022, IEEE Transactions on Affective Computing</a:t>
                      </a:r>
                    </a:p>
                  </a:txBody>
                  <a:tcPr marL="121920" marR="121920" marT="60960" marB="60960" anchor="ctr" horzOverflow="overflow"/>
                </a:tc>
                <a:tc>
                  <a:txBody>
                    <a:bodyPr/>
                    <a:lstStyle/>
                    <a:p>
                      <a:pPr algn="l" defTabSz="457200">
                        <a:tabLst>
                          <a:tab pos="1663700" algn="l"/>
                        </a:tabLst>
                        <a:defRPr sz="1800"/>
                      </a:pPr>
                      <a:r>
                        <a:rPr sz="2600">
                          <a:latin typeface="Times New Roman"/>
                          <a:ea typeface="Times New Roman"/>
                          <a:cs typeface="Times New Roman"/>
                          <a:sym typeface="Times New Roman"/>
                        </a:rPr>
                        <a:t>Used CNN and SVM on facial and speech data to classify emotional states with high accuracy</a:t>
                      </a:r>
                    </a:p>
                  </a:txBody>
                  <a:tcPr marL="121920" marR="121920" marT="60960" marB="60960" anchor="ctr" horzOverflow="overflow"/>
                </a:tc>
                <a:tc>
                  <a:txBody>
                    <a:bodyPr/>
                    <a:lstStyle/>
                    <a:p>
                      <a:pPr algn="l" defTabSz="457200">
                        <a:tabLst>
                          <a:tab pos="1663700" algn="l"/>
                        </a:tabLst>
                        <a:defRPr sz="1800"/>
                      </a:pPr>
                      <a:r>
                        <a:rPr sz="2600">
                          <a:latin typeface="Times New Roman"/>
                          <a:ea typeface="Times New Roman"/>
                          <a:cs typeface="Times New Roman"/>
                          <a:sym typeface="Times New Roman"/>
                        </a:rPr>
                        <a:t>Sensitive to environmental noise; lacks hormonal correlation</a:t>
                      </a:r>
                    </a:p>
                  </a:txBody>
                  <a:tcPr marL="121920" marR="121920" marT="60960" marB="60960" anchor="ctr" horzOverflow="overflow"/>
                </a:tc>
                <a:extLst>
                  <a:ext uri="{0D108BD9-81ED-4DB2-BD59-A6C34878D82A}">
                    <a16:rowId xmlns:a16="http://schemas.microsoft.com/office/drawing/2014/main" val="10003"/>
                  </a:ext>
                </a:extLst>
              </a:tr>
              <a:tr h="1404613">
                <a:tc>
                  <a:txBody>
                    <a:bodyPr/>
                    <a:lstStyle/>
                    <a:p>
                      <a:pPr defTabSz="457200">
                        <a:tabLst>
                          <a:tab pos="1663700" algn="l"/>
                        </a:tabLst>
                        <a:defRPr sz="1800"/>
                      </a:pPr>
                      <a:r>
                        <a:rPr sz="2600">
                          <a:latin typeface="Times New Roman"/>
                          <a:ea typeface="Times New Roman"/>
                          <a:cs typeface="Times New Roman"/>
                          <a:sym typeface="Times New Roman"/>
                        </a:rPr>
                        <a:t>4</a:t>
                      </a:r>
                    </a:p>
                  </a:txBody>
                  <a:tcPr marL="121920" marR="121920" marT="60960" marB="60960" anchor="ctr" horzOverflow="overflow"/>
                </a:tc>
                <a:tc>
                  <a:txBody>
                    <a:bodyPr/>
                    <a:lstStyle/>
                    <a:p>
                      <a:pPr algn="l" defTabSz="457200">
                        <a:tabLst>
                          <a:tab pos="1663700" algn="l"/>
                        </a:tabLst>
                        <a:defRPr sz="2600" b="1">
                          <a:latin typeface="Times New Roman"/>
                          <a:ea typeface="Times New Roman"/>
                          <a:cs typeface="Times New Roman"/>
                          <a:sym typeface="Times New Roman"/>
                        </a:defRPr>
                      </a:pPr>
                      <a:r>
                        <a:t>Smart Health Monitoring via Wearable Devices</a:t>
                      </a:r>
                      <a:r>
                        <a:rPr b="0"/>
                        <a:t> – </a:t>
                      </a:r>
                      <a:r>
                        <a:rPr b="0" i="1"/>
                        <a:t>Ahmed et al., 2023, Nature Digital Medicine</a:t>
                      </a:r>
                    </a:p>
                  </a:txBody>
                  <a:tcPr marL="121920" marR="121920" marT="60960" marB="60960" anchor="ctr" horzOverflow="overflow"/>
                </a:tc>
                <a:tc>
                  <a:txBody>
                    <a:bodyPr/>
                    <a:lstStyle/>
                    <a:p>
                      <a:pPr algn="l" defTabSz="457200">
                        <a:tabLst>
                          <a:tab pos="1663700" algn="l"/>
                        </a:tabLst>
                        <a:defRPr sz="1800"/>
                      </a:pPr>
                      <a:r>
                        <a:rPr sz="2600">
                          <a:latin typeface="Times New Roman"/>
                          <a:ea typeface="Times New Roman"/>
                          <a:cs typeface="Times New Roman"/>
                          <a:sym typeface="Times New Roman"/>
                        </a:rPr>
                        <a:t>Integrated IoT and Random Forest models to provide personalized physiological health insights</a:t>
                      </a:r>
                    </a:p>
                  </a:txBody>
                  <a:tcPr marL="121920" marR="121920" marT="60960" marB="60960" anchor="ctr" horzOverflow="overflow"/>
                </a:tc>
                <a:tc>
                  <a:txBody>
                    <a:bodyPr/>
                    <a:lstStyle/>
                    <a:p>
                      <a:pPr algn="l" defTabSz="457200">
                        <a:tabLst>
                          <a:tab pos="1663700" algn="l"/>
                        </a:tabLst>
                        <a:defRPr sz="1800"/>
                      </a:pPr>
                      <a:r>
                        <a:rPr sz="2600">
                          <a:latin typeface="Times New Roman"/>
                          <a:ea typeface="Times New Roman"/>
                          <a:cs typeface="Times New Roman"/>
                          <a:sym typeface="Times New Roman"/>
                        </a:rPr>
                        <a:t>No emotional or psychological analysis</a:t>
                      </a:r>
                    </a:p>
                  </a:txBody>
                  <a:tcPr marL="121920" marR="121920" marT="60960" marB="60960" anchor="ctr" horzOverflow="overflow"/>
                </a:tc>
                <a:extLst>
                  <a:ext uri="{0D108BD9-81ED-4DB2-BD59-A6C34878D82A}">
                    <a16:rowId xmlns:a16="http://schemas.microsoft.com/office/drawing/2014/main" val="10004"/>
                  </a:ext>
                </a:extLst>
              </a:tr>
              <a:tr h="1404613">
                <a:tc>
                  <a:txBody>
                    <a:bodyPr/>
                    <a:lstStyle/>
                    <a:p>
                      <a:pPr defTabSz="457200">
                        <a:tabLst>
                          <a:tab pos="1663700" algn="l"/>
                        </a:tabLst>
                        <a:defRPr sz="1800"/>
                      </a:pPr>
                      <a:r>
                        <a:rPr sz="2600">
                          <a:latin typeface="Times New Roman"/>
                          <a:ea typeface="Times New Roman"/>
                          <a:cs typeface="Times New Roman"/>
                          <a:sym typeface="Times New Roman"/>
                        </a:rPr>
                        <a:t>5</a:t>
                      </a:r>
                    </a:p>
                  </a:txBody>
                  <a:tcPr marL="121920" marR="121920" marT="60960" marB="60960" anchor="ctr" horzOverflow="overflow"/>
                </a:tc>
                <a:tc>
                  <a:txBody>
                    <a:bodyPr/>
                    <a:lstStyle/>
                    <a:p>
                      <a:pPr algn="l" defTabSz="457200">
                        <a:tabLst>
                          <a:tab pos="1663700" algn="l"/>
                        </a:tabLst>
                        <a:defRPr sz="2600" b="1">
                          <a:latin typeface="Times New Roman"/>
                          <a:ea typeface="Times New Roman"/>
                          <a:cs typeface="Times New Roman"/>
                          <a:sym typeface="Times New Roman"/>
                        </a:defRPr>
                      </a:pPr>
                      <a:r>
                        <a:t>Wearable-Based Stress Detection System</a:t>
                      </a:r>
                      <a:r>
                        <a:rPr b="0"/>
                        <a:t> – </a:t>
                      </a:r>
                      <a:r>
                        <a:rPr b="0" i="1"/>
                        <a:t>Kim et al., 2021, Sensors Journal</a:t>
                      </a:r>
                    </a:p>
                  </a:txBody>
                  <a:tcPr marL="121920" marR="121920" marT="60960" marB="60960" anchor="ctr" horzOverflow="overflow"/>
                </a:tc>
                <a:tc>
                  <a:txBody>
                    <a:bodyPr/>
                    <a:lstStyle/>
                    <a:p>
                      <a:pPr algn="l" defTabSz="457200">
                        <a:tabLst>
                          <a:tab pos="1663700" algn="l"/>
                        </a:tabLst>
                        <a:defRPr sz="1800"/>
                      </a:pPr>
                      <a:r>
                        <a:rPr sz="2600">
                          <a:latin typeface="Times New Roman"/>
                          <a:ea typeface="Times New Roman"/>
                          <a:cs typeface="Times New Roman"/>
                          <a:sym typeface="Times New Roman"/>
                        </a:rPr>
                        <a:t>Used SVM on physiological sensor data to detect stress levels</a:t>
                      </a:r>
                    </a:p>
                  </a:txBody>
                  <a:tcPr marL="121920" marR="121920" marT="60960" marB="60960" anchor="ctr" horzOverflow="overflow"/>
                </a:tc>
                <a:tc>
                  <a:txBody>
                    <a:bodyPr/>
                    <a:lstStyle/>
                    <a:p>
                      <a:pPr algn="l" defTabSz="457200">
                        <a:tabLst>
                          <a:tab pos="1663700" algn="l"/>
                        </a:tabLst>
                        <a:defRPr sz="1800"/>
                      </a:pPr>
                      <a:r>
                        <a:rPr sz="2600">
                          <a:latin typeface="Times New Roman"/>
                          <a:ea typeface="Times New Roman"/>
                          <a:cs typeface="Times New Roman"/>
                          <a:sym typeface="Times New Roman"/>
                        </a:rPr>
                        <a:t>Limited to short-term stress detection</a:t>
                      </a:r>
                    </a:p>
                  </a:txBody>
                  <a:tcPr marL="121920" marR="121920" marT="60960" marB="60960" anchor="ctr" horzOverflow="overflow"/>
                </a:tc>
                <a:extLst>
                  <a:ext uri="{0D108BD9-81ED-4DB2-BD59-A6C34878D82A}">
                    <a16:rowId xmlns:a16="http://schemas.microsoft.com/office/drawing/2014/main" val="10005"/>
                  </a:ext>
                </a:extLst>
              </a:tr>
              <a:tr h="1404613">
                <a:tc>
                  <a:txBody>
                    <a:bodyPr/>
                    <a:lstStyle/>
                    <a:p>
                      <a:pPr defTabSz="457200">
                        <a:tabLst>
                          <a:tab pos="1663700" algn="l"/>
                        </a:tabLst>
                        <a:defRPr sz="1800"/>
                      </a:pPr>
                      <a:r>
                        <a:rPr sz="2600">
                          <a:latin typeface="Times New Roman"/>
                          <a:ea typeface="Times New Roman"/>
                          <a:cs typeface="Times New Roman"/>
                          <a:sym typeface="Times New Roman"/>
                        </a:rPr>
                        <a:t>6</a:t>
                      </a:r>
                    </a:p>
                  </a:txBody>
                  <a:tcPr marL="121920" marR="121920" marT="60960" marB="60960" anchor="ctr" horzOverflow="overflow"/>
                </a:tc>
                <a:tc>
                  <a:txBody>
                    <a:bodyPr/>
                    <a:lstStyle/>
                    <a:p>
                      <a:pPr algn="l" defTabSz="457200">
                        <a:tabLst>
                          <a:tab pos="1663700" algn="l"/>
                        </a:tabLst>
                        <a:defRPr sz="2600" b="1">
                          <a:latin typeface="Times New Roman"/>
                          <a:ea typeface="Times New Roman"/>
                          <a:cs typeface="Times New Roman"/>
                          <a:sym typeface="Times New Roman"/>
                        </a:defRPr>
                      </a:pPr>
                      <a:r>
                        <a:t>Behavioral Analytics for Mental Health Monitoring</a:t>
                      </a:r>
                      <a:r>
                        <a:rPr b="0"/>
                        <a:t> – </a:t>
                      </a:r>
                      <a:r>
                        <a:rPr b="0" i="1"/>
                        <a:t>Sharma et al., 2022, ACM Digital Health</a:t>
                      </a:r>
                    </a:p>
                  </a:txBody>
                  <a:tcPr marL="121920" marR="121920" marT="60960" marB="60960" anchor="ctr" horzOverflow="overflow"/>
                </a:tc>
                <a:tc>
                  <a:txBody>
                    <a:bodyPr/>
                    <a:lstStyle/>
                    <a:p>
                      <a:pPr algn="l" defTabSz="457200">
                        <a:tabLst>
                          <a:tab pos="1663700" algn="l"/>
                        </a:tabLst>
                        <a:defRPr sz="1800"/>
                      </a:pPr>
                      <a:r>
                        <a:rPr sz="2600">
                          <a:latin typeface="Times New Roman"/>
                          <a:ea typeface="Times New Roman"/>
                          <a:cs typeface="Times New Roman"/>
                          <a:sym typeface="Times New Roman"/>
                        </a:rPr>
                        <a:t>Employed clustering techniques to identify behavioural trends</a:t>
                      </a:r>
                    </a:p>
                  </a:txBody>
                  <a:tcPr marL="121920" marR="121920" marT="60960" marB="60960" anchor="ctr" horzOverflow="overflow"/>
                </a:tc>
                <a:tc>
                  <a:txBody>
                    <a:bodyPr/>
                    <a:lstStyle/>
                    <a:p>
                      <a:pPr algn="l" defTabSz="457200">
                        <a:tabLst>
                          <a:tab pos="1663700" algn="l"/>
                        </a:tabLst>
                        <a:defRPr sz="1800"/>
                      </a:pPr>
                      <a:r>
                        <a:rPr sz="2600">
                          <a:latin typeface="Times New Roman"/>
                          <a:ea typeface="Times New Roman"/>
                          <a:cs typeface="Times New Roman"/>
                          <a:sym typeface="Times New Roman"/>
                        </a:rPr>
                        <a:t>No hormonal or biological factor integration</a:t>
                      </a:r>
                    </a:p>
                  </a:txBody>
                  <a:tcPr marL="121920" marR="121920" marT="60960" marB="60960" anchor="ctr" horzOverflow="overflow"/>
                </a:tc>
                <a:extLst>
                  <a:ext uri="{0D108BD9-81ED-4DB2-BD59-A6C34878D82A}">
                    <a16:rowId xmlns:a16="http://schemas.microsoft.com/office/drawing/2014/main" val="10006"/>
                  </a:ext>
                </a:extLst>
              </a:tr>
            </a:tbl>
          </a:graphicData>
        </a:graphic>
      </p:graphicFrame>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94" name="Table 1"/>
          <p:cNvGraphicFramePr/>
          <p:nvPr/>
        </p:nvGraphicFramePr>
        <p:xfrm>
          <a:off x="1000234" y="1515046"/>
          <a:ext cx="22383530" cy="11694439"/>
        </p:xfrm>
        <a:graphic>
          <a:graphicData uri="http://schemas.openxmlformats.org/drawingml/2006/table">
            <a:tbl>
              <a:tblPr>
                <a:tableStyleId>{4C3C2611-4C71-4FC5-86AE-919BDF0F9419}</a:tableStyleId>
              </a:tblPr>
              <a:tblGrid>
                <a:gridCol w="1842281">
                  <a:extLst>
                    <a:ext uri="{9D8B030D-6E8A-4147-A177-3AD203B41FA5}">
                      <a16:colId xmlns:a16="http://schemas.microsoft.com/office/drawing/2014/main" val="20000"/>
                    </a:ext>
                  </a:extLst>
                </a:gridCol>
                <a:gridCol w="7509543">
                  <a:extLst>
                    <a:ext uri="{9D8B030D-6E8A-4147-A177-3AD203B41FA5}">
                      <a16:colId xmlns:a16="http://schemas.microsoft.com/office/drawing/2014/main" val="20001"/>
                    </a:ext>
                  </a:extLst>
                </a:gridCol>
                <a:gridCol w="7401889">
                  <a:extLst>
                    <a:ext uri="{9D8B030D-6E8A-4147-A177-3AD203B41FA5}">
                      <a16:colId xmlns:a16="http://schemas.microsoft.com/office/drawing/2014/main" val="20002"/>
                    </a:ext>
                  </a:extLst>
                </a:gridCol>
                <a:gridCol w="5629817">
                  <a:extLst>
                    <a:ext uri="{9D8B030D-6E8A-4147-A177-3AD203B41FA5}">
                      <a16:colId xmlns:a16="http://schemas.microsoft.com/office/drawing/2014/main" val="20003"/>
                    </a:ext>
                  </a:extLst>
                </a:gridCol>
              </a:tblGrid>
              <a:tr h="1586922">
                <a:tc>
                  <a:txBody>
                    <a:bodyPr/>
                    <a:lstStyle/>
                    <a:p>
                      <a:pPr marL="109220" algn="l" defTabSz="457200">
                        <a:lnSpc>
                          <a:spcPts val="5600"/>
                        </a:lnSpc>
                        <a:spcBef>
                          <a:spcPts val="1000"/>
                        </a:spcBef>
                        <a:tabLst>
                          <a:tab pos="1663700" algn="l"/>
                        </a:tabLst>
                        <a:defRPr sz="1800"/>
                      </a:pPr>
                      <a:r>
                        <a:rPr sz="2600" b="1">
                          <a:latin typeface="Times Roman"/>
                          <a:ea typeface="Times Roman"/>
                          <a:cs typeface="Times Roman"/>
                          <a:sym typeface="Times Roman"/>
                        </a:rPr>
                        <a:t>S. No</a:t>
                      </a:r>
                    </a:p>
                  </a:txBody>
                  <a:tcPr marT="12700" marB="0" horzOverflow="overflow"/>
                </a:tc>
                <a:tc>
                  <a:txBody>
                    <a:bodyPr/>
                    <a:lstStyle/>
                    <a:p>
                      <a:pPr marL="109220" defTabSz="457200">
                        <a:lnSpc>
                          <a:spcPts val="5600"/>
                        </a:lnSpc>
                        <a:spcBef>
                          <a:spcPts val="1000"/>
                        </a:spcBef>
                        <a:tabLst>
                          <a:tab pos="1663700" algn="l"/>
                        </a:tabLst>
                        <a:defRPr sz="2600" b="1">
                          <a:latin typeface="Times Roman"/>
                          <a:ea typeface="Times Roman"/>
                          <a:cs typeface="Times Roman"/>
                          <a:sym typeface="Times Roman"/>
                        </a:defRPr>
                      </a:pPr>
                      <a:r>
                        <a:t>Title</a:t>
                      </a:r>
                      <a:endParaRPr b="0">
                        <a:solidFill>
                          <a:srgbClr val="000000">
                            <a:alpha val="84706"/>
                          </a:srgbClr>
                        </a:solidFill>
                        <a:latin typeface="Arial"/>
                        <a:ea typeface="Arial"/>
                        <a:cs typeface="Arial"/>
                        <a:sym typeface="Arial"/>
                      </a:endParaRPr>
                    </a:p>
                    <a:p>
                      <a:pPr marL="109220" defTabSz="457200">
                        <a:lnSpc>
                          <a:spcPts val="5600"/>
                        </a:lnSpc>
                        <a:spcBef>
                          <a:spcPts val="1000"/>
                        </a:spcBef>
                        <a:tabLst>
                          <a:tab pos="1663700" algn="l"/>
                        </a:tabLst>
                        <a:defRPr sz="2600" i="1">
                          <a:latin typeface="Times Roman"/>
                          <a:ea typeface="Times Roman"/>
                          <a:cs typeface="Times Roman"/>
                          <a:sym typeface="Times Roman"/>
                        </a:defRPr>
                      </a:pPr>
                      <a:r>
                        <a:t>(Name of the journal, author and publication details)</a:t>
                      </a:r>
                    </a:p>
                  </a:txBody>
                  <a:tcPr marT="12700" marB="0" horzOverflow="overflow"/>
                </a:tc>
                <a:tc>
                  <a:txBody>
                    <a:bodyPr/>
                    <a:lstStyle/>
                    <a:p>
                      <a:pPr marL="109220" defTabSz="457200">
                        <a:lnSpc>
                          <a:spcPts val="5600"/>
                        </a:lnSpc>
                        <a:spcBef>
                          <a:spcPts val="1000"/>
                        </a:spcBef>
                        <a:tabLst>
                          <a:tab pos="1663700" algn="l"/>
                        </a:tabLst>
                        <a:defRPr sz="2600" b="1">
                          <a:latin typeface="Times Roman"/>
                          <a:ea typeface="Times Roman"/>
                          <a:cs typeface="Times Roman"/>
                          <a:sym typeface="Times Roman"/>
                        </a:defRPr>
                      </a:pPr>
                      <a:r>
                        <a:t>Methodology</a:t>
                      </a:r>
                      <a:endParaRPr b="0">
                        <a:solidFill>
                          <a:srgbClr val="000000">
                            <a:alpha val="84706"/>
                          </a:srgbClr>
                        </a:solidFill>
                        <a:latin typeface="Arial"/>
                        <a:ea typeface="Arial"/>
                        <a:cs typeface="Arial"/>
                        <a:sym typeface="Arial"/>
                      </a:endParaRPr>
                    </a:p>
                    <a:p>
                      <a:pPr marL="109220" defTabSz="457200">
                        <a:lnSpc>
                          <a:spcPts val="5600"/>
                        </a:lnSpc>
                        <a:spcBef>
                          <a:spcPts val="1000"/>
                        </a:spcBef>
                        <a:tabLst>
                          <a:tab pos="1663700" algn="l"/>
                        </a:tabLst>
                        <a:defRPr sz="2600" i="1">
                          <a:latin typeface="Times Roman"/>
                          <a:ea typeface="Times Roman"/>
                          <a:cs typeface="Times Roman"/>
                          <a:sym typeface="Times Roman"/>
                        </a:defRPr>
                      </a:pPr>
                      <a:r>
                        <a:t>(Provide a Summary of key studies and their findings)</a:t>
                      </a:r>
                    </a:p>
                  </a:txBody>
                  <a:tcPr marT="12700" marB="0" horzOverflow="overflow"/>
                </a:tc>
                <a:tc>
                  <a:txBody>
                    <a:bodyPr/>
                    <a:lstStyle/>
                    <a:p>
                      <a:pPr marL="109220" algn="l" defTabSz="457200">
                        <a:lnSpc>
                          <a:spcPts val="5600"/>
                        </a:lnSpc>
                        <a:spcBef>
                          <a:spcPts val="1000"/>
                        </a:spcBef>
                        <a:tabLst>
                          <a:tab pos="1663700" algn="l"/>
                        </a:tabLst>
                        <a:defRPr sz="2600" b="1">
                          <a:latin typeface="Times Roman"/>
                          <a:ea typeface="Times Roman"/>
                          <a:cs typeface="Times Roman"/>
                          <a:sym typeface="Times Roman"/>
                        </a:defRPr>
                      </a:pPr>
                      <a:r>
                        <a:t>Identification of gaps and limitations.</a:t>
                      </a:r>
                      <a:endParaRPr b="0">
                        <a:solidFill>
                          <a:srgbClr val="000000">
                            <a:alpha val="84706"/>
                          </a:srgbClr>
                        </a:solidFill>
                        <a:latin typeface="Arial"/>
                        <a:ea typeface="Arial"/>
                        <a:cs typeface="Arial"/>
                        <a:sym typeface="Arial"/>
                      </a:endParaRPr>
                    </a:p>
                    <a:p>
                      <a:pPr marL="109220" defTabSz="457200">
                        <a:lnSpc>
                          <a:spcPts val="5600"/>
                        </a:lnSpc>
                        <a:spcBef>
                          <a:spcPts val="1000"/>
                        </a:spcBef>
                        <a:tabLst>
                          <a:tab pos="1663700" algn="l"/>
                        </a:tabLst>
                        <a:defRPr sz="2600" i="1">
                          <a:latin typeface="Times Roman"/>
                          <a:ea typeface="Times Roman"/>
                          <a:cs typeface="Times Roman"/>
                          <a:sym typeface="Times Roman"/>
                        </a:defRPr>
                      </a:pPr>
                      <a:r>
                        <a:t>(Identify the limitations of the Research Paper)</a:t>
                      </a:r>
                    </a:p>
                  </a:txBody>
                  <a:tcPr marT="12700" marB="0" horzOverflow="overflow"/>
                </a:tc>
                <a:extLst>
                  <a:ext uri="{0D108BD9-81ED-4DB2-BD59-A6C34878D82A}">
                    <a16:rowId xmlns:a16="http://schemas.microsoft.com/office/drawing/2014/main" val="10000"/>
                  </a:ext>
                </a:extLst>
              </a:tr>
              <a:tr h="1586922">
                <a:tc>
                  <a:txBody>
                    <a:bodyPr/>
                    <a:lstStyle/>
                    <a:p>
                      <a:pPr defTabSz="457200">
                        <a:tabLst>
                          <a:tab pos="1663700" algn="l"/>
                        </a:tabLst>
                        <a:defRPr sz="1800"/>
                      </a:pPr>
                      <a:r>
                        <a:rPr sz="2600">
                          <a:latin typeface="Times Roman"/>
                          <a:ea typeface="Times Roman"/>
                          <a:cs typeface="Times Roman"/>
                          <a:sym typeface="Times Roman"/>
                        </a:rPr>
                        <a:t>7</a:t>
                      </a:r>
                    </a:p>
                  </a:txBody>
                  <a:tcPr marL="121920" marR="121920" marT="60960" marB="60960" anchor="ctr" horzOverflow="overflow"/>
                </a:tc>
                <a:tc>
                  <a:txBody>
                    <a:bodyPr/>
                    <a:lstStyle/>
                    <a:p>
                      <a:pPr algn="l" defTabSz="457200">
                        <a:tabLst>
                          <a:tab pos="1663700" algn="l"/>
                        </a:tabLst>
                        <a:defRPr sz="2600" b="1">
                          <a:latin typeface="Times Roman"/>
                          <a:ea typeface="Times Roman"/>
                          <a:cs typeface="Times Roman"/>
                          <a:sym typeface="Times Roman"/>
                        </a:defRPr>
                      </a:pPr>
                      <a:r>
                        <a:t>Digital Mental Health Interventions Using AI</a:t>
                      </a:r>
                      <a:r>
                        <a:rPr b="0"/>
                        <a:t> – </a:t>
                      </a:r>
                      <a:r>
                        <a:rPr b="0" i="1"/>
                        <a:t>Brown et al., 2023, JMIR</a:t>
                      </a:r>
                    </a:p>
                  </a:txBody>
                  <a:tcPr marL="121920" marR="121920" marT="60960" marB="60960" anchor="ctr" horzOverflow="overflow"/>
                </a:tc>
                <a:tc>
                  <a:txBody>
                    <a:bodyPr/>
                    <a:lstStyle/>
                    <a:p>
                      <a:pPr algn="l" defTabSz="457200">
                        <a:tabLst>
                          <a:tab pos="1663700" algn="l"/>
                        </a:tabLst>
                        <a:defRPr sz="1800"/>
                      </a:pPr>
                      <a:r>
                        <a:rPr sz="2600">
                          <a:latin typeface="Times Roman"/>
                          <a:ea typeface="Times Roman"/>
                          <a:cs typeface="Times Roman"/>
                          <a:sym typeface="Times Roman"/>
                        </a:rPr>
                        <a:t>Evaluated AI-driven mental health platforms for engagement and usability</a:t>
                      </a:r>
                    </a:p>
                  </a:txBody>
                  <a:tcPr marL="121920" marR="121920" marT="60960" marB="60960" anchor="ctr" horzOverflow="overflow"/>
                </a:tc>
                <a:tc>
                  <a:txBody>
                    <a:bodyPr/>
                    <a:lstStyle/>
                    <a:p>
                      <a:pPr algn="l" defTabSz="457200">
                        <a:tabLst>
                          <a:tab pos="1663700" algn="l"/>
                        </a:tabLst>
                        <a:defRPr sz="1800"/>
                      </a:pPr>
                      <a:r>
                        <a:rPr sz="2600">
                          <a:latin typeface="Times Roman"/>
                          <a:ea typeface="Times Roman"/>
                          <a:cs typeface="Times Roman"/>
                          <a:sym typeface="Times Roman"/>
                        </a:rPr>
                        <a:t>No predictive or analytical depth</a:t>
                      </a:r>
                    </a:p>
                  </a:txBody>
                  <a:tcPr marL="121920" marR="121920" marT="60960" marB="60960" anchor="ctr" horzOverflow="overflow"/>
                </a:tc>
                <a:extLst>
                  <a:ext uri="{0D108BD9-81ED-4DB2-BD59-A6C34878D82A}">
                    <a16:rowId xmlns:a16="http://schemas.microsoft.com/office/drawing/2014/main" val="10001"/>
                  </a:ext>
                </a:extLst>
              </a:tr>
              <a:tr h="1586922">
                <a:tc>
                  <a:txBody>
                    <a:bodyPr/>
                    <a:lstStyle/>
                    <a:p>
                      <a:pPr defTabSz="457200">
                        <a:tabLst>
                          <a:tab pos="1663700" algn="l"/>
                        </a:tabLst>
                        <a:defRPr sz="1800"/>
                      </a:pPr>
                      <a:r>
                        <a:rPr sz="2600">
                          <a:latin typeface="Times Roman"/>
                          <a:ea typeface="Times Roman"/>
                          <a:cs typeface="Times Roman"/>
                          <a:sym typeface="Times Roman"/>
                        </a:rPr>
                        <a:t>8</a:t>
                      </a:r>
                    </a:p>
                  </a:txBody>
                  <a:tcPr marL="121920" marR="121920" marT="60960" marB="60960" anchor="ctr" horzOverflow="overflow"/>
                </a:tc>
                <a:tc>
                  <a:txBody>
                    <a:bodyPr/>
                    <a:lstStyle/>
                    <a:p>
                      <a:pPr algn="l" defTabSz="457200">
                        <a:tabLst>
                          <a:tab pos="1663700" algn="l"/>
                        </a:tabLst>
                        <a:defRPr sz="2600" i="1">
                          <a:latin typeface="Times Roman"/>
                          <a:ea typeface="Times Roman"/>
                          <a:cs typeface="Times Roman"/>
                          <a:sym typeface="Times Roman"/>
                        </a:defRPr>
                      </a:pPr>
                      <a:r>
                        <a:rPr b="1" i="0"/>
                        <a:t>Hormonal Rhythm Modelling Using ML</a:t>
                      </a:r>
                      <a:r>
                        <a:rPr i="0"/>
                        <a:t> – </a:t>
                      </a:r>
                      <a:r>
                        <a:t>Li et al., 2020, IEEE Transactions on Biomedical Engineering</a:t>
                      </a:r>
                    </a:p>
                  </a:txBody>
                  <a:tcPr marL="121920" marR="121920" marT="60960" marB="60960" anchor="ctr" horzOverflow="overflow"/>
                </a:tc>
                <a:tc>
                  <a:txBody>
                    <a:bodyPr/>
                    <a:lstStyle/>
                    <a:p>
                      <a:pPr algn="l" defTabSz="457200">
                        <a:tabLst>
                          <a:tab pos="1663700" algn="l"/>
                        </a:tabLst>
                        <a:defRPr sz="1800"/>
                      </a:pPr>
                      <a:r>
                        <a:rPr sz="2600">
                          <a:latin typeface="Times Roman"/>
                          <a:ea typeface="Times Roman"/>
                          <a:cs typeface="Times Roman"/>
                          <a:sym typeface="Times Roman"/>
                        </a:rPr>
                        <a:t>Modelled biological rhythms using time-series ML techniques</a:t>
                      </a:r>
                    </a:p>
                  </a:txBody>
                  <a:tcPr marL="121920" marR="121920" marT="60960" marB="60960" anchor="ctr" horzOverflow="overflow"/>
                </a:tc>
                <a:tc>
                  <a:txBody>
                    <a:bodyPr/>
                    <a:lstStyle/>
                    <a:p>
                      <a:pPr algn="l" defTabSz="457200">
                        <a:tabLst>
                          <a:tab pos="1663700" algn="l"/>
                        </a:tabLst>
                        <a:defRPr sz="1800"/>
                      </a:pPr>
                      <a:r>
                        <a:rPr sz="2600">
                          <a:latin typeface="Times Roman"/>
                          <a:ea typeface="Times Roman"/>
                          <a:cs typeface="Times Roman"/>
                          <a:sym typeface="Times Roman"/>
                        </a:rPr>
                        <a:t>Does not analyse emotional effects</a:t>
                      </a:r>
                    </a:p>
                  </a:txBody>
                  <a:tcPr marL="121920" marR="121920" marT="60960" marB="60960" anchor="ctr" horzOverflow="overflow"/>
                </a:tc>
                <a:extLst>
                  <a:ext uri="{0D108BD9-81ED-4DB2-BD59-A6C34878D82A}">
                    <a16:rowId xmlns:a16="http://schemas.microsoft.com/office/drawing/2014/main" val="10002"/>
                  </a:ext>
                </a:extLst>
              </a:tr>
              <a:tr h="1586922">
                <a:tc>
                  <a:txBody>
                    <a:bodyPr/>
                    <a:lstStyle/>
                    <a:p>
                      <a:pPr defTabSz="457200">
                        <a:tabLst>
                          <a:tab pos="1663700" algn="l"/>
                        </a:tabLst>
                        <a:defRPr sz="1800"/>
                      </a:pPr>
                      <a:r>
                        <a:rPr sz="2600">
                          <a:latin typeface="Times Roman"/>
                          <a:ea typeface="Times Roman"/>
                          <a:cs typeface="Times Roman"/>
                          <a:sym typeface="Times Roman"/>
                        </a:rPr>
                        <a:t>9</a:t>
                      </a:r>
                    </a:p>
                  </a:txBody>
                  <a:tcPr marL="121920" marR="121920" marT="60960" marB="60960" anchor="ctr" horzOverflow="overflow"/>
                </a:tc>
                <a:tc>
                  <a:txBody>
                    <a:bodyPr/>
                    <a:lstStyle/>
                    <a:p>
                      <a:pPr algn="l" defTabSz="457200">
                        <a:tabLst>
                          <a:tab pos="1663700" algn="l"/>
                        </a:tabLst>
                        <a:defRPr sz="2600" b="1">
                          <a:latin typeface="Times Roman"/>
                          <a:ea typeface="Times Roman"/>
                          <a:cs typeface="Times Roman"/>
                          <a:sym typeface="Times Roman"/>
                        </a:defRPr>
                      </a:pPr>
                      <a:r>
                        <a:t>AI in Preventive Healthcare Systems</a:t>
                      </a:r>
                      <a:r>
                        <a:rPr b="0"/>
                        <a:t> – </a:t>
                      </a:r>
                      <a:r>
                        <a:rPr b="0" i="1"/>
                        <a:t>Fernandez et al., 2022, Elsevier</a:t>
                      </a:r>
                    </a:p>
                  </a:txBody>
                  <a:tcPr marL="121920" marR="121920" marT="60960" marB="60960" anchor="ctr" horzOverflow="overflow"/>
                </a:tc>
                <a:tc>
                  <a:txBody>
                    <a:bodyPr/>
                    <a:lstStyle/>
                    <a:p>
                      <a:pPr algn="l" defTabSz="457200">
                        <a:tabLst>
                          <a:tab pos="1663700" algn="l"/>
                        </a:tabLst>
                        <a:defRPr sz="1800"/>
                      </a:pPr>
                      <a:r>
                        <a:rPr sz="2600">
                          <a:latin typeface="Times Roman"/>
                          <a:ea typeface="Times Roman"/>
                          <a:cs typeface="Times Roman"/>
                          <a:sym typeface="Times Roman"/>
                        </a:rPr>
                        <a:t>Used predictive analytics to support early healthcare intervention</a:t>
                      </a:r>
                    </a:p>
                  </a:txBody>
                  <a:tcPr marL="121920" marR="121920" marT="60960" marB="60960" anchor="ctr" horzOverflow="overflow"/>
                </a:tc>
                <a:tc>
                  <a:txBody>
                    <a:bodyPr/>
                    <a:lstStyle/>
                    <a:p>
                      <a:pPr algn="l" defTabSz="457200">
                        <a:tabLst>
                          <a:tab pos="1663700" algn="l"/>
                        </a:tabLst>
                        <a:defRPr sz="1800"/>
                      </a:pPr>
                      <a:r>
                        <a:rPr sz="2600">
                          <a:latin typeface="Times Roman"/>
                          <a:ea typeface="Times Roman"/>
                          <a:cs typeface="Times Roman"/>
                          <a:sym typeface="Times Roman"/>
                        </a:rPr>
                        <a:t>Generic healthcare focus</a:t>
                      </a:r>
                    </a:p>
                  </a:txBody>
                  <a:tcPr marL="121920" marR="121920" marT="60960" marB="60960" anchor="ctr" horzOverflow="overflow"/>
                </a:tc>
                <a:extLst>
                  <a:ext uri="{0D108BD9-81ED-4DB2-BD59-A6C34878D82A}">
                    <a16:rowId xmlns:a16="http://schemas.microsoft.com/office/drawing/2014/main" val="10003"/>
                  </a:ext>
                </a:extLst>
              </a:tr>
              <a:tr h="1586922">
                <a:tc>
                  <a:txBody>
                    <a:bodyPr/>
                    <a:lstStyle/>
                    <a:p>
                      <a:pPr defTabSz="457200">
                        <a:tabLst>
                          <a:tab pos="1663700" algn="l"/>
                        </a:tabLst>
                        <a:defRPr sz="1800"/>
                      </a:pPr>
                      <a:r>
                        <a:rPr sz="2600">
                          <a:latin typeface="Times Roman"/>
                          <a:ea typeface="Times Roman"/>
                          <a:cs typeface="Times Roman"/>
                          <a:sym typeface="Times Roman"/>
                        </a:rPr>
                        <a:t>10</a:t>
                      </a:r>
                    </a:p>
                  </a:txBody>
                  <a:tcPr marL="121920" marR="121920" marT="60960" marB="60960" anchor="ctr" horzOverflow="overflow"/>
                </a:tc>
                <a:tc>
                  <a:txBody>
                    <a:bodyPr/>
                    <a:lstStyle/>
                    <a:p>
                      <a:pPr algn="l" defTabSz="457200">
                        <a:tabLst>
                          <a:tab pos="1663700" algn="l"/>
                        </a:tabLst>
                        <a:defRPr sz="2600" b="1">
                          <a:latin typeface="Times Roman"/>
                          <a:ea typeface="Times Roman"/>
                          <a:cs typeface="Times Roman"/>
                          <a:sym typeface="Times Roman"/>
                        </a:defRPr>
                      </a:pPr>
                      <a:r>
                        <a:t>Explainable AI for Healthcare Applications</a:t>
                      </a:r>
                      <a:r>
                        <a:rPr b="0"/>
                        <a:t> – </a:t>
                      </a:r>
                      <a:r>
                        <a:rPr b="0" i="1"/>
                        <a:t>Mehta et al., 2023, Springer AI Review</a:t>
                      </a:r>
                    </a:p>
                  </a:txBody>
                  <a:tcPr marL="121920" marR="121920" marT="60960" marB="60960" anchor="ctr" horzOverflow="overflow"/>
                </a:tc>
                <a:tc>
                  <a:txBody>
                    <a:bodyPr/>
                    <a:lstStyle/>
                    <a:p>
                      <a:pPr algn="l" defTabSz="457200">
                        <a:tabLst>
                          <a:tab pos="1663700" algn="l"/>
                        </a:tabLst>
                        <a:defRPr sz="1800"/>
                      </a:pPr>
                      <a:r>
                        <a:rPr sz="2600">
                          <a:latin typeface="Times Roman"/>
                          <a:ea typeface="Times Roman"/>
                          <a:cs typeface="Times Roman"/>
                          <a:sym typeface="Times Roman"/>
                        </a:rPr>
                        <a:t>Applied SHAP and LIME for model interpretability in healthcare</a:t>
                      </a:r>
                    </a:p>
                  </a:txBody>
                  <a:tcPr marL="121920" marR="121920" marT="60960" marB="60960" anchor="ctr" horzOverflow="overflow"/>
                </a:tc>
                <a:tc>
                  <a:txBody>
                    <a:bodyPr/>
                    <a:lstStyle/>
                    <a:p>
                      <a:pPr algn="l" defTabSz="457200">
                        <a:tabLst>
                          <a:tab pos="1663700" algn="l"/>
                        </a:tabLst>
                        <a:defRPr sz="1800"/>
                      </a:pPr>
                      <a:r>
                        <a:rPr sz="2600">
                          <a:latin typeface="Times Roman"/>
                          <a:ea typeface="Times Roman"/>
                          <a:cs typeface="Times Roman"/>
                          <a:sym typeface="Times Roman"/>
                        </a:rPr>
                        <a:t>Computational complexity</a:t>
                      </a:r>
                    </a:p>
                  </a:txBody>
                  <a:tcPr marL="121920" marR="121920" marT="60960" marB="60960" anchor="ctr" horzOverflow="overflow"/>
                </a:tc>
                <a:extLst>
                  <a:ext uri="{0D108BD9-81ED-4DB2-BD59-A6C34878D82A}">
                    <a16:rowId xmlns:a16="http://schemas.microsoft.com/office/drawing/2014/main" val="10004"/>
                  </a:ext>
                </a:extLst>
              </a:tr>
              <a:tr h="1586922">
                <a:tc>
                  <a:txBody>
                    <a:bodyPr/>
                    <a:lstStyle/>
                    <a:p>
                      <a:pPr defTabSz="457200">
                        <a:tabLst>
                          <a:tab pos="1663700" algn="l"/>
                        </a:tabLst>
                        <a:defRPr sz="1800"/>
                      </a:pPr>
                      <a:r>
                        <a:rPr sz="2600">
                          <a:latin typeface="Times Roman"/>
                          <a:ea typeface="Times Roman"/>
                          <a:cs typeface="Times Roman"/>
                          <a:sym typeface="Times Roman"/>
                        </a:rPr>
                        <a:t>11</a:t>
                      </a:r>
                    </a:p>
                  </a:txBody>
                  <a:tcPr marL="121920" marR="121920" marT="60960" marB="60960" anchor="ctr" horzOverflow="overflow"/>
                </a:tc>
                <a:tc>
                  <a:txBody>
                    <a:bodyPr/>
                    <a:lstStyle/>
                    <a:p>
                      <a:pPr algn="l" defTabSz="457200">
                        <a:tabLst>
                          <a:tab pos="1663700" algn="l"/>
                        </a:tabLst>
                        <a:defRPr sz="2600" b="1">
                          <a:latin typeface="Times Roman"/>
                          <a:ea typeface="Times Roman"/>
                          <a:cs typeface="Times Roman"/>
                          <a:sym typeface="Times Roman"/>
                        </a:defRPr>
                      </a:pPr>
                      <a:r>
                        <a:t>NLP-Based Sentiment Analysis for Mental Health</a:t>
                      </a:r>
                      <a:r>
                        <a:rPr b="0"/>
                        <a:t> – </a:t>
                      </a:r>
                      <a:r>
                        <a:rPr b="0" i="1"/>
                        <a:t>Singh et al., 2024, IJCA</a:t>
                      </a:r>
                    </a:p>
                  </a:txBody>
                  <a:tcPr marL="121920" marR="121920" marT="60960" marB="60960" anchor="ctr" horzOverflow="overflow"/>
                </a:tc>
                <a:tc>
                  <a:txBody>
                    <a:bodyPr/>
                    <a:lstStyle/>
                    <a:p>
                      <a:pPr algn="l" defTabSz="457200">
                        <a:tabLst>
                          <a:tab pos="1663700" algn="l"/>
                        </a:tabLst>
                        <a:defRPr sz="1800"/>
                      </a:pPr>
                      <a:r>
                        <a:rPr sz="2600">
                          <a:latin typeface="Times Roman"/>
                          <a:ea typeface="Times Roman"/>
                          <a:cs typeface="Times Roman"/>
                          <a:sym typeface="Times Roman"/>
                        </a:rPr>
                        <a:t>Applied BERT for sentiment classification</a:t>
                      </a:r>
                    </a:p>
                  </a:txBody>
                  <a:tcPr marL="121920" marR="121920" marT="60960" marB="60960" anchor="ctr" horzOverflow="overflow"/>
                </a:tc>
                <a:tc>
                  <a:txBody>
                    <a:bodyPr/>
                    <a:lstStyle/>
                    <a:p>
                      <a:pPr algn="l" defTabSz="457200">
                        <a:tabLst>
                          <a:tab pos="1663700" algn="l"/>
                        </a:tabLst>
                        <a:defRPr sz="1800"/>
                      </a:pPr>
                      <a:r>
                        <a:rPr sz="2600">
                          <a:latin typeface="Times Roman"/>
                          <a:ea typeface="Times Roman"/>
                          <a:cs typeface="Times Roman"/>
                          <a:sym typeface="Times Roman"/>
                        </a:rPr>
                        <a:t>Ignores hormonal factors</a:t>
                      </a:r>
                    </a:p>
                  </a:txBody>
                  <a:tcPr marL="121920" marR="121920" marT="60960" marB="60960" anchor="ctr" horzOverflow="overflow"/>
                </a:tc>
                <a:extLst>
                  <a:ext uri="{0D108BD9-81ED-4DB2-BD59-A6C34878D82A}">
                    <a16:rowId xmlns:a16="http://schemas.microsoft.com/office/drawing/2014/main" val="10005"/>
                  </a:ext>
                </a:extLst>
              </a:tr>
              <a:tr h="1586922">
                <a:tc>
                  <a:txBody>
                    <a:bodyPr/>
                    <a:lstStyle/>
                    <a:p>
                      <a:pPr defTabSz="457200">
                        <a:tabLst>
                          <a:tab pos="1663700" algn="l"/>
                        </a:tabLst>
                        <a:defRPr sz="1800"/>
                      </a:pPr>
                      <a:r>
                        <a:rPr sz="2600">
                          <a:latin typeface="Times Roman"/>
                          <a:ea typeface="Times Roman"/>
                          <a:cs typeface="Times Roman"/>
                          <a:sym typeface="Times Roman"/>
                        </a:rPr>
                        <a:t>12</a:t>
                      </a:r>
                    </a:p>
                  </a:txBody>
                  <a:tcPr marL="121920" marR="121920" marT="60960" marB="60960" anchor="ctr" horzOverflow="overflow"/>
                </a:tc>
                <a:tc>
                  <a:txBody>
                    <a:bodyPr/>
                    <a:lstStyle/>
                    <a:p>
                      <a:pPr algn="l" defTabSz="457200">
                        <a:tabLst>
                          <a:tab pos="1663700" algn="l"/>
                        </a:tabLst>
                        <a:defRPr sz="2600" b="1">
                          <a:latin typeface="Times Roman"/>
                          <a:ea typeface="Times Roman"/>
                          <a:cs typeface="Times Roman"/>
                          <a:sym typeface="Times Roman"/>
                        </a:defRPr>
                      </a:pPr>
                      <a:r>
                        <a:t>Mental Health Trend Analysis Using ML</a:t>
                      </a:r>
                      <a:r>
                        <a:rPr b="0"/>
                        <a:t> – </a:t>
                      </a:r>
                      <a:r>
                        <a:rPr b="0" i="1"/>
                        <a:t>Zhou et al., 2022, MDPI Healthcare</a:t>
                      </a:r>
                    </a:p>
                  </a:txBody>
                  <a:tcPr marL="121920" marR="121920" marT="60960" marB="60960" anchor="ctr" horzOverflow="overflow"/>
                </a:tc>
                <a:tc>
                  <a:txBody>
                    <a:bodyPr/>
                    <a:lstStyle/>
                    <a:p>
                      <a:pPr algn="l" defTabSz="457200">
                        <a:tabLst>
                          <a:tab pos="1663700" algn="l"/>
                        </a:tabLst>
                        <a:defRPr sz="1800"/>
                      </a:pPr>
                      <a:r>
                        <a:rPr sz="2600">
                          <a:latin typeface="Times Roman"/>
                          <a:ea typeface="Times Roman"/>
                          <a:cs typeface="Times Roman"/>
                          <a:sym typeface="Times Roman"/>
                        </a:rPr>
                        <a:t>Used ML and statistical analysis for long-term mood trends</a:t>
                      </a:r>
                    </a:p>
                  </a:txBody>
                  <a:tcPr marL="121920" marR="121920" marT="60960" marB="60960" anchor="ctr" horzOverflow="overflow"/>
                </a:tc>
                <a:tc>
                  <a:txBody>
                    <a:bodyPr/>
                    <a:lstStyle/>
                    <a:p>
                      <a:pPr algn="l" defTabSz="457200">
                        <a:tabLst>
                          <a:tab pos="1663700" algn="l"/>
                        </a:tabLst>
                        <a:defRPr sz="1800"/>
                      </a:pPr>
                      <a:r>
                        <a:rPr sz="2600">
                          <a:latin typeface="Times Roman"/>
                          <a:ea typeface="Times Roman"/>
                          <a:cs typeface="Times Roman"/>
                          <a:sym typeface="Times Roman"/>
                        </a:rPr>
                        <a:t>No personalization</a:t>
                      </a:r>
                    </a:p>
                  </a:txBody>
                  <a:tcPr marL="121920" marR="121920" marT="60960" marB="60960" anchor="ctr" horzOverflow="overflow"/>
                </a:tc>
                <a:extLst>
                  <a:ext uri="{0D108BD9-81ED-4DB2-BD59-A6C34878D82A}">
                    <a16:rowId xmlns:a16="http://schemas.microsoft.com/office/drawing/2014/main" val="10006"/>
                  </a:ext>
                </a:extLst>
              </a:tr>
            </a:tbl>
          </a:graphicData>
        </a:graphic>
      </p:graphicFrame>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 name="SDG Alignment"/>
          <p:cNvSpPr txBox="1">
            <a:spLocks noGrp="1"/>
          </p:cNvSpPr>
          <p:nvPr>
            <p:ph type="title"/>
          </p:nvPr>
        </p:nvSpPr>
        <p:spPr>
          <a:prstGeom prst="rect">
            <a:avLst/>
          </a:prstGeom>
        </p:spPr>
        <p:txBody>
          <a:bodyPr/>
          <a:lstStyle/>
          <a:p>
            <a:r>
              <a:t>SDG Alignment</a:t>
            </a:r>
          </a:p>
        </p:txBody>
      </p:sp>
      <p:sp>
        <p:nvSpPr>
          <p:cNvPr id="197" name="SDG 3 – Good Health and Well-Being…"/>
          <p:cNvSpPr txBox="1">
            <a:spLocks noGrp="1"/>
          </p:cNvSpPr>
          <p:nvPr>
            <p:ph type="body" idx="1"/>
          </p:nvPr>
        </p:nvSpPr>
        <p:spPr>
          <a:xfrm>
            <a:off x="1217711" y="3302174"/>
            <a:ext cx="21948578" cy="8483601"/>
          </a:xfrm>
          <a:prstGeom prst="rect">
            <a:avLst/>
          </a:prstGeom>
        </p:spPr>
        <p:txBody>
          <a:bodyPr/>
          <a:lstStyle/>
          <a:p>
            <a:pPr marL="0" indent="0" defTabSz="12700">
              <a:lnSpc>
                <a:spcPct val="135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400" b="1">
                <a:solidFill>
                  <a:srgbClr val="111111"/>
                </a:solidFill>
                <a:latin typeface="Times New Roman"/>
                <a:ea typeface="Times New Roman"/>
                <a:cs typeface="Times New Roman"/>
                <a:sym typeface="Times New Roman"/>
              </a:defRPr>
            </a:pPr>
            <a:r>
              <a:t>SDG 3 – Good Health and Well-Being</a:t>
            </a:r>
          </a:p>
          <a:p>
            <a:pPr marL="0" indent="0" defTabSz="12700">
              <a:lnSpc>
                <a:spcPct val="135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400">
                <a:solidFill>
                  <a:srgbClr val="111111"/>
                </a:solidFill>
                <a:latin typeface="Times New Roman"/>
                <a:ea typeface="Times New Roman"/>
                <a:cs typeface="Times New Roman"/>
                <a:sym typeface="Times New Roman"/>
              </a:defRPr>
            </a:pPr>
            <a:r>
              <a:t>• supports mental health awareness</a:t>
            </a:r>
          </a:p>
          <a:p>
            <a:pPr marL="0" indent="0" defTabSz="12700">
              <a:lnSpc>
                <a:spcPct val="135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400">
                <a:solidFill>
                  <a:srgbClr val="111111"/>
                </a:solidFill>
                <a:latin typeface="Times New Roman"/>
                <a:ea typeface="Times New Roman"/>
                <a:cs typeface="Times New Roman"/>
                <a:sym typeface="Times New Roman"/>
              </a:defRPr>
            </a:pPr>
            <a:r>
              <a:t>• promotes data-driven wellbeing insights</a:t>
            </a:r>
          </a:p>
          <a:p>
            <a:pPr marL="0" indent="0" defTabSz="12700">
              <a:lnSpc>
                <a:spcPct val="135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400">
                <a:solidFill>
                  <a:srgbClr val="111111"/>
                </a:solidFill>
                <a:latin typeface="Times New Roman"/>
                <a:ea typeface="Times New Roman"/>
                <a:cs typeface="Times New Roman"/>
                <a:sym typeface="Times New Roman"/>
              </a:defRPr>
            </a:pPr>
            <a:r>
              <a:t>• encourages preventive healthcare analytics</a:t>
            </a:r>
          </a:p>
          <a:p>
            <a:pPr marL="0" indent="0" defTabSz="12700">
              <a:lnSpc>
                <a:spcPct val="135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400">
                <a:solidFill>
                  <a:srgbClr val="111111"/>
                </a:solidFill>
                <a:latin typeface="Times New Roman"/>
                <a:ea typeface="Times New Roman"/>
                <a:cs typeface="Times New Roman"/>
                <a:sym typeface="Times New Roman"/>
              </a:defRPr>
            </a:pPr>
            <a:endParaRPr/>
          </a:p>
          <a:p>
            <a:pPr marL="0" indent="0" defTabSz="12700">
              <a:lnSpc>
                <a:spcPct val="135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400">
                <a:solidFill>
                  <a:srgbClr val="111111"/>
                </a:solidFill>
                <a:latin typeface="Times New Roman"/>
                <a:ea typeface="Times New Roman"/>
                <a:cs typeface="Times New Roman"/>
                <a:sym typeface="Times New Roman"/>
              </a:defRPr>
            </a:pPr>
            <a:endParaRPr/>
          </a:p>
          <a:p>
            <a:pPr marL="0" indent="0" defTabSz="12700">
              <a:lnSpc>
                <a:spcPct val="135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400" b="1">
                <a:solidFill>
                  <a:srgbClr val="111111"/>
                </a:solidFill>
                <a:latin typeface="Times New Roman"/>
                <a:ea typeface="Times New Roman"/>
                <a:cs typeface="Times New Roman"/>
                <a:sym typeface="Times New Roman"/>
              </a:defRPr>
            </a:pPr>
            <a:r>
              <a:t>SDG 5 – Gender Equality</a:t>
            </a:r>
          </a:p>
          <a:p>
            <a:pPr marL="0" indent="0" defTabSz="12700">
              <a:lnSpc>
                <a:spcPct val="135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400">
                <a:solidFill>
                  <a:srgbClr val="111111"/>
                </a:solidFill>
                <a:latin typeface="Times New Roman"/>
                <a:ea typeface="Times New Roman"/>
                <a:cs typeface="Times New Roman"/>
                <a:sym typeface="Times New Roman"/>
              </a:defRPr>
            </a:pPr>
            <a:r>
              <a:t>• addresses research in hormonal health</a:t>
            </a:r>
          </a:p>
          <a:p>
            <a:pPr marL="0" indent="0" defTabSz="12700">
              <a:lnSpc>
                <a:spcPct val="135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400">
                <a:solidFill>
                  <a:srgbClr val="111111"/>
                </a:solidFill>
                <a:latin typeface="Times New Roman"/>
                <a:ea typeface="Times New Roman"/>
                <a:cs typeface="Times New Roman"/>
                <a:sym typeface="Times New Roman"/>
              </a:defRPr>
            </a:pPr>
            <a:r>
              <a:t>• promotes inclusive digital health technology</a:t>
            </a:r>
          </a:p>
          <a:p>
            <a:pPr marL="0" indent="0" defTabSz="12700">
              <a:lnSpc>
                <a:spcPct val="135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400">
                <a:solidFill>
                  <a:srgbClr val="111111"/>
                </a:solidFill>
                <a:latin typeface="Times New Roman"/>
                <a:ea typeface="Times New Roman"/>
                <a:cs typeface="Times New Roman"/>
                <a:sym typeface="Times New Roman"/>
              </a:defRPr>
            </a:pPr>
            <a:r>
              <a:t>• increases awareness of menstrual health factors</a:t>
            </a:r>
          </a:p>
        </p:txBody>
      </p:sp>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 name="System Overview"/>
          <p:cNvSpPr txBox="1">
            <a:spLocks noGrp="1"/>
          </p:cNvSpPr>
          <p:nvPr>
            <p:ph type="title"/>
          </p:nvPr>
        </p:nvSpPr>
        <p:spPr>
          <a:prstGeom prst="rect">
            <a:avLst/>
          </a:prstGeom>
        </p:spPr>
        <p:txBody>
          <a:bodyPr/>
          <a:lstStyle/>
          <a:p>
            <a:r>
              <a:t>System Overview </a:t>
            </a:r>
          </a:p>
        </p:txBody>
      </p:sp>
      <p:sp>
        <p:nvSpPr>
          <p:cNvPr id="200" name="LunaAura is a cycle-aware behavioral analytics platform designed to analyze emotional wellbeing patterns using machine learning.…"/>
          <p:cNvSpPr txBox="1">
            <a:spLocks noGrp="1"/>
          </p:cNvSpPr>
          <p:nvPr>
            <p:ph type="body" idx="1"/>
          </p:nvPr>
        </p:nvSpPr>
        <p:spPr>
          <a:xfrm>
            <a:off x="1217711" y="3302174"/>
            <a:ext cx="21948578" cy="8483601"/>
          </a:xfrm>
          <a:prstGeom prst="rect">
            <a:avLst/>
          </a:prstGeom>
        </p:spPr>
        <p:txBody>
          <a:bodyPr/>
          <a:lstStyle/>
          <a:p>
            <a:pPr marL="0" indent="0" defTabSz="12700">
              <a:lnSpc>
                <a:spcPct val="135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200">
                <a:solidFill>
                  <a:srgbClr val="111111"/>
                </a:solidFill>
                <a:latin typeface="Times New Roman"/>
                <a:ea typeface="Times New Roman"/>
                <a:cs typeface="Times New Roman"/>
                <a:sym typeface="Times New Roman"/>
              </a:defRPr>
            </a:pPr>
            <a:r>
              <a:t>LunaAura is a </a:t>
            </a:r>
            <a:r>
              <a:rPr b="1"/>
              <a:t>cycle-aware behavioral analytics platform</a:t>
            </a:r>
            <a:r>
              <a:t> designed to analyze emotional wellbeing patterns using machine learning.</a:t>
            </a:r>
          </a:p>
          <a:p>
            <a:pPr marL="0" indent="0" defTabSz="12700">
              <a:lnSpc>
                <a:spcPct val="135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200">
                <a:solidFill>
                  <a:srgbClr val="111111"/>
                </a:solidFill>
                <a:latin typeface="Times New Roman"/>
                <a:ea typeface="Times New Roman"/>
                <a:cs typeface="Times New Roman"/>
                <a:sym typeface="Times New Roman"/>
              </a:defRPr>
            </a:pPr>
            <a:r>
              <a:t>The system integrates behavioral signals and physiological context to explore how daily lifestyle factors influence emotional states.</a:t>
            </a:r>
          </a:p>
          <a:p>
            <a:pPr marL="0" indent="0" defTabSz="12700">
              <a:lnSpc>
                <a:spcPct val="135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200">
                <a:solidFill>
                  <a:srgbClr val="111111"/>
                </a:solidFill>
                <a:latin typeface="Times New Roman"/>
                <a:ea typeface="Times New Roman"/>
                <a:cs typeface="Times New Roman"/>
                <a:sym typeface="Times New Roman"/>
              </a:defRPr>
            </a:pPr>
            <a:endParaRPr/>
          </a:p>
          <a:p>
            <a:pPr marL="0" indent="0" defTabSz="12700">
              <a:lnSpc>
                <a:spcPct val="135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200" b="1">
                <a:solidFill>
                  <a:srgbClr val="111111"/>
                </a:solidFill>
                <a:latin typeface="Times New Roman"/>
                <a:ea typeface="Times New Roman"/>
                <a:cs typeface="Times New Roman"/>
                <a:sym typeface="Times New Roman"/>
              </a:defRPr>
            </a:pPr>
            <a:r>
              <a:t>Core Components</a:t>
            </a:r>
            <a:endParaRPr b="0"/>
          </a:p>
          <a:p>
            <a:pPr marL="266700" indent="-266700" defTabSz="12700">
              <a:lnSpc>
                <a:spcPct val="135000"/>
              </a:lnSpc>
              <a:spcBef>
                <a:spcPts val="1200"/>
              </a:spcBef>
              <a:buSzTx/>
              <a:buNone/>
              <a:tabLst>
                <a:tab pos="165100" algn="r"/>
                <a:tab pos="266700" algn="l"/>
              </a:tabLst>
              <a:defRPr sz="3200">
                <a:solidFill>
                  <a:srgbClr val="111111"/>
                </a:solidFill>
                <a:latin typeface="Times New Roman"/>
                <a:ea typeface="Times New Roman"/>
                <a:cs typeface="Times New Roman"/>
                <a:sym typeface="Times New Roman"/>
              </a:defRPr>
            </a:pPr>
            <a:r>
              <a:t>	1.	Behavioral Data Logging Interface</a:t>
            </a:r>
          </a:p>
          <a:p>
            <a:pPr marL="266700" indent="-266700" defTabSz="12700">
              <a:lnSpc>
                <a:spcPct val="135000"/>
              </a:lnSpc>
              <a:spcBef>
                <a:spcPts val="1200"/>
              </a:spcBef>
              <a:buSzTx/>
              <a:buNone/>
              <a:tabLst>
                <a:tab pos="165100" algn="r"/>
                <a:tab pos="266700" algn="l"/>
              </a:tabLst>
              <a:defRPr sz="3200">
                <a:solidFill>
                  <a:srgbClr val="111111"/>
                </a:solidFill>
                <a:latin typeface="Times New Roman"/>
                <a:ea typeface="Times New Roman"/>
                <a:cs typeface="Times New Roman"/>
                <a:sym typeface="Times New Roman"/>
              </a:defRPr>
            </a:pPr>
            <a:r>
              <a:t>	2.	Data Processing and Feature Engineering</a:t>
            </a:r>
          </a:p>
          <a:p>
            <a:pPr marL="266700" indent="-266700" defTabSz="12700">
              <a:lnSpc>
                <a:spcPct val="135000"/>
              </a:lnSpc>
              <a:spcBef>
                <a:spcPts val="1200"/>
              </a:spcBef>
              <a:buSzTx/>
              <a:buNone/>
              <a:tabLst>
                <a:tab pos="165100" algn="r"/>
                <a:tab pos="266700" algn="l"/>
              </a:tabLst>
              <a:defRPr sz="3200">
                <a:solidFill>
                  <a:srgbClr val="111111"/>
                </a:solidFill>
                <a:latin typeface="Times New Roman"/>
                <a:ea typeface="Times New Roman"/>
                <a:cs typeface="Times New Roman"/>
                <a:sym typeface="Times New Roman"/>
              </a:defRPr>
            </a:pPr>
            <a:r>
              <a:t>	3.	Machine Learning Model Comparison</a:t>
            </a:r>
          </a:p>
          <a:p>
            <a:pPr marL="266700" indent="-266700" defTabSz="12700">
              <a:lnSpc>
                <a:spcPct val="135000"/>
              </a:lnSpc>
              <a:spcBef>
                <a:spcPts val="1200"/>
              </a:spcBef>
              <a:buSzTx/>
              <a:buNone/>
              <a:tabLst>
                <a:tab pos="165100" algn="r"/>
                <a:tab pos="266700" algn="l"/>
              </a:tabLst>
              <a:defRPr sz="3200">
                <a:solidFill>
                  <a:srgbClr val="111111"/>
                </a:solidFill>
                <a:latin typeface="Times New Roman"/>
                <a:ea typeface="Times New Roman"/>
                <a:cs typeface="Times New Roman"/>
                <a:sym typeface="Times New Roman"/>
              </a:defRPr>
            </a:pPr>
            <a:r>
              <a:t>	4.	Explainable Analytics Layer</a:t>
            </a:r>
          </a:p>
          <a:p>
            <a:pPr marL="266700" indent="-266700" defTabSz="12700">
              <a:lnSpc>
                <a:spcPct val="135000"/>
              </a:lnSpc>
              <a:spcBef>
                <a:spcPts val="1200"/>
              </a:spcBef>
              <a:buSzTx/>
              <a:buNone/>
              <a:tabLst>
                <a:tab pos="165100" algn="r"/>
                <a:tab pos="266700" algn="l"/>
              </a:tabLst>
              <a:defRPr sz="3200">
                <a:solidFill>
                  <a:srgbClr val="111111"/>
                </a:solidFill>
                <a:latin typeface="Times New Roman"/>
                <a:ea typeface="Times New Roman"/>
                <a:cs typeface="Times New Roman"/>
                <a:sym typeface="Times New Roman"/>
              </a:defRPr>
            </a:pPr>
            <a:r>
              <a:t>	5.	Visualization Dashboard</a:t>
            </a:r>
          </a:p>
          <a:p>
            <a:pPr marL="266700" indent="-266700" defTabSz="12700">
              <a:lnSpc>
                <a:spcPct val="135000"/>
              </a:lnSpc>
              <a:spcBef>
                <a:spcPts val="1200"/>
              </a:spcBef>
              <a:buSzTx/>
              <a:buNone/>
              <a:tabLst>
                <a:tab pos="165100" algn="r"/>
                <a:tab pos="266700" algn="l"/>
              </a:tabLst>
              <a:defRPr sz="3200">
                <a:solidFill>
                  <a:srgbClr val="111111"/>
                </a:solidFill>
                <a:latin typeface="Times New Roman"/>
                <a:ea typeface="Times New Roman"/>
                <a:cs typeface="Times New Roman"/>
                <a:sym typeface="Times New Roman"/>
              </a:defRPr>
            </a:pPr>
            <a:endParaRPr/>
          </a:p>
          <a:p>
            <a:pPr marL="266700" indent="-266700" defTabSz="12700">
              <a:lnSpc>
                <a:spcPct val="135000"/>
              </a:lnSpc>
              <a:spcBef>
                <a:spcPts val="1200"/>
              </a:spcBef>
              <a:buSzTx/>
              <a:buNone/>
              <a:tabLst>
                <a:tab pos="165100" algn="r"/>
                <a:tab pos="266700" algn="l"/>
              </a:tabLst>
              <a:defRPr sz="3200">
                <a:solidFill>
                  <a:srgbClr val="111111"/>
                </a:solidFill>
                <a:latin typeface="Times New Roman"/>
                <a:ea typeface="Times New Roman"/>
                <a:cs typeface="Times New Roman"/>
                <a:sym typeface="Times New Roman"/>
              </a:defRPr>
            </a:pPr>
            <a:r>
              <a:t>The system enables users and researchers to explore relationships between behavioral signals and emotional wellbeing.</a:t>
            </a:r>
          </a:p>
        </p:txBody>
      </p:sp>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 name="Dashboard"/>
          <p:cNvSpPr txBox="1">
            <a:spLocks noGrp="1"/>
          </p:cNvSpPr>
          <p:nvPr>
            <p:ph type="title"/>
          </p:nvPr>
        </p:nvSpPr>
        <p:spPr>
          <a:xfrm>
            <a:off x="7313331" y="-141128"/>
            <a:ext cx="9757338" cy="2540001"/>
          </a:xfrm>
          <a:prstGeom prst="rect">
            <a:avLst/>
          </a:prstGeom>
        </p:spPr>
        <p:txBody>
          <a:bodyPr anchor="ctr"/>
          <a:lstStyle/>
          <a:p>
            <a:r>
              <a:t>Dashboard </a:t>
            </a:r>
          </a:p>
        </p:txBody>
      </p:sp>
      <p:pic>
        <p:nvPicPr>
          <p:cNvPr id="203" name="Screenshot 2026-03-05 at 7.28.16 PM.png" descr="Screenshot 2026-03-05 at 7.28.16 PM.png"/>
          <p:cNvPicPr>
            <a:picLocks noChangeAspect="1"/>
          </p:cNvPicPr>
          <p:nvPr/>
        </p:nvPicPr>
        <p:blipFill>
          <a:blip r:embed="rId2"/>
          <a:stretch>
            <a:fillRect/>
          </a:stretch>
        </p:blipFill>
        <p:spPr>
          <a:xfrm>
            <a:off x="1408139" y="1944472"/>
            <a:ext cx="21567722" cy="11733070"/>
          </a:xfrm>
          <a:prstGeom prst="rect">
            <a:avLst/>
          </a:prstGeom>
          <a:ln w="12700">
            <a:miter lim="400000"/>
          </a:ln>
        </p:spPr>
      </p:pic>
    </p:spTree>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 name="System Architecture"/>
          <p:cNvSpPr txBox="1">
            <a:spLocks noGrp="1"/>
          </p:cNvSpPr>
          <p:nvPr>
            <p:ph type="title"/>
          </p:nvPr>
        </p:nvSpPr>
        <p:spPr>
          <a:prstGeom prst="rect">
            <a:avLst/>
          </a:prstGeom>
        </p:spPr>
        <p:txBody>
          <a:bodyPr/>
          <a:lstStyle/>
          <a:p>
            <a:r>
              <a:t>System Architecture </a:t>
            </a:r>
          </a:p>
        </p:txBody>
      </p:sp>
      <p:sp>
        <p:nvSpPr>
          <p:cNvPr id="206" name="The LunaAura platform follows a modular architecture designed for behavioral analytics.…"/>
          <p:cNvSpPr txBox="1">
            <a:spLocks noGrp="1"/>
          </p:cNvSpPr>
          <p:nvPr>
            <p:ph type="body" idx="1"/>
          </p:nvPr>
        </p:nvSpPr>
        <p:spPr>
          <a:xfrm>
            <a:off x="1219200" y="2405876"/>
            <a:ext cx="19927741" cy="10893933"/>
          </a:xfrm>
          <a:prstGeom prst="rect">
            <a:avLst/>
          </a:prstGeom>
        </p:spPr>
        <p:txBody>
          <a:bodyPr/>
          <a:lstStyle/>
          <a:p>
            <a:pPr marL="0" indent="0" defTabSz="914400">
              <a:lnSpc>
                <a:spcPct val="135000"/>
              </a:lnSpc>
              <a:spcBef>
                <a:spcPts val="0"/>
              </a:spcBef>
              <a:buSzTx/>
              <a:buNone/>
              <a:tabLst>
                <a:tab pos="342900" algn="l"/>
                <a:tab pos="685800" algn="l"/>
                <a:tab pos="1041400" algn="l"/>
                <a:tab pos="1384300" algn="l"/>
                <a:tab pos="1739900" algn="l"/>
                <a:tab pos="2082800" algn="l"/>
                <a:tab pos="2438400" algn="l"/>
                <a:tab pos="2781300" algn="l"/>
                <a:tab pos="3124200" algn="l"/>
                <a:tab pos="3479800" algn="l"/>
                <a:tab pos="3822700" algn="l"/>
                <a:tab pos="4178300" algn="l"/>
              </a:tabLst>
              <a:defRPr sz="3626">
                <a:solidFill>
                  <a:srgbClr val="111111"/>
                </a:solidFill>
                <a:latin typeface="Times New Roman"/>
                <a:ea typeface="Times New Roman"/>
                <a:cs typeface="Times New Roman"/>
                <a:sym typeface="Times New Roman"/>
              </a:defRPr>
            </a:pPr>
            <a:r>
              <a:t>The LunaAura platform follows a modular architecture designed for behavioral analytics.</a:t>
            </a:r>
          </a:p>
          <a:p>
            <a:pPr marL="0" indent="0" defTabSz="914400">
              <a:lnSpc>
                <a:spcPct val="135000"/>
              </a:lnSpc>
              <a:spcBef>
                <a:spcPts val="0"/>
              </a:spcBef>
              <a:buSzTx/>
              <a:buNone/>
              <a:tabLst>
                <a:tab pos="342900" algn="l"/>
                <a:tab pos="685800" algn="l"/>
                <a:tab pos="1041400" algn="l"/>
                <a:tab pos="1384300" algn="l"/>
                <a:tab pos="1739900" algn="l"/>
                <a:tab pos="2082800" algn="l"/>
                <a:tab pos="2438400" algn="l"/>
                <a:tab pos="2781300" algn="l"/>
                <a:tab pos="3124200" algn="l"/>
                <a:tab pos="3479800" algn="l"/>
                <a:tab pos="3822700" algn="l"/>
                <a:tab pos="4178300" algn="l"/>
              </a:tabLst>
              <a:defRPr sz="3626" b="1">
                <a:solidFill>
                  <a:srgbClr val="111111"/>
                </a:solidFill>
                <a:latin typeface="Times New Roman"/>
                <a:ea typeface="Times New Roman"/>
                <a:cs typeface="Times New Roman"/>
                <a:sym typeface="Times New Roman"/>
              </a:defRPr>
            </a:pPr>
            <a:r>
              <a:t>Architecture Layers</a:t>
            </a:r>
            <a:endParaRPr b="0"/>
          </a:p>
          <a:p>
            <a:pPr marL="261365" indent="-261365" defTabSz="914400">
              <a:lnSpc>
                <a:spcPct val="135000"/>
              </a:lnSpc>
              <a:spcBef>
                <a:spcPts val="1100"/>
              </a:spcBef>
              <a:buSzTx/>
              <a:buNone/>
              <a:tabLst>
                <a:tab pos="152400" algn="r"/>
                <a:tab pos="254000" algn="l"/>
              </a:tabLst>
              <a:defRPr sz="3626">
                <a:solidFill>
                  <a:srgbClr val="111111"/>
                </a:solidFill>
                <a:latin typeface="Times New Roman"/>
                <a:ea typeface="Times New Roman"/>
                <a:cs typeface="Times New Roman"/>
                <a:sym typeface="Times New Roman"/>
              </a:defRPr>
            </a:pPr>
            <a:r>
              <a:t>	1.	Data Input Layer</a:t>
            </a:r>
          </a:p>
          <a:p>
            <a:pPr marL="261365" indent="0" defTabSz="914400">
              <a:lnSpc>
                <a:spcPct val="135000"/>
              </a:lnSpc>
              <a:spcBef>
                <a:spcPts val="0"/>
              </a:spcBef>
              <a:buSzTx/>
              <a:buNone/>
              <a:tabLst>
                <a:tab pos="342900" algn="l"/>
                <a:tab pos="685800" algn="l"/>
                <a:tab pos="1041400" algn="l"/>
                <a:tab pos="1384300" algn="l"/>
                <a:tab pos="1739900" algn="l"/>
                <a:tab pos="2082800" algn="l"/>
                <a:tab pos="2438400" algn="l"/>
                <a:tab pos="2781300" algn="l"/>
                <a:tab pos="3124200" algn="l"/>
                <a:tab pos="3479800" algn="l"/>
                <a:tab pos="3822700" algn="l"/>
                <a:tab pos="4178300" algn="l"/>
              </a:tabLst>
              <a:defRPr sz="3626">
                <a:solidFill>
                  <a:srgbClr val="111111"/>
                </a:solidFill>
                <a:latin typeface="Times New Roman"/>
                <a:ea typeface="Times New Roman"/>
                <a:cs typeface="Times New Roman"/>
                <a:sym typeface="Times New Roman"/>
              </a:defRPr>
            </a:pPr>
            <a:r>
              <a:t>User behavioral signals are logged through the system interface.</a:t>
            </a:r>
          </a:p>
          <a:p>
            <a:pPr marL="261365" indent="-261365" defTabSz="914400">
              <a:lnSpc>
                <a:spcPct val="135000"/>
              </a:lnSpc>
              <a:spcBef>
                <a:spcPts val="1100"/>
              </a:spcBef>
              <a:buSzTx/>
              <a:buNone/>
              <a:tabLst>
                <a:tab pos="152400" algn="r"/>
                <a:tab pos="254000" algn="l"/>
              </a:tabLst>
              <a:defRPr sz="3626">
                <a:solidFill>
                  <a:srgbClr val="111111"/>
                </a:solidFill>
                <a:latin typeface="Times New Roman"/>
                <a:ea typeface="Times New Roman"/>
                <a:cs typeface="Times New Roman"/>
                <a:sym typeface="Times New Roman"/>
              </a:defRPr>
            </a:pPr>
            <a:r>
              <a:t>	2.	Data Processing Layer</a:t>
            </a:r>
          </a:p>
          <a:p>
            <a:pPr marL="261365" indent="0" defTabSz="914400">
              <a:lnSpc>
                <a:spcPct val="135000"/>
              </a:lnSpc>
              <a:spcBef>
                <a:spcPts val="0"/>
              </a:spcBef>
              <a:buSzTx/>
              <a:buNone/>
              <a:tabLst>
                <a:tab pos="342900" algn="l"/>
                <a:tab pos="685800" algn="l"/>
                <a:tab pos="1041400" algn="l"/>
                <a:tab pos="1384300" algn="l"/>
                <a:tab pos="1739900" algn="l"/>
                <a:tab pos="2082800" algn="l"/>
                <a:tab pos="2438400" algn="l"/>
                <a:tab pos="2781300" algn="l"/>
                <a:tab pos="3124200" algn="l"/>
                <a:tab pos="3479800" algn="l"/>
                <a:tab pos="3822700" algn="l"/>
                <a:tab pos="4178300" algn="l"/>
              </a:tabLst>
              <a:defRPr sz="3626">
                <a:solidFill>
                  <a:srgbClr val="111111"/>
                </a:solidFill>
                <a:latin typeface="Times New Roman"/>
                <a:ea typeface="Times New Roman"/>
                <a:cs typeface="Times New Roman"/>
                <a:sym typeface="Times New Roman"/>
              </a:defRPr>
            </a:pPr>
            <a:r>
              <a:t>Cleaning, normalization, and encoding of behavioral features.</a:t>
            </a:r>
          </a:p>
          <a:p>
            <a:pPr marL="261365" indent="-261365" defTabSz="914400">
              <a:lnSpc>
                <a:spcPct val="135000"/>
              </a:lnSpc>
              <a:spcBef>
                <a:spcPts val="1100"/>
              </a:spcBef>
              <a:buSzTx/>
              <a:buNone/>
              <a:tabLst>
                <a:tab pos="152400" algn="r"/>
                <a:tab pos="254000" algn="l"/>
              </a:tabLst>
              <a:defRPr sz="3626">
                <a:solidFill>
                  <a:srgbClr val="111111"/>
                </a:solidFill>
                <a:latin typeface="Times New Roman"/>
                <a:ea typeface="Times New Roman"/>
                <a:cs typeface="Times New Roman"/>
                <a:sym typeface="Times New Roman"/>
              </a:defRPr>
            </a:pPr>
            <a:r>
              <a:t>	3.	Feature Engineering Layer</a:t>
            </a:r>
          </a:p>
          <a:p>
            <a:pPr marL="261365" indent="0" defTabSz="914400">
              <a:lnSpc>
                <a:spcPct val="135000"/>
              </a:lnSpc>
              <a:spcBef>
                <a:spcPts val="0"/>
              </a:spcBef>
              <a:buSzTx/>
              <a:buNone/>
              <a:tabLst>
                <a:tab pos="342900" algn="l"/>
                <a:tab pos="685800" algn="l"/>
                <a:tab pos="1041400" algn="l"/>
                <a:tab pos="1384300" algn="l"/>
                <a:tab pos="1739900" algn="l"/>
                <a:tab pos="2082800" algn="l"/>
                <a:tab pos="2438400" algn="l"/>
                <a:tab pos="2781300" algn="l"/>
                <a:tab pos="3124200" algn="l"/>
                <a:tab pos="3479800" algn="l"/>
                <a:tab pos="3822700" algn="l"/>
                <a:tab pos="4178300" algn="l"/>
              </a:tabLst>
              <a:defRPr sz="3626">
                <a:solidFill>
                  <a:srgbClr val="111111"/>
                </a:solidFill>
                <a:latin typeface="Times New Roman"/>
                <a:ea typeface="Times New Roman"/>
                <a:cs typeface="Times New Roman"/>
                <a:sym typeface="Times New Roman"/>
              </a:defRPr>
            </a:pPr>
            <a:r>
              <a:t>Generation of interaction features representing behavioral relationships.</a:t>
            </a:r>
          </a:p>
          <a:p>
            <a:pPr marL="261365" indent="-261365" defTabSz="914400">
              <a:lnSpc>
                <a:spcPct val="135000"/>
              </a:lnSpc>
              <a:spcBef>
                <a:spcPts val="1100"/>
              </a:spcBef>
              <a:buSzTx/>
              <a:buNone/>
              <a:tabLst>
                <a:tab pos="152400" algn="r"/>
                <a:tab pos="254000" algn="l"/>
              </a:tabLst>
              <a:defRPr sz="3626">
                <a:solidFill>
                  <a:srgbClr val="111111"/>
                </a:solidFill>
                <a:latin typeface="Times New Roman"/>
                <a:ea typeface="Times New Roman"/>
                <a:cs typeface="Times New Roman"/>
                <a:sym typeface="Times New Roman"/>
              </a:defRPr>
            </a:pPr>
            <a:r>
              <a:t>	4.	Machine Learning Layer</a:t>
            </a:r>
          </a:p>
          <a:p>
            <a:pPr marL="261365" indent="0" defTabSz="914400">
              <a:lnSpc>
                <a:spcPct val="135000"/>
              </a:lnSpc>
              <a:spcBef>
                <a:spcPts val="0"/>
              </a:spcBef>
              <a:buSzTx/>
              <a:buNone/>
              <a:tabLst>
                <a:tab pos="342900" algn="l"/>
                <a:tab pos="685800" algn="l"/>
                <a:tab pos="1041400" algn="l"/>
                <a:tab pos="1384300" algn="l"/>
                <a:tab pos="1739900" algn="l"/>
                <a:tab pos="2082800" algn="l"/>
                <a:tab pos="2438400" algn="l"/>
                <a:tab pos="2781300" algn="l"/>
                <a:tab pos="3124200" algn="l"/>
                <a:tab pos="3479800" algn="l"/>
                <a:tab pos="3822700" algn="l"/>
                <a:tab pos="4178300" algn="l"/>
              </a:tabLst>
              <a:defRPr sz="3626">
                <a:solidFill>
                  <a:srgbClr val="111111"/>
                </a:solidFill>
                <a:latin typeface="Times New Roman"/>
                <a:ea typeface="Times New Roman"/>
                <a:cs typeface="Times New Roman"/>
                <a:sym typeface="Times New Roman"/>
              </a:defRPr>
            </a:pPr>
            <a:r>
              <a:t>Multiple models are trained and evaluated.</a:t>
            </a:r>
          </a:p>
          <a:p>
            <a:pPr marL="261365" indent="-261365" defTabSz="914400">
              <a:lnSpc>
                <a:spcPct val="135000"/>
              </a:lnSpc>
              <a:spcBef>
                <a:spcPts val="1100"/>
              </a:spcBef>
              <a:buSzTx/>
              <a:buNone/>
              <a:tabLst>
                <a:tab pos="152400" algn="r"/>
                <a:tab pos="254000" algn="l"/>
              </a:tabLst>
              <a:defRPr sz="3626">
                <a:solidFill>
                  <a:srgbClr val="111111"/>
                </a:solidFill>
                <a:latin typeface="Times New Roman"/>
                <a:ea typeface="Times New Roman"/>
                <a:cs typeface="Times New Roman"/>
                <a:sym typeface="Times New Roman"/>
              </a:defRPr>
            </a:pPr>
            <a:r>
              <a:t>	5.	Explainable Analytics Layer</a:t>
            </a:r>
          </a:p>
          <a:p>
            <a:pPr marL="261365" indent="0" defTabSz="914400">
              <a:lnSpc>
                <a:spcPct val="135000"/>
              </a:lnSpc>
              <a:spcBef>
                <a:spcPts val="0"/>
              </a:spcBef>
              <a:buSzTx/>
              <a:buNone/>
              <a:tabLst>
                <a:tab pos="342900" algn="l"/>
                <a:tab pos="685800" algn="l"/>
                <a:tab pos="1041400" algn="l"/>
                <a:tab pos="1384300" algn="l"/>
                <a:tab pos="1739900" algn="l"/>
                <a:tab pos="2082800" algn="l"/>
                <a:tab pos="2438400" algn="l"/>
                <a:tab pos="2781300" algn="l"/>
                <a:tab pos="3124200" algn="l"/>
                <a:tab pos="3479800" algn="l"/>
                <a:tab pos="3822700" algn="l"/>
                <a:tab pos="4178300" algn="l"/>
              </a:tabLst>
              <a:defRPr sz="3626">
                <a:solidFill>
                  <a:srgbClr val="111111"/>
                </a:solidFill>
                <a:latin typeface="Times New Roman"/>
                <a:ea typeface="Times New Roman"/>
                <a:cs typeface="Times New Roman"/>
                <a:sym typeface="Times New Roman"/>
              </a:defRPr>
            </a:pPr>
            <a:r>
              <a:t>Feature contributions are analyzed to interpret model outputs.</a:t>
            </a:r>
          </a:p>
          <a:p>
            <a:pPr marL="261365" indent="-261365" defTabSz="914400">
              <a:lnSpc>
                <a:spcPct val="135000"/>
              </a:lnSpc>
              <a:spcBef>
                <a:spcPts val="1100"/>
              </a:spcBef>
              <a:buSzTx/>
              <a:buNone/>
              <a:tabLst>
                <a:tab pos="152400" algn="r"/>
                <a:tab pos="254000" algn="l"/>
              </a:tabLst>
              <a:defRPr sz="3626">
                <a:solidFill>
                  <a:srgbClr val="111111"/>
                </a:solidFill>
                <a:latin typeface="Times New Roman"/>
                <a:ea typeface="Times New Roman"/>
                <a:cs typeface="Times New Roman"/>
                <a:sym typeface="Times New Roman"/>
              </a:defRPr>
            </a:pPr>
            <a:r>
              <a:t>	6.	Visualization Layer</a:t>
            </a:r>
          </a:p>
          <a:p>
            <a:pPr marL="261365" indent="0" defTabSz="914400">
              <a:lnSpc>
                <a:spcPct val="135000"/>
              </a:lnSpc>
              <a:spcBef>
                <a:spcPts val="0"/>
              </a:spcBef>
              <a:buSzTx/>
              <a:buNone/>
              <a:tabLst>
                <a:tab pos="342900" algn="l"/>
                <a:tab pos="685800" algn="l"/>
                <a:tab pos="1041400" algn="l"/>
                <a:tab pos="1384300" algn="l"/>
                <a:tab pos="1739900" algn="l"/>
                <a:tab pos="2082800" algn="l"/>
                <a:tab pos="2438400" algn="l"/>
                <a:tab pos="2781300" algn="l"/>
                <a:tab pos="3124200" algn="l"/>
                <a:tab pos="3479800" algn="l"/>
                <a:tab pos="3822700" algn="l"/>
                <a:tab pos="4178300" algn="l"/>
              </a:tabLst>
              <a:defRPr sz="3626">
                <a:solidFill>
                  <a:srgbClr val="111111"/>
                </a:solidFill>
                <a:latin typeface="Times New Roman"/>
                <a:ea typeface="Times New Roman"/>
                <a:cs typeface="Times New Roman"/>
                <a:sym typeface="Times New Roman"/>
              </a:defRPr>
            </a:pPr>
            <a:r>
              <a:t>Results are presented through interactive dashboards.</a:t>
            </a:r>
          </a:p>
        </p:txBody>
      </p:sp>
    </p:spTree>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8" name="pasted-movie.png" descr="pasted-movie.png"/>
          <p:cNvPicPr>
            <a:picLocks noChangeAspect="1"/>
          </p:cNvPicPr>
          <p:nvPr/>
        </p:nvPicPr>
        <p:blipFill>
          <a:blip r:embed="rId2"/>
          <a:stretch>
            <a:fillRect/>
          </a:stretch>
        </p:blipFill>
        <p:spPr>
          <a:xfrm>
            <a:off x="1817509" y="-58327"/>
            <a:ext cx="21431441" cy="14287628"/>
          </a:xfrm>
          <a:prstGeom prst="rect">
            <a:avLst/>
          </a:prstGeom>
          <a:ln w="12700">
            <a:miter lim="400000"/>
          </a:ln>
        </p:spPr>
      </p:pic>
    </p:spTree>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 name="Machine Learning Pipeline"/>
          <p:cNvSpPr txBox="1">
            <a:spLocks noGrp="1"/>
          </p:cNvSpPr>
          <p:nvPr>
            <p:ph type="title"/>
          </p:nvPr>
        </p:nvSpPr>
        <p:spPr>
          <a:prstGeom prst="rect">
            <a:avLst/>
          </a:prstGeom>
        </p:spPr>
        <p:txBody>
          <a:bodyPr/>
          <a:lstStyle/>
          <a:p>
            <a:r>
              <a:t>Machine Learning Pipeline</a:t>
            </a:r>
          </a:p>
        </p:txBody>
      </p:sp>
      <p:sp>
        <p:nvSpPr>
          <p:cNvPr id="211" name="The system follows a structured machine learning workflow.…"/>
          <p:cNvSpPr txBox="1">
            <a:spLocks noGrp="1"/>
          </p:cNvSpPr>
          <p:nvPr>
            <p:ph type="body" idx="1"/>
          </p:nvPr>
        </p:nvSpPr>
        <p:spPr>
          <a:xfrm>
            <a:off x="1721100" y="3330112"/>
            <a:ext cx="21564145" cy="10381738"/>
          </a:xfrm>
          <a:prstGeom prst="rect">
            <a:avLst/>
          </a:prstGeom>
        </p:spPr>
        <p:txBody>
          <a:bodyPr/>
          <a:lstStyle/>
          <a:p>
            <a:pPr marL="0" indent="0" defTabSz="12700">
              <a:lnSpc>
                <a:spcPct val="100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100">
                <a:solidFill>
                  <a:srgbClr val="111111"/>
                </a:solidFill>
                <a:latin typeface="Times New Roman"/>
                <a:ea typeface="Times New Roman"/>
                <a:cs typeface="Times New Roman"/>
                <a:sym typeface="Times New Roman"/>
              </a:defRPr>
            </a:pPr>
            <a:r>
              <a:t>The system follows a structured machine learning workflow.</a:t>
            </a:r>
          </a:p>
          <a:p>
            <a:pPr marL="0" indent="0" defTabSz="12700">
              <a:lnSpc>
                <a:spcPct val="100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100">
                <a:solidFill>
                  <a:srgbClr val="111111"/>
                </a:solidFill>
                <a:latin typeface="Times New Roman"/>
                <a:ea typeface="Times New Roman"/>
                <a:cs typeface="Times New Roman"/>
                <a:sym typeface="Times New Roman"/>
              </a:defRPr>
            </a:pPr>
            <a:endParaRPr/>
          </a:p>
          <a:p>
            <a:pPr marL="0" indent="0" defTabSz="12700">
              <a:lnSpc>
                <a:spcPct val="100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100" b="1">
                <a:solidFill>
                  <a:srgbClr val="111111"/>
                </a:solidFill>
                <a:latin typeface="Times New Roman"/>
                <a:ea typeface="Times New Roman"/>
                <a:cs typeface="Times New Roman"/>
                <a:sym typeface="Times New Roman"/>
              </a:defRPr>
            </a:pPr>
            <a:endParaRPr/>
          </a:p>
          <a:p>
            <a:pPr marL="0" indent="0" defTabSz="12700">
              <a:lnSpc>
                <a:spcPct val="100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100" b="1">
                <a:solidFill>
                  <a:srgbClr val="111111"/>
                </a:solidFill>
                <a:latin typeface="Times New Roman"/>
                <a:ea typeface="Times New Roman"/>
                <a:cs typeface="Times New Roman"/>
                <a:sym typeface="Times New Roman"/>
              </a:defRPr>
            </a:pPr>
            <a:r>
              <a:t>Pipeline Steps</a:t>
            </a:r>
            <a:endParaRPr b="0"/>
          </a:p>
          <a:p>
            <a:pPr marL="0" indent="0" defTabSz="12700">
              <a:lnSpc>
                <a:spcPct val="100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100">
                <a:solidFill>
                  <a:srgbClr val="111111"/>
                </a:solidFill>
                <a:latin typeface="Times New Roman"/>
                <a:ea typeface="Times New Roman"/>
                <a:cs typeface="Times New Roman"/>
                <a:sym typeface="Times New Roman"/>
              </a:defRPr>
            </a:pPr>
            <a:endParaRPr b="0"/>
          </a:p>
          <a:p>
            <a:pPr marL="0" indent="0" defTabSz="12700">
              <a:lnSpc>
                <a:spcPct val="100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100">
                <a:solidFill>
                  <a:srgbClr val="111111"/>
                </a:solidFill>
                <a:latin typeface="Times New Roman"/>
                <a:ea typeface="Times New Roman"/>
                <a:cs typeface="Times New Roman"/>
                <a:sym typeface="Times New Roman"/>
              </a:defRPr>
            </a:pPr>
            <a:r>
              <a:t>1 Data collection from behavioral signals</a:t>
            </a:r>
          </a:p>
          <a:p>
            <a:pPr marL="0" indent="0" defTabSz="12700">
              <a:lnSpc>
                <a:spcPct val="100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100">
                <a:solidFill>
                  <a:srgbClr val="111111"/>
                </a:solidFill>
                <a:latin typeface="Times New Roman"/>
                <a:ea typeface="Times New Roman"/>
                <a:cs typeface="Times New Roman"/>
                <a:sym typeface="Times New Roman"/>
              </a:defRPr>
            </a:pPr>
            <a:endParaRPr/>
          </a:p>
          <a:p>
            <a:pPr marL="0" indent="0" defTabSz="12700">
              <a:lnSpc>
                <a:spcPct val="100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100">
                <a:solidFill>
                  <a:srgbClr val="111111"/>
                </a:solidFill>
                <a:latin typeface="Times New Roman"/>
                <a:ea typeface="Times New Roman"/>
                <a:cs typeface="Times New Roman"/>
                <a:sym typeface="Times New Roman"/>
              </a:defRPr>
            </a:pPr>
            <a:r>
              <a:t>2 Data preprocessing and normalization</a:t>
            </a:r>
          </a:p>
          <a:p>
            <a:pPr marL="0" indent="0" defTabSz="12700">
              <a:lnSpc>
                <a:spcPct val="100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100">
                <a:solidFill>
                  <a:srgbClr val="111111"/>
                </a:solidFill>
                <a:latin typeface="Times New Roman"/>
                <a:ea typeface="Times New Roman"/>
                <a:cs typeface="Times New Roman"/>
                <a:sym typeface="Times New Roman"/>
              </a:defRPr>
            </a:pPr>
            <a:endParaRPr/>
          </a:p>
          <a:p>
            <a:pPr marL="0" indent="0" defTabSz="12700">
              <a:lnSpc>
                <a:spcPct val="100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100">
                <a:solidFill>
                  <a:srgbClr val="111111"/>
                </a:solidFill>
                <a:latin typeface="Times New Roman"/>
                <a:ea typeface="Times New Roman"/>
                <a:cs typeface="Times New Roman"/>
                <a:sym typeface="Times New Roman"/>
              </a:defRPr>
            </a:pPr>
            <a:r>
              <a:t>3 Feature engineering for behavioral interactions</a:t>
            </a:r>
          </a:p>
          <a:p>
            <a:pPr marL="0" indent="0" defTabSz="12700">
              <a:lnSpc>
                <a:spcPct val="100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100">
                <a:solidFill>
                  <a:srgbClr val="111111"/>
                </a:solidFill>
                <a:latin typeface="Times New Roman"/>
                <a:ea typeface="Times New Roman"/>
                <a:cs typeface="Times New Roman"/>
                <a:sym typeface="Times New Roman"/>
              </a:defRPr>
            </a:pPr>
            <a:endParaRPr/>
          </a:p>
          <a:p>
            <a:pPr marL="0" indent="0" defTabSz="12700">
              <a:lnSpc>
                <a:spcPct val="100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100">
                <a:solidFill>
                  <a:srgbClr val="111111"/>
                </a:solidFill>
                <a:latin typeface="Times New Roman"/>
                <a:ea typeface="Times New Roman"/>
                <a:cs typeface="Times New Roman"/>
                <a:sym typeface="Times New Roman"/>
              </a:defRPr>
            </a:pPr>
            <a:r>
              <a:t>4 Model training and validation</a:t>
            </a:r>
          </a:p>
          <a:p>
            <a:pPr marL="0" indent="0" defTabSz="12700">
              <a:lnSpc>
                <a:spcPct val="100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100">
                <a:solidFill>
                  <a:srgbClr val="111111"/>
                </a:solidFill>
                <a:latin typeface="Times New Roman"/>
                <a:ea typeface="Times New Roman"/>
                <a:cs typeface="Times New Roman"/>
                <a:sym typeface="Times New Roman"/>
              </a:defRPr>
            </a:pPr>
            <a:endParaRPr/>
          </a:p>
          <a:p>
            <a:pPr marL="0" indent="0" defTabSz="12700">
              <a:lnSpc>
                <a:spcPct val="100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100">
                <a:solidFill>
                  <a:srgbClr val="111111"/>
                </a:solidFill>
                <a:latin typeface="Times New Roman"/>
                <a:ea typeface="Times New Roman"/>
                <a:cs typeface="Times New Roman"/>
                <a:sym typeface="Times New Roman"/>
              </a:defRPr>
            </a:pPr>
            <a:r>
              <a:t>5 Model comparison across algorithms</a:t>
            </a:r>
          </a:p>
          <a:p>
            <a:pPr marL="0" indent="0" defTabSz="12700">
              <a:lnSpc>
                <a:spcPct val="100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100">
                <a:solidFill>
                  <a:srgbClr val="111111"/>
                </a:solidFill>
                <a:latin typeface="Times New Roman"/>
                <a:ea typeface="Times New Roman"/>
                <a:cs typeface="Times New Roman"/>
                <a:sym typeface="Times New Roman"/>
              </a:defRPr>
            </a:pPr>
            <a:endParaRPr/>
          </a:p>
          <a:p>
            <a:pPr marL="0" indent="0" defTabSz="12700">
              <a:lnSpc>
                <a:spcPct val="100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100">
                <a:solidFill>
                  <a:srgbClr val="111111"/>
                </a:solidFill>
                <a:latin typeface="Times New Roman"/>
                <a:ea typeface="Times New Roman"/>
                <a:cs typeface="Times New Roman"/>
                <a:sym typeface="Times New Roman"/>
              </a:defRPr>
            </a:pPr>
            <a:r>
              <a:t>6 Performance evaluation</a:t>
            </a:r>
          </a:p>
          <a:p>
            <a:pPr marL="0" indent="0" defTabSz="12700">
              <a:lnSpc>
                <a:spcPct val="100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100">
                <a:solidFill>
                  <a:srgbClr val="111111"/>
                </a:solidFill>
                <a:latin typeface="Times New Roman"/>
                <a:ea typeface="Times New Roman"/>
                <a:cs typeface="Times New Roman"/>
                <a:sym typeface="Times New Roman"/>
              </a:defRPr>
            </a:pPr>
            <a:endParaRPr/>
          </a:p>
          <a:p>
            <a:pPr marL="0" indent="0" defTabSz="12700">
              <a:lnSpc>
                <a:spcPct val="100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100">
                <a:solidFill>
                  <a:srgbClr val="111111"/>
                </a:solidFill>
                <a:latin typeface="Times New Roman"/>
                <a:ea typeface="Times New Roman"/>
                <a:cs typeface="Times New Roman"/>
                <a:sym typeface="Times New Roman"/>
              </a:defRPr>
            </a:pPr>
            <a:r>
              <a:t>7 Explainable analytics generation</a:t>
            </a:r>
          </a:p>
          <a:p>
            <a:pPr marL="0" indent="0" defTabSz="12700">
              <a:lnSpc>
                <a:spcPct val="100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100">
                <a:solidFill>
                  <a:srgbClr val="111111"/>
                </a:solidFill>
                <a:latin typeface="Times New Roman"/>
                <a:ea typeface="Times New Roman"/>
                <a:cs typeface="Times New Roman"/>
                <a:sym typeface="Times New Roman"/>
              </a:defRPr>
            </a:pPr>
            <a:endParaRPr/>
          </a:p>
          <a:p>
            <a:pPr marL="0" indent="0" defTabSz="12700">
              <a:lnSpc>
                <a:spcPct val="100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100" b="1">
                <a:solidFill>
                  <a:srgbClr val="111111"/>
                </a:solidFill>
                <a:latin typeface="Times New Roman"/>
                <a:ea typeface="Times New Roman"/>
                <a:cs typeface="Times New Roman"/>
                <a:sym typeface="Times New Roman"/>
              </a:defRPr>
            </a:pPr>
            <a:r>
              <a:t>This pipeline allows LunaAura to identify behavioral patterns associated with emotional wellbeing.</a:t>
            </a:r>
          </a:p>
        </p:txBody>
      </p:sp>
    </p:spTree>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3" name="pasted-movie.png" descr="pasted-movie.png"/>
          <p:cNvPicPr>
            <a:picLocks noChangeAspect="1"/>
          </p:cNvPicPr>
          <p:nvPr/>
        </p:nvPicPr>
        <p:blipFill>
          <a:blip r:embed="rId2"/>
          <a:stretch>
            <a:fillRect/>
          </a:stretch>
        </p:blipFill>
        <p:spPr>
          <a:xfrm>
            <a:off x="2438400" y="355600"/>
            <a:ext cx="19507200" cy="13004800"/>
          </a:xfrm>
          <a:prstGeom prst="rect">
            <a:avLst/>
          </a:prstGeom>
          <a:ln w="12700">
            <a:miter lim="400000"/>
          </a:ln>
        </p:spPr>
      </p:pic>
    </p:spTree>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 name="Data Sources"/>
          <p:cNvSpPr txBox="1">
            <a:spLocks noGrp="1"/>
          </p:cNvSpPr>
          <p:nvPr>
            <p:ph type="title"/>
          </p:nvPr>
        </p:nvSpPr>
        <p:spPr>
          <a:xfrm>
            <a:off x="1219200" y="1151125"/>
            <a:ext cx="21945600" cy="1727201"/>
          </a:xfrm>
          <a:prstGeom prst="rect">
            <a:avLst/>
          </a:prstGeom>
        </p:spPr>
        <p:txBody>
          <a:bodyPr/>
          <a:lstStyle/>
          <a:p>
            <a:r>
              <a:t>Data Sources </a:t>
            </a:r>
          </a:p>
        </p:txBody>
      </p:sp>
      <p:sp>
        <p:nvSpPr>
          <p:cNvPr id="216" name="The system integrates multiple behavioral datasets representing emotional wellbeing signals.…"/>
          <p:cNvSpPr txBox="1">
            <a:spLocks noGrp="1"/>
          </p:cNvSpPr>
          <p:nvPr>
            <p:ph type="body" idx="1"/>
          </p:nvPr>
        </p:nvSpPr>
        <p:spPr>
          <a:prstGeom prst="rect">
            <a:avLst/>
          </a:prstGeom>
        </p:spPr>
        <p:txBody>
          <a:bodyPr/>
          <a:lstStyle/>
          <a:p>
            <a:pPr marL="0" indent="0" algn="just" defTabSz="12700">
              <a:lnSpc>
                <a:spcPct val="100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200">
                <a:solidFill>
                  <a:srgbClr val="111111"/>
                </a:solidFill>
                <a:latin typeface="Times New Roman"/>
                <a:ea typeface="Times New Roman"/>
                <a:cs typeface="Times New Roman"/>
                <a:sym typeface="Times New Roman"/>
              </a:defRPr>
            </a:pPr>
            <a:r>
              <a:t>The system integrates multiple behavioral datasets representing emotional wellbeing signals.</a:t>
            </a:r>
          </a:p>
          <a:p>
            <a:pPr marL="0" indent="0" algn="just" defTabSz="12700">
              <a:lnSpc>
                <a:spcPct val="100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200">
                <a:solidFill>
                  <a:srgbClr val="111111"/>
                </a:solidFill>
                <a:latin typeface="Times New Roman"/>
                <a:ea typeface="Times New Roman"/>
                <a:cs typeface="Times New Roman"/>
                <a:sym typeface="Times New Roman"/>
              </a:defRPr>
            </a:pPr>
            <a:endParaRPr/>
          </a:p>
          <a:p>
            <a:pPr marL="0" indent="0" algn="just" defTabSz="12700">
              <a:lnSpc>
                <a:spcPct val="100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200">
                <a:solidFill>
                  <a:srgbClr val="111111"/>
                </a:solidFill>
                <a:latin typeface="Times New Roman"/>
                <a:ea typeface="Times New Roman"/>
                <a:cs typeface="Times New Roman"/>
                <a:sym typeface="Times New Roman"/>
              </a:defRPr>
            </a:pPr>
            <a:endParaRPr/>
          </a:p>
          <a:p>
            <a:pPr marL="0" indent="0" algn="just" defTabSz="12700">
              <a:lnSpc>
                <a:spcPct val="100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200" b="1">
                <a:solidFill>
                  <a:srgbClr val="111111"/>
                </a:solidFill>
                <a:latin typeface="Times New Roman"/>
                <a:ea typeface="Times New Roman"/>
                <a:cs typeface="Times New Roman"/>
                <a:sym typeface="Times New Roman"/>
              </a:defRPr>
            </a:pPr>
            <a:r>
              <a:t>Dataset Categories</a:t>
            </a:r>
          </a:p>
          <a:p>
            <a:pPr marL="0" indent="0" algn="just" defTabSz="12700">
              <a:lnSpc>
                <a:spcPct val="100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200">
                <a:solidFill>
                  <a:srgbClr val="111111"/>
                </a:solidFill>
                <a:latin typeface="Times New Roman"/>
                <a:ea typeface="Times New Roman"/>
                <a:cs typeface="Times New Roman"/>
                <a:sym typeface="Times New Roman"/>
              </a:defRPr>
            </a:pPr>
            <a:r>
              <a:t>1 Mental health behavioral indicators</a:t>
            </a:r>
          </a:p>
          <a:p>
            <a:pPr marL="0" indent="0" algn="just" defTabSz="12700">
              <a:lnSpc>
                <a:spcPct val="100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200">
                <a:solidFill>
                  <a:srgbClr val="111111"/>
                </a:solidFill>
                <a:latin typeface="Times New Roman"/>
                <a:ea typeface="Times New Roman"/>
                <a:cs typeface="Times New Roman"/>
                <a:sym typeface="Times New Roman"/>
              </a:defRPr>
            </a:pPr>
            <a:r>
              <a:t>2 Lifestyle and sleep patterns</a:t>
            </a:r>
          </a:p>
          <a:p>
            <a:pPr marL="0" indent="0" algn="just" defTabSz="12700">
              <a:lnSpc>
                <a:spcPct val="100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200">
                <a:solidFill>
                  <a:srgbClr val="111111"/>
                </a:solidFill>
                <a:latin typeface="Times New Roman"/>
                <a:ea typeface="Times New Roman"/>
                <a:cs typeface="Times New Roman"/>
                <a:sym typeface="Times New Roman"/>
              </a:defRPr>
            </a:pPr>
            <a:r>
              <a:t>3 Menstrual cycle related variables</a:t>
            </a:r>
          </a:p>
          <a:p>
            <a:pPr marL="0" indent="0" algn="just" defTabSz="12700">
              <a:lnSpc>
                <a:spcPct val="100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200">
                <a:solidFill>
                  <a:srgbClr val="111111"/>
                </a:solidFill>
                <a:latin typeface="Times New Roman"/>
                <a:ea typeface="Times New Roman"/>
                <a:cs typeface="Times New Roman"/>
                <a:sym typeface="Times New Roman"/>
              </a:defRPr>
            </a:pPr>
            <a:endParaRPr/>
          </a:p>
          <a:p>
            <a:pPr marL="0" indent="0" algn="just" defTabSz="12700">
              <a:lnSpc>
                <a:spcPct val="100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200">
                <a:solidFill>
                  <a:srgbClr val="111111"/>
                </a:solidFill>
                <a:latin typeface="Times New Roman"/>
                <a:ea typeface="Times New Roman"/>
                <a:cs typeface="Times New Roman"/>
                <a:sym typeface="Times New Roman"/>
              </a:defRPr>
            </a:pPr>
            <a:endParaRPr/>
          </a:p>
          <a:p>
            <a:pPr marL="0" indent="0" algn="just" defTabSz="12700">
              <a:lnSpc>
                <a:spcPct val="100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200" b="1">
                <a:solidFill>
                  <a:srgbClr val="111111"/>
                </a:solidFill>
                <a:latin typeface="Times New Roman"/>
                <a:ea typeface="Times New Roman"/>
                <a:cs typeface="Times New Roman"/>
                <a:sym typeface="Times New Roman"/>
              </a:defRPr>
            </a:pPr>
            <a:r>
              <a:t>Key Variables</a:t>
            </a:r>
          </a:p>
          <a:p>
            <a:pPr marL="0" indent="0" algn="just" defTabSz="12700">
              <a:lnSpc>
                <a:spcPct val="100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200">
                <a:solidFill>
                  <a:srgbClr val="111111"/>
                </a:solidFill>
                <a:latin typeface="Times New Roman"/>
                <a:ea typeface="Times New Roman"/>
                <a:cs typeface="Times New Roman"/>
                <a:sym typeface="Times New Roman"/>
              </a:defRPr>
            </a:pPr>
            <a:r>
              <a:t>• mood score</a:t>
            </a:r>
          </a:p>
          <a:p>
            <a:pPr marL="0" indent="0" algn="just" defTabSz="12700">
              <a:lnSpc>
                <a:spcPct val="100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200">
                <a:solidFill>
                  <a:srgbClr val="111111"/>
                </a:solidFill>
                <a:latin typeface="Times New Roman"/>
                <a:ea typeface="Times New Roman"/>
                <a:cs typeface="Times New Roman"/>
                <a:sym typeface="Times New Roman"/>
              </a:defRPr>
            </a:pPr>
            <a:r>
              <a:t>• perceived stress level</a:t>
            </a:r>
          </a:p>
          <a:p>
            <a:pPr marL="0" indent="0" algn="just" defTabSz="12700">
              <a:lnSpc>
                <a:spcPct val="100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200">
                <a:solidFill>
                  <a:srgbClr val="111111"/>
                </a:solidFill>
                <a:latin typeface="Times New Roman"/>
                <a:ea typeface="Times New Roman"/>
                <a:cs typeface="Times New Roman"/>
                <a:sym typeface="Times New Roman"/>
              </a:defRPr>
            </a:pPr>
            <a:r>
              <a:t>• sleep duration</a:t>
            </a:r>
          </a:p>
          <a:p>
            <a:pPr marL="0" indent="0" algn="just" defTabSz="12700">
              <a:lnSpc>
                <a:spcPct val="100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200">
                <a:solidFill>
                  <a:srgbClr val="111111"/>
                </a:solidFill>
                <a:latin typeface="Times New Roman"/>
                <a:ea typeface="Times New Roman"/>
                <a:cs typeface="Times New Roman"/>
                <a:sym typeface="Times New Roman"/>
              </a:defRPr>
            </a:pPr>
            <a:r>
              <a:t>• physical activity level</a:t>
            </a:r>
          </a:p>
          <a:p>
            <a:pPr marL="0" indent="0" algn="just" defTabSz="12700">
              <a:lnSpc>
                <a:spcPct val="100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200">
                <a:solidFill>
                  <a:srgbClr val="111111"/>
                </a:solidFill>
                <a:latin typeface="Times New Roman"/>
                <a:ea typeface="Times New Roman"/>
                <a:cs typeface="Times New Roman"/>
                <a:sym typeface="Times New Roman"/>
              </a:defRPr>
            </a:pPr>
            <a:r>
              <a:t>• cycle phase indicator</a:t>
            </a:r>
          </a:p>
          <a:p>
            <a:pPr marL="0" indent="0" algn="just" defTabSz="12700">
              <a:lnSpc>
                <a:spcPct val="100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200">
                <a:solidFill>
                  <a:srgbClr val="111111"/>
                </a:solidFill>
                <a:latin typeface="Times New Roman"/>
                <a:ea typeface="Times New Roman"/>
                <a:cs typeface="Times New Roman"/>
                <a:sym typeface="Times New Roman"/>
              </a:defRPr>
            </a:pPr>
            <a:endParaRPr/>
          </a:p>
          <a:p>
            <a:pPr marL="0" indent="0" algn="just" defTabSz="12700">
              <a:lnSpc>
                <a:spcPct val="100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200">
                <a:solidFill>
                  <a:srgbClr val="111111"/>
                </a:solidFill>
                <a:latin typeface="Times New Roman"/>
                <a:ea typeface="Times New Roman"/>
                <a:cs typeface="Times New Roman"/>
                <a:sym typeface="Times New Roman"/>
              </a:defRPr>
            </a:pPr>
            <a:r>
              <a:t>These variables are merged into a unified day-level dataset.</a:t>
            </a:r>
          </a:p>
        </p:txBody>
      </p:sp>
    </p:spTree>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 name="Data Preprocessing"/>
          <p:cNvSpPr txBox="1">
            <a:spLocks noGrp="1"/>
          </p:cNvSpPr>
          <p:nvPr>
            <p:ph type="title"/>
          </p:nvPr>
        </p:nvSpPr>
        <p:spPr>
          <a:prstGeom prst="rect">
            <a:avLst/>
          </a:prstGeom>
        </p:spPr>
        <p:txBody>
          <a:bodyPr/>
          <a:lstStyle/>
          <a:p>
            <a:r>
              <a:t>Data Preprocessing </a:t>
            </a:r>
          </a:p>
        </p:txBody>
      </p:sp>
      <p:sp>
        <p:nvSpPr>
          <p:cNvPr id="219" name="Before model training, several preprocessing steps are applied.…"/>
          <p:cNvSpPr txBox="1">
            <a:spLocks noGrp="1"/>
          </p:cNvSpPr>
          <p:nvPr>
            <p:ph type="body" idx="1"/>
          </p:nvPr>
        </p:nvSpPr>
        <p:spPr>
          <a:prstGeom prst="rect">
            <a:avLst/>
          </a:prstGeom>
        </p:spPr>
        <p:txBody>
          <a:bodyPr/>
          <a:lstStyle/>
          <a:p>
            <a:pPr marL="0" indent="0" defTabSz="12700">
              <a:lnSpc>
                <a:spcPct val="135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800">
                <a:solidFill>
                  <a:srgbClr val="111111"/>
                </a:solidFill>
                <a:latin typeface="Times New Roman"/>
                <a:ea typeface="Times New Roman"/>
                <a:cs typeface="Times New Roman"/>
                <a:sym typeface="Times New Roman"/>
              </a:defRPr>
            </a:pPr>
            <a:r>
              <a:t>Before model training, several preprocessing steps are applied.</a:t>
            </a:r>
          </a:p>
          <a:p>
            <a:pPr marL="0" indent="0" defTabSz="12700">
              <a:lnSpc>
                <a:spcPct val="135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800">
                <a:solidFill>
                  <a:srgbClr val="111111"/>
                </a:solidFill>
                <a:latin typeface="Times New Roman"/>
                <a:ea typeface="Times New Roman"/>
                <a:cs typeface="Times New Roman"/>
                <a:sym typeface="Times New Roman"/>
              </a:defRPr>
            </a:pPr>
            <a:endParaRPr/>
          </a:p>
          <a:p>
            <a:pPr marL="0" indent="0" defTabSz="12700">
              <a:lnSpc>
                <a:spcPct val="135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800" b="1">
                <a:solidFill>
                  <a:srgbClr val="111111"/>
                </a:solidFill>
                <a:latin typeface="Times New Roman"/>
                <a:ea typeface="Times New Roman"/>
                <a:cs typeface="Times New Roman"/>
                <a:sym typeface="Times New Roman"/>
              </a:defRPr>
            </a:pPr>
            <a:r>
              <a:t>Processing Steps</a:t>
            </a:r>
            <a:endParaRPr b="0"/>
          </a:p>
          <a:p>
            <a:pPr marL="0" indent="0" defTabSz="12700">
              <a:lnSpc>
                <a:spcPct val="135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800">
                <a:solidFill>
                  <a:srgbClr val="111111"/>
                </a:solidFill>
                <a:latin typeface="Times New Roman"/>
                <a:ea typeface="Times New Roman"/>
                <a:cs typeface="Times New Roman"/>
                <a:sym typeface="Times New Roman"/>
              </a:defRPr>
            </a:pPr>
            <a:endParaRPr b="0"/>
          </a:p>
          <a:p>
            <a:pPr marL="0" indent="0" defTabSz="12700">
              <a:lnSpc>
                <a:spcPct val="135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800">
                <a:solidFill>
                  <a:srgbClr val="111111"/>
                </a:solidFill>
                <a:latin typeface="Times New Roman"/>
                <a:ea typeface="Times New Roman"/>
                <a:cs typeface="Times New Roman"/>
                <a:sym typeface="Times New Roman"/>
              </a:defRPr>
            </a:pPr>
            <a:r>
              <a:t>• missing value handling</a:t>
            </a:r>
          </a:p>
          <a:p>
            <a:pPr marL="0" indent="0" defTabSz="12700">
              <a:lnSpc>
                <a:spcPct val="135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800">
                <a:solidFill>
                  <a:srgbClr val="111111"/>
                </a:solidFill>
                <a:latin typeface="Times New Roman"/>
                <a:ea typeface="Times New Roman"/>
                <a:cs typeface="Times New Roman"/>
                <a:sym typeface="Times New Roman"/>
              </a:defRPr>
            </a:pPr>
            <a:r>
              <a:t>• normalization of numerical features</a:t>
            </a:r>
          </a:p>
          <a:p>
            <a:pPr marL="0" indent="0" defTabSz="12700">
              <a:lnSpc>
                <a:spcPct val="135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800">
                <a:solidFill>
                  <a:srgbClr val="111111"/>
                </a:solidFill>
                <a:latin typeface="Times New Roman"/>
                <a:ea typeface="Times New Roman"/>
                <a:cs typeface="Times New Roman"/>
                <a:sym typeface="Times New Roman"/>
              </a:defRPr>
            </a:pPr>
            <a:r>
              <a:t>• categorical variable encoding</a:t>
            </a:r>
          </a:p>
          <a:p>
            <a:pPr marL="0" indent="0" defTabSz="12700">
              <a:lnSpc>
                <a:spcPct val="135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800">
                <a:solidFill>
                  <a:srgbClr val="111111"/>
                </a:solidFill>
                <a:latin typeface="Times New Roman"/>
                <a:ea typeface="Times New Roman"/>
                <a:cs typeface="Times New Roman"/>
                <a:sym typeface="Times New Roman"/>
              </a:defRPr>
            </a:pPr>
            <a:r>
              <a:t>• feature scaling</a:t>
            </a:r>
          </a:p>
          <a:p>
            <a:pPr marL="0" indent="0" defTabSz="12700">
              <a:lnSpc>
                <a:spcPct val="135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800">
                <a:solidFill>
                  <a:srgbClr val="111111"/>
                </a:solidFill>
                <a:latin typeface="Times New Roman"/>
                <a:ea typeface="Times New Roman"/>
                <a:cs typeface="Times New Roman"/>
                <a:sym typeface="Times New Roman"/>
              </a:defRPr>
            </a:pPr>
            <a:endParaRPr/>
          </a:p>
          <a:p>
            <a:pPr marL="0" indent="0" defTabSz="12700">
              <a:lnSpc>
                <a:spcPct val="135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800">
                <a:solidFill>
                  <a:srgbClr val="111111"/>
                </a:solidFill>
                <a:latin typeface="Times New Roman"/>
                <a:ea typeface="Times New Roman"/>
                <a:cs typeface="Times New Roman"/>
                <a:sym typeface="Times New Roman"/>
              </a:defRPr>
            </a:pPr>
            <a:r>
              <a:t>These steps ensure that the dataset is suitable for machine learning analysis.</a:t>
            </a:r>
          </a:p>
        </p:txBody>
      </p:sp>
    </p:spTree>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1" name="pasted-movie.png" descr="pasted-movie.png"/>
          <p:cNvPicPr>
            <a:picLocks noChangeAspect="1"/>
          </p:cNvPicPr>
          <p:nvPr/>
        </p:nvPicPr>
        <p:blipFill>
          <a:blip r:embed="rId2"/>
          <a:stretch>
            <a:fillRect/>
          </a:stretch>
        </p:blipFill>
        <p:spPr>
          <a:xfrm>
            <a:off x="181470" y="151920"/>
            <a:ext cx="11767544" cy="3708338"/>
          </a:xfrm>
          <a:prstGeom prst="rect">
            <a:avLst/>
          </a:prstGeom>
          <a:ln w="12700">
            <a:miter lim="400000"/>
          </a:ln>
        </p:spPr>
      </p:pic>
      <p:pic>
        <p:nvPicPr>
          <p:cNvPr id="222" name="pasted-movie.png" descr="pasted-movie.png"/>
          <p:cNvPicPr>
            <a:picLocks noChangeAspect="1"/>
          </p:cNvPicPr>
          <p:nvPr/>
        </p:nvPicPr>
        <p:blipFill>
          <a:blip r:embed="rId3"/>
          <a:stretch>
            <a:fillRect/>
          </a:stretch>
        </p:blipFill>
        <p:spPr>
          <a:xfrm>
            <a:off x="5087754" y="4048602"/>
            <a:ext cx="15060586" cy="4527709"/>
          </a:xfrm>
          <a:prstGeom prst="rect">
            <a:avLst/>
          </a:prstGeom>
          <a:ln w="12700">
            <a:miter lim="400000"/>
          </a:ln>
        </p:spPr>
      </p:pic>
      <p:pic>
        <p:nvPicPr>
          <p:cNvPr id="223" name="pasted-movie.png" descr="pasted-movie.png"/>
          <p:cNvPicPr>
            <a:picLocks noChangeAspect="1"/>
          </p:cNvPicPr>
          <p:nvPr/>
        </p:nvPicPr>
        <p:blipFill>
          <a:blip r:embed="rId4"/>
          <a:stretch>
            <a:fillRect/>
          </a:stretch>
        </p:blipFill>
        <p:spPr>
          <a:xfrm>
            <a:off x="8453233" y="8764655"/>
            <a:ext cx="15806945" cy="4725087"/>
          </a:xfrm>
          <a:prstGeom prst="rect">
            <a:avLst/>
          </a:prstGeom>
          <a:ln w="12700">
            <a:miter lim="400000"/>
          </a:ln>
        </p:spPr>
      </p:pic>
      <p:sp>
        <p:nvSpPr>
          <p:cNvPr id="224" name="depression_database"/>
          <p:cNvSpPr txBox="1"/>
          <p:nvPr/>
        </p:nvSpPr>
        <p:spPr>
          <a:xfrm>
            <a:off x="11850385" y="3648055"/>
            <a:ext cx="2932677" cy="48073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sz="2700">
                <a:latin typeface="Times New Roman"/>
                <a:ea typeface="Times New Roman"/>
                <a:cs typeface="Times New Roman"/>
                <a:sym typeface="Times New Roman"/>
              </a:defRPr>
            </a:lvl1pPr>
          </a:lstStyle>
          <a:p>
            <a:r>
              <a:t>depression_database</a:t>
            </a:r>
          </a:p>
        </p:txBody>
      </p:sp>
    </p:spTree>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 name="Feature Engineering"/>
          <p:cNvSpPr txBox="1">
            <a:spLocks noGrp="1"/>
          </p:cNvSpPr>
          <p:nvPr>
            <p:ph type="title"/>
          </p:nvPr>
        </p:nvSpPr>
        <p:spPr>
          <a:prstGeom prst="rect">
            <a:avLst/>
          </a:prstGeom>
        </p:spPr>
        <p:txBody>
          <a:bodyPr/>
          <a:lstStyle/>
          <a:p>
            <a:r>
              <a:t>Feature Engineering </a:t>
            </a:r>
          </a:p>
        </p:txBody>
      </p:sp>
      <p:sp>
        <p:nvSpPr>
          <p:cNvPr id="227" name="Feature engineering captures relationships between behavioral signals.…"/>
          <p:cNvSpPr txBox="1">
            <a:spLocks noGrp="1"/>
          </p:cNvSpPr>
          <p:nvPr>
            <p:ph type="body" idx="1"/>
          </p:nvPr>
        </p:nvSpPr>
        <p:spPr>
          <a:prstGeom prst="rect">
            <a:avLst/>
          </a:prstGeom>
        </p:spPr>
        <p:txBody>
          <a:bodyPr/>
          <a:lstStyle/>
          <a:p>
            <a:pPr marL="0" indent="0" defTabSz="12700">
              <a:lnSpc>
                <a:spcPct val="135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800">
                <a:solidFill>
                  <a:srgbClr val="111111"/>
                </a:solidFill>
                <a:latin typeface="Times New Roman"/>
                <a:ea typeface="Times New Roman"/>
                <a:cs typeface="Times New Roman"/>
                <a:sym typeface="Times New Roman"/>
              </a:defRPr>
            </a:pPr>
            <a:r>
              <a:t>Feature engineering captures relationships between behavioral signals.</a:t>
            </a:r>
          </a:p>
          <a:p>
            <a:pPr marL="0" indent="0" defTabSz="12700">
              <a:lnSpc>
                <a:spcPct val="135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800">
                <a:solidFill>
                  <a:srgbClr val="111111"/>
                </a:solidFill>
                <a:latin typeface="Times New Roman"/>
                <a:ea typeface="Times New Roman"/>
                <a:cs typeface="Times New Roman"/>
                <a:sym typeface="Times New Roman"/>
              </a:defRPr>
            </a:pPr>
            <a:endParaRPr/>
          </a:p>
          <a:p>
            <a:pPr marL="0" indent="0" defTabSz="12700">
              <a:lnSpc>
                <a:spcPct val="135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800" b="1">
                <a:solidFill>
                  <a:srgbClr val="111111"/>
                </a:solidFill>
                <a:latin typeface="Times New Roman"/>
                <a:ea typeface="Times New Roman"/>
                <a:cs typeface="Times New Roman"/>
                <a:sym typeface="Times New Roman"/>
              </a:defRPr>
            </a:pPr>
            <a:r>
              <a:t>Engineered Features</a:t>
            </a:r>
            <a:r>
              <a:rPr b="0"/>
              <a:t>:</a:t>
            </a:r>
          </a:p>
          <a:p>
            <a:pPr marL="0" indent="0" defTabSz="12700">
              <a:lnSpc>
                <a:spcPct val="135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800">
                <a:solidFill>
                  <a:srgbClr val="111111"/>
                </a:solidFill>
                <a:latin typeface="Times New Roman"/>
                <a:ea typeface="Times New Roman"/>
                <a:cs typeface="Times New Roman"/>
                <a:sym typeface="Times New Roman"/>
              </a:defRPr>
            </a:pPr>
            <a:r>
              <a:t>Stress-Cycle Interaction</a:t>
            </a:r>
          </a:p>
          <a:p>
            <a:pPr marL="0" indent="0" defTabSz="12700">
              <a:lnSpc>
                <a:spcPct val="135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800">
                <a:solidFill>
                  <a:srgbClr val="111111"/>
                </a:solidFill>
                <a:latin typeface="Times New Roman"/>
                <a:ea typeface="Times New Roman"/>
                <a:cs typeface="Times New Roman"/>
                <a:sym typeface="Times New Roman"/>
              </a:defRPr>
            </a:pPr>
            <a:r>
              <a:t>Sleep-Stress Ratio</a:t>
            </a:r>
          </a:p>
          <a:p>
            <a:pPr marL="0" indent="0" defTabSz="12700">
              <a:lnSpc>
                <a:spcPct val="135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800">
                <a:solidFill>
                  <a:srgbClr val="111111"/>
                </a:solidFill>
                <a:latin typeface="Times New Roman"/>
                <a:ea typeface="Times New Roman"/>
                <a:cs typeface="Times New Roman"/>
                <a:sym typeface="Times New Roman"/>
              </a:defRPr>
            </a:pPr>
            <a:r>
              <a:t>Hormone-Stress Interaction</a:t>
            </a:r>
          </a:p>
          <a:p>
            <a:pPr marL="0" indent="0" defTabSz="12700">
              <a:lnSpc>
                <a:spcPct val="135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800">
                <a:solidFill>
                  <a:srgbClr val="111111"/>
                </a:solidFill>
                <a:latin typeface="Times New Roman"/>
                <a:ea typeface="Times New Roman"/>
                <a:cs typeface="Times New Roman"/>
                <a:sym typeface="Times New Roman"/>
              </a:defRPr>
            </a:pPr>
            <a:r>
              <a:t>Stress Squared</a:t>
            </a:r>
          </a:p>
          <a:p>
            <a:pPr marL="0" indent="0" defTabSz="12700">
              <a:lnSpc>
                <a:spcPct val="135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800">
                <a:solidFill>
                  <a:srgbClr val="111111"/>
                </a:solidFill>
                <a:latin typeface="Times New Roman"/>
                <a:ea typeface="Times New Roman"/>
                <a:cs typeface="Times New Roman"/>
                <a:sym typeface="Times New Roman"/>
              </a:defRPr>
            </a:pPr>
            <a:endParaRPr/>
          </a:p>
          <a:p>
            <a:pPr marL="0" indent="0" defTabSz="12700">
              <a:lnSpc>
                <a:spcPct val="135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800">
                <a:solidFill>
                  <a:srgbClr val="111111"/>
                </a:solidFill>
                <a:latin typeface="Times New Roman"/>
                <a:ea typeface="Times New Roman"/>
                <a:cs typeface="Times New Roman"/>
                <a:sym typeface="Times New Roman"/>
              </a:defRPr>
            </a:pPr>
            <a:r>
              <a:t>These features allow machine learning models to capture </a:t>
            </a:r>
            <a:r>
              <a:rPr b="1"/>
              <a:t>nonlinear behavioral relationships</a:t>
            </a:r>
            <a:r>
              <a:t>.</a:t>
            </a:r>
          </a:p>
          <a:p>
            <a:pPr marL="0" indent="0" defTabSz="12700">
              <a:lnSpc>
                <a:spcPct val="135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800">
                <a:solidFill>
                  <a:srgbClr val="111111"/>
                </a:solidFill>
                <a:latin typeface="Times New Roman"/>
                <a:ea typeface="Times New Roman"/>
                <a:cs typeface="Times New Roman"/>
                <a:sym typeface="Times New Roman"/>
              </a:defRPr>
            </a:pPr>
            <a:endParaRPr/>
          </a:p>
          <a:p>
            <a:pPr marL="0" indent="0" algn="ctr" defTabSz="12700">
              <a:lnSpc>
                <a:spcPct val="135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400" b="1">
                <a:solidFill>
                  <a:srgbClr val="111111"/>
                </a:solidFill>
                <a:latin typeface="Times New Roman"/>
                <a:ea typeface="Times New Roman"/>
                <a:cs typeface="Times New Roman"/>
                <a:sym typeface="Times New Roman"/>
              </a:defRPr>
            </a:pPr>
            <a:r>
              <a:t>SleepStressRatio = SleepDuration / (StressLevel + 1)</a:t>
            </a:r>
          </a:p>
        </p:txBody>
      </p:sp>
    </p:spTree>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 name="Exploratory Data Analysis"/>
          <p:cNvSpPr txBox="1">
            <a:spLocks noGrp="1"/>
          </p:cNvSpPr>
          <p:nvPr>
            <p:ph type="title"/>
          </p:nvPr>
        </p:nvSpPr>
        <p:spPr>
          <a:prstGeom prst="rect">
            <a:avLst/>
          </a:prstGeom>
        </p:spPr>
        <p:txBody>
          <a:bodyPr/>
          <a:lstStyle/>
          <a:p>
            <a:r>
              <a:t>Exploratory Data Analysis</a:t>
            </a:r>
          </a:p>
        </p:txBody>
      </p:sp>
      <p:sp>
        <p:nvSpPr>
          <p:cNvPr id="230" name="This graph shows the average mood score across different days of the menstrual cycle.…"/>
          <p:cNvSpPr txBox="1">
            <a:spLocks noGrp="1"/>
          </p:cNvSpPr>
          <p:nvPr>
            <p:ph type="body" sz="half" idx="1"/>
          </p:nvPr>
        </p:nvSpPr>
        <p:spPr>
          <a:xfrm>
            <a:off x="1219200" y="3796396"/>
            <a:ext cx="10756621" cy="8700404"/>
          </a:xfrm>
          <a:prstGeom prst="rect">
            <a:avLst/>
          </a:prstGeom>
        </p:spPr>
        <p:txBody>
          <a:bodyPr/>
          <a:lstStyle/>
          <a:p>
            <a:pPr marL="0" indent="0" defTabSz="914400">
              <a:lnSpc>
                <a:spcPct val="135000"/>
              </a:lnSpc>
              <a:spcBef>
                <a:spcPts val="0"/>
              </a:spcBef>
              <a:buSzTx/>
              <a:buNone/>
              <a:tabLst>
                <a:tab pos="292100" algn="l"/>
                <a:tab pos="596900" algn="l"/>
                <a:tab pos="889000" algn="l"/>
                <a:tab pos="1193800" algn="l"/>
                <a:tab pos="1485900" algn="l"/>
                <a:tab pos="1790700" algn="l"/>
                <a:tab pos="2082800" algn="l"/>
                <a:tab pos="2387600" algn="l"/>
                <a:tab pos="2679700" algn="l"/>
                <a:tab pos="2984500" algn="l"/>
                <a:tab pos="3276600" algn="l"/>
                <a:tab pos="3581400" algn="l"/>
              </a:tabLst>
              <a:defRPr sz="3443">
                <a:solidFill>
                  <a:srgbClr val="111111"/>
                </a:solidFill>
                <a:latin typeface="Times New Roman"/>
                <a:ea typeface="Times New Roman"/>
                <a:cs typeface="Times New Roman"/>
                <a:sym typeface="Times New Roman"/>
              </a:defRPr>
            </a:pPr>
            <a:r>
              <a:t>This graph shows the average mood score across different days of the menstrual cycle.</a:t>
            </a:r>
          </a:p>
          <a:p>
            <a:pPr marL="0" indent="0" defTabSz="914400">
              <a:lnSpc>
                <a:spcPct val="135000"/>
              </a:lnSpc>
              <a:spcBef>
                <a:spcPts val="0"/>
              </a:spcBef>
              <a:buSzTx/>
              <a:buNone/>
              <a:tabLst>
                <a:tab pos="292100" algn="l"/>
                <a:tab pos="596900" algn="l"/>
                <a:tab pos="889000" algn="l"/>
                <a:tab pos="1193800" algn="l"/>
                <a:tab pos="1485900" algn="l"/>
                <a:tab pos="1790700" algn="l"/>
                <a:tab pos="2082800" algn="l"/>
                <a:tab pos="2387600" algn="l"/>
                <a:tab pos="2679700" algn="l"/>
                <a:tab pos="2984500" algn="l"/>
                <a:tab pos="3276600" algn="l"/>
                <a:tab pos="3581400" algn="l"/>
              </a:tabLst>
              <a:defRPr sz="3443">
                <a:solidFill>
                  <a:srgbClr val="111111"/>
                </a:solidFill>
                <a:latin typeface="Times New Roman"/>
                <a:ea typeface="Times New Roman"/>
                <a:cs typeface="Times New Roman"/>
                <a:sym typeface="Times New Roman"/>
              </a:defRPr>
            </a:pPr>
            <a:endParaRPr/>
          </a:p>
          <a:p>
            <a:pPr marL="0" indent="0" defTabSz="914400">
              <a:lnSpc>
                <a:spcPct val="135000"/>
              </a:lnSpc>
              <a:spcBef>
                <a:spcPts val="0"/>
              </a:spcBef>
              <a:buSzTx/>
              <a:buNone/>
              <a:tabLst>
                <a:tab pos="292100" algn="l"/>
                <a:tab pos="596900" algn="l"/>
                <a:tab pos="889000" algn="l"/>
                <a:tab pos="1193800" algn="l"/>
                <a:tab pos="1485900" algn="l"/>
                <a:tab pos="1790700" algn="l"/>
                <a:tab pos="2082800" algn="l"/>
                <a:tab pos="2387600" algn="l"/>
                <a:tab pos="2679700" algn="l"/>
                <a:tab pos="2984500" algn="l"/>
                <a:tab pos="3276600" algn="l"/>
                <a:tab pos="3581400" algn="l"/>
              </a:tabLst>
              <a:defRPr sz="3443">
                <a:solidFill>
                  <a:srgbClr val="111111"/>
                </a:solidFill>
                <a:latin typeface="Times New Roman"/>
                <a:ea typeface="Times New Roman"/>
                <a:cs typeface="Times New Roman"/>
                <a:sym typeface="Times New Roman"/>
              </a:defRPr>
            </a:pPr>
            <a:r>
              <a:t>Observations from the dataset:</a:t>
            </a:r>
          </a:p>
          <a:p>
            <a:pPr marL="0" indent="0" defTabSz="914400">
              <a:lnSpc>
                <a:spcPct val="135000"/>
              </a:lnSpc>
              <a:spcBef>
                <a:spcPts val="0"/>
              </a:spcBef>
              <a:buSzTx/>
              <a:buNone/>
              <a:tabLst>
                <a:tab pos="292100" algn="l"/>
                <a:tab pos="596900" algn="l"/>
                <a:tab pos="889000" algn="l"/>
                <a:tab pos="1193800" algn="l"/>
                <a:tab pos="1485900" algn="l"/>
                <a:tab pos="1790700" algn="l"/>
                <a:tab pos="2082800" algn="l"/>
                <a:tab pos="2387600" algn="l"/>
                <a:tab pos="2679700" algn="l"/>
                <a:tab pos="2984500" algn="l"/>
                <a:tab pos="3276600" algn="l"/>
                <a:tab pos="3581400" algn="l"/>
              </a:tabLst>
              <a:defRPr sz="3443">
                <a:solidFill>
                  <a:srgbClr val="111111"/>
                </a:solidFill>
                <a:latin typeface="Times New Roman"/>
                <a:ea typeface="Times New Roman"/>
                <a:cs typeface="Times New Roman"/>
                <a:sym typeface="Times New Roman"/>
              </a:defRPr>
            </a:pPr>
            <a:endParaRPr/>
          </a:p>
          <a:p>
            <a:pPr marL="0" indent="0" defTabSz="914400">
              <a:lnSpc>
                <a:spcPct val="135000"/>
              </a:lnSpc>
              <a:spcBef>
                <a:spcPts val="0"/>
              </a:spcBef>
              <a:buSzTx/>
              <a:buNone/>
              <a:tabLst>
                <a:tab pos="292100" algn="l"/>
                <a:tab pos="596900" algn="l"/>
                <a:tab pos="889000" algn="l"/>
                <a:tab pos="1193800" algn="l"/>
                <a:tab pos="1485900" algn="l"/>
                <a:tab pos="1790700" algn="l"/>
                <a:tab pos="2082800" algn="l"/>
                <a:tab pos="2387600" algn="l"/>
                <a:tab pos="2679700" algn="l"/>
                <a:tab pos="2984500" algn="l"/>
                <a:tab pos="3276600" algn="l"/>
                <a:tab pos="3581400" algn="l"/>
              </a:tabLst>
              <a:defRPr sz="3443">
                <a:solidFill>
                  <a:srgbClr val="111111"/>
                </a:solidFill>
                <a:latin typeface="Times New Roman"/>
                <a:ea typeface="Times New Roman"/>
                <a:cs typeface="Times New Roman"/>
                <a:sym typeface="Times New Roman"/>
              </a:defRPr>
            </a:pPr>
            <a:r>
              <a:t>• Mood scores increase during early and mid-cycle phases.</a:t>
            </a:r>
          </a:p>
          <a:p>
            <a:pPr marL="0" indent="0" defTabSz="914400">
              <a:lnSpc>
                <a:spcPct val="135000"/>
              </a:lnSpc>
              <a:spcBef>
                <a:spcPts val="0"/>
              </a:spcBef>
              <a:buSzTx/>
              <a:buNone/>
              <a:tabLst>
                <a:tab pos="292100" algn="l"/>
                <a:tab pos="596900" algn="l"/>
                <a:tab pos="889000" algn="l"/>
                <a:tab pos="1193800" algn="l"/>
                <a:tab pos="1485900" algn="l"/>
                <a:tab pos="1790700" algn="l"/>
                <a:tab pos="2082800" algn="l"/>
                <a:tab pos="2387600" algn="l"/>
                <a:tab pos="2679700" algn="l"/>
                <a:tab pos="2984500" algn="l"/>
                <a:tab pos="3276600" algn="l"/>
                <a:tab pos="3581400" algn="l"/>
              </a:tabLst>
              <a:defRPr sz="3443">
                <a:solidFill>
                  <a:srgbClr val="111111"/>
                </a:solidFill>
                <a:latin typeface="Times New Roman"/>
                <a:ea typeface="Times New Roman"/>
                <a:cs typeface="Times New Roman"/>
                <a:sym typeface="Times New Roman"/>
              </a:defRPr>
            </a:pPr>
            <a:r>
              <a:t>• Mood begins to decline during the later cycle days.</a:t>
            </a:r>
          </a:p>
          <a:p>
            <a:pPr marL="0" indent="0" defTabSz="914400">
              <a:lnSpc>
                <a:spcPct val="135000"/>
              </a:lnSpc>
              <a:spcBef>
                <a:spcPts val="0"/>
              </a:spcBef>
              <a:buSzTx/>
              <a:buNone/>
              <a:tabLst>
                <a:tab pos="292100" algn="l"/>
                <a:tab pos="596900" algn="l"/>
                <a:tab pos="889000" algn="l"/>
                <a:tab pos="1193800" algn="l"/>
                <a:tab pos="1485900" algn="l"/>
                <a:tab pos="1790700" algn="l"/>
                <a:tab pos="2082800" algn="l"/>
                <a:tab pos="2387600" algn="l"/>
                <a:tab pos="2679700" algn="l"/>
                <a:tab pos="2984500" algn="l"/>
                <a:tab pos="3276600" algn="l"/>
                <a:tab pos="3581400" algn="l"/>
              </a:tabLst>
              <a:defRPr sz="3443">
                <a:solidFill>
                  <a:srgbClr val="111111"/>
                </a:solidFill>
                <a:latin typeface="Times New Roman"/>
                <a:ea typeface="Times New Roman"/>
                <a:cs typeface="Times New Roman"/>
                <a:sym typeface="Times New Roman"/>
              </a:defRPr>
            </a:pPr>
            <a:r>
              <a:t>• The lowest mood scores occur around days 19–22 of the cycle.</a:t>
            </a:r>
          </a:p>
          <a:p>
            <a:pPr marL="0" indent="0" defTabSz="914400">
              <a:lnSpc>
                <a:spcPct val="135000"/>
              </a:lnSpc>
              <a:spcBef>
                <a:spcPts val="0"/>
              </a:spcBef>
              <a:buSzTx/>
              <a:buNone/>
              <a:tabLst>
                <a:tab pos="292100" algn="l"/>
                <a:tab pos="596900" algn="l"/>
                <a:tab pos="889000" algn="l"/>
                <a:tab pos="1193800" algn="l"/>
                <a:tab pos="1485900" algn="l"/>
                <a:tab pos="1790700" algn="l"/>
                <a:tab pos="2082800" algn="l"/>
                <a:tab pos="2387600" algn="l"/>
                <a:tab pos="2679700" algn="l"/>
                <a:tab pos="2984500" algn="l"/>
                <a:tab pos="3276600" algn="l"/>
                <a:tab pos="3581400" algn="l"/>
              </a:tabLst>
              <a:defRPr sz="3443">
                <a:solidFill>
                  <a:srgbClr val="111111"/>
                </a:solidFill>
                <a:latin typeface="Times New Roman"/>
                <a:ea typeface="Times New Roman"/>
                <a:cs typeface="Times New Roman"/>
                <a:sym typeface="Times New Roman"/>
              </a:defRPr>
            </a:pPr>
            <a:endParaRPr/>
          </a:p>
          <a:p>
            <a:pPr marL="0" indent="0" defTabSz="914400">
              <a:lnSpc>
                <a:spcPct val="135000"/>
              </a:lnSpc>
              <a:spcBef>
                <a:spcPts val="0"/>
              </a:spcBef>
              <a:buSzTx/>
              <a:buNone/>
              <a:tabLst>
                <a:tab pos="292100" algn="l"/>
                <a:tab pos="596900" algn="l"/>
                <a:tab pos="889000" algn="l"/>
                <a:tab pos="1193800" algn="l"/>
                <a:tab pos="1485900" algn="l"/>
                <a:tab pos="1790700" algn="l"/>
                <a:tab pos="2082800" algn="l"/>
                <a:tab pos="2387600" algn="l"/>
                <a:tab pos="2679700" algn="l"/>
                <a:tab pos="2984500" algn="l"/>
                <a:tab pos="3276600" algn="l"/>
                <a:tab pos="3581400" algn="l"/>
              </a:tabLst>
              <a:defRPr sz="3443">
                <a:solidFill>
                  <a:srgbClr val="111111"/>
                </a:solidFill>
                <a:latin typeface="Times New Roman"/>
                <a:ea typeface="Times New Roman"/>
                <a:cs typeface="Times New Roman"/>
                <a:sym typeface="Times New Roman"/>
              </a:defRPr>
            </a:pPr>
            <a:r>
              <a:t>This indicates that emotional wellbeing fluctuates across the menstrual cycle and supports the inclusion of </a:t>
            </a:r>
            <a:r>
              <a:rPr b="1"/>
              <a:t>cycle_day and luteal_flag features</a:t>
            </a:r>
            <a:r>
              <a:t> in the machine learning model.</a:t>
            </a:r>
          </a:p>
        </p:txBody>
      </p:sp>
      <p:sp>
        <p:nvSpPr>
          <p:cNvPr id="231" name="Mood Across Cycle"/>
          <p:cNvSpPr txBox="1">
            <a:spLocks noGrp="1"/>
          </p:cNvSpPr>
          <p:nvPr>
            <p:ph type="body" idx="21"/>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b="1">
                <a:latin typeface="Charter Roman"/>
                <a:ea typeface="Charter Roman"/>
                <a:cs typeface="Charter Roman"/>
                <a:sym typeface="Charter Roman"/>
              </a:defRPr>
            </a:lvl1pPr>
          </a:lstStyle>
          <a:p>
            <a:r>
              <a:t>Mood Across Cycle</a:t>
            </a:r>
          </a:p>
        </p:txBody>
      </p:sp>
      <p:pic>
        <p:nvPicPr>
          <p:cNvPr id="232" name="figure_mood_cycle_day.png" descr="figure_mood_cycle_day.png"/>
          <p:cNvPicPr>
            <a:picLocks noChangeAspect="1"/>
          </p:cNvPicPr>
          <p:nvPr/>
        </p:nvPicPr>
        <p:blipFill>
          <a:blip r:embed="rId2"/>
          <a:stretch>
            <a:fillRect/>
          </a:stretch>
        </p:blipFill>
        <p:spPr>
          <a:xfrm>
            <a:off x="12072352" y="3593506"/>
            <a:ext cx="11772062" cy="9315284"/>
          </a:xfrm>
          <a:prstGeom prst="rect">
            <a:avLst/>
          </a:prstGeom>
          <a:ln w="12700">
            <a:miter lim="400000"/>
          </a:ln>
        </p:spPr>
      </p:pic>
    </p:spTree>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 name="This scatter plot shows the relationship between perceived stress levels and mood score.…"/>
          <p:cNvSpPr txBox="1">
            <a:spLocks noGrp="1"/>
          </p:cNvSpPr>
          <p:nvPr>
            <p:ph type="body" sz="half" idx="1"/>
          </p:nvPr>
        </p:nvSpPr>
        <p:spPr>
          <a:xfrm>
            <a:off x="1219200" y="4013200"/>
            <a:ext cx="12561632" cy="8483600"/>
          </a:xfrm>
          <a:prstGeom prst="rect">
            <a:avLst/>
          </a:prstGeom>
        </p:spPr>
        <p:txBody>
          <a:bodyPr/>
          <a:lstStyle/>
          <a:p>
            <a:pPr marL="0" indent="0" defTabSz="914400">
              <a:lnSpc>
                <a:spcPct val="135000"/>
              </a:lnSpc>
              <a:spcBef>
                <a:spcPts val="0"/>
              </a:spcBef>
              <a:buSzTx/>
              <a:buNone/>
              <a:tabLst>
                <a:tab pos="317500" algn="l"/>
                <a:tab pos="647700" algn="l"/>
                <a:tab pos="977900" algn="l"/>
                <a:tab pos="1308100" algn="l"/>
                <a:tab pos="1625600" algn="l"/>
                <a:tab pos="1955800" algn="l"/>
                <a:tab pos="2286000" algn="l"/>
                <a:tab pos="2616200" algn="l"/>
                <a:tab pos="2933700" algn="l"/>
                <a:tab pos="3263900" algn="l"/>
                <a:tab pos="3594100" algn="l"/>
                <a:tab pos="3924300" algn="l"/>
              </a:tabLst>
              <a:defRPr sz="3404">
                <a:solidFill>
                  <a:srgbClr val="111111"/>
                </a:solidFill>
                <a:latin typeface="Times New Roman"/>
                <a:ea typeface="Times New Roman"/>
                <a:cs typeface="Times New Roman"/>
                <a:sym typeface="Times New Roman"/>
              </a:defRPr>
            </a:pPr>
            <a:r>
              <a:t>This scatter plot shows the relationship between perceived stress levels and mood score.</a:t>
            </a:r>
          </a:p>
          <a:p>
            <a:pPr marL="0" indent="0" defTabSz="914400">
              <a:lnSpc>
                <a:spcPct val="135000"/>
              </a:lnSpc>
              <a:spcBef>
                <a:spcPts val="0"/>
              </a:spcBef>
              <a:buSzTx/>
              <a:buNone/>
              <a:tabLst>
                <a:tab pos="317500" algn="l"/>
                <a:tab pos="647700" algn="l"/>
                <a:tab pos="977900" algn="l"/>
                <a:tab pos="1308100" algn="l"/>
                <a:tab pos="1625600" algn="l"/>
                <a:tab pos="1955800" algn="l"/>
                <a:tab pos="2286000" algn="l"/>
                <a:tab pos="2616200" algn="l"/>
                <a:tab pos="2933700" algn="l"/>
                <a:tab pos="3263900" algn="l"/>
                <a:tab pos="3594100" algn="l"/>
                <a:tab pos="3924300" algn="l"/>
              </a:tabLst>
              <a:defRPr sz="3404">
                <a:solidFill>
                  <a:srgbClr val="111111"/>
                </a:solidFill>
                <a:latin typeface="Times New Roman"/>
                <a:ea typeface="Times New Roman"/>
                <a:cs typeface="Times New Roman"/>
                <a:sym typeface="Times New Roman"/>
              </a:defRPr>
            </a:pPr>
            <a:endParaRPr/>
          </a:p>
          <a:p>
            <a:pPr marL="0" indent="0" defTabSz="914400">
              <a:lnSpc>
                <a:spcPct val="135000"/>
              </a:lnSpc>
              <a:spcBef>
                <a:spcPts val="0"/>
              </a:spcBef>
              <a:buSzTx/>
              <a:buNone/>
              <a:tabLst>
                <a:tab pos="317500" algn="l"/>
                <a:tab pos="647700" algn="l"/>
                <a:tab pos="977900" algn="l"/>
                <a:tab pos="1308100" algn="l"/>
                <a:tab pos="1625600" algn="l"/>
                <a:tab pos="1955800" algn="l"/>
                <a:tab pos="2286000" algn="l"/>
                <a:tab pos="2616200" algn="l"/>
                <a:tab pos="2933700" algn="l"/>
                <a:tab pos="3263900" algn="l"/>
                <a:tab pos="3594100" algn="l"/>
                <a:tab pos="3924300" algn="l"/>
              </a:tabLst>
              <a:defRPr sz="3404">
                <a:solidFill>
                  <a:srgbClr val="111111"/>
                </a:solidFill>
                <a:latin typeface="Times New Roman"/>
                <a:ea typeface="Times New Roman"/>
                <a:cs typeface="Times New Roman"/>
                <a:sym typeface="Times New Roman"/>
              </a:defRPr>
            </a:pPr>
            <a:r>
              <a:t>Observations:</a:t>
            </a:r>
          </a:p>
          <a:p>
            <a:pPr marL="0" indent="0" defTabSz="914400">
              <a:lnSpc>
                <a:spcPct val="135000"/>
              </a:lnSpc>
              <a:spcBef>
                <a:spcPts val="0"/>
              </a:spcBef>
              <a:buSzTx/>
              <a:buNone/>
              <a:tabLst>
                <a:tab pos="317500" algn="l"/>
                <a:tab pos="647700" algn="l"/>
                <a:tab pos="977900" algn="l"/>
                <a:tab pos="1308100" algn="l"/>
                <a:tab pos="1625600" algn="l"/>
                <a:tab pos="1955800" algn="l"/>
                <a:tab pos="2286000" algn="l"/>
                <a:tab pos="2616200" algn="l"/>
                <a:tab pos="2933700" algn="l"/>
                <a:tab pos="3263900" algn="l"/>
                <a:tab pos="3594100" algn="l"/>
                <a:tab pos="3924300" algn="l"/>
              </a:tabLst>
              <a:defRPr sz="3404">
                <a:solidFill>
                  <a:srgbClr val="111111"/>
                </a:solidFill>
                <a:latin typeface="Times New Roman"/>
                <a:ea typeface="Times New Roman"/>
                <a:cs typeface="Times New Roman"/>
                <a:sym typeface="Times New Roman"/>
              </a:defRPr>
            </a:pPr>
            <a:r>
              <a:t>• Higher stress levels tend to correspond with lower mood scores.</a:t>
            </a:r>
          </a:p>
          <a:p>
            <a:pPr marL="0" indent="0" defTabSz="914400">
              <a:lnSpc>
                <a:spcPct val="135000"/>
              </a:lnSpc>
              <a:spcBef>
                <a:spcPts val="0"/>
              </a:spcBef>
              <a:buSzTx/>
              <a:buNone/>
              <a:tabLst>
                <a:tab pos="317500" algn="l"/>
                <a:tab pos="647700" algn="l"/>
                <a:tab pos="977900" algn="l"/>
                <a:tab pos="1308100" algn="l"/>
                <a:tab pos="1625600" algn="l"/>
                <a:tab pos="1955800" algn="l"/>
                <a:tab pos="2286000" algn="l"/>
                <a:tab pos="2616200" algn="l"/>
                <a:tab pos="2933700" algn="l"/>
                <a:tab pos="3263900" algn="l"/>
                <a:tab pos="3594100" algn="l"/>
                <a:tab pos="3924300" algn="l"/>
              </a:tabLst>
              <a:defRPr sz="3404">
                <a:solidFill>
                  <a:srgbClr val="111111"/>
                </a:solidFill>
                <a:latin typeface="Times New Roman"/>
                <a:ea typeface="Times New Roman"/>
                <a:cs typeface="Times New Roman"/>
                <a:sym typeface="Times New Roman"/>
              </a:defRPr>
            </a:pPr>
            <a:r>
              <a:t>• Mood variability increases when stress level is high.</a:t>
            </a:r>
          </a:p>
          <a:p>
            <a:pPr marL="0" indent="0" defTabSz="914400">
              <a:lnSpc>
                <a:spcPct val="135000"/>
              </a:lnSpc>
              <a:spcBef>
                <a:spcPts val="0"/>
              </a:spcBef>
              <a:buSzTx/>
              <a:buNone/>
              <a:tabLst>
                <a:tab pos="317500" algn="l"/>
                <a:tab pos="647700" algn="l"/>
                <a:tab pos="977900" algn="l"/>
                <a:tab pos="1308100" algn="l"/>
                <a:tab pos="1625600" algn="l"/>
                <a:tab pos="1955800" algn="l"/>
                <a:tab pos="2286000" algn="l"/>
                <a:tab pos="2616200" algn="l"/>
                <a:tab pos="2933700" algn="l"/>
                <a:tab pos="3263900" algn="l"/>
                <a:tab pos="3594100" algn="l"/>
                <a:tab pos="3924300" algn="l"/>
              </a:tabLst>
              <a:defRPr sz="3404">
                <a:solidFill>
                  <a:srgbClr val="111111"/>
                </a:solidFill>
                <a:latin typeface="Times New Roman"/>
                <a:ea typeface="Times New Roman"/>
                <a:cs typeface="Times New Roman"/>
                <a:sym typeface="Times New Roman"/>
              </a:defRPr>
            </a:pPr>
            <a:r>
              <a:t>• Stress is a strong behavioral signal affecting emotional wellbeing.</a:t>
            </a:r>
          </a:p>
          <a:p>
            <a:pPr marL="0" indent="0" defTabSz="914400">
              <a:lnSpc>
                <a:spcPct val="135000"/>
              </a:lnSpc>
              <a:spcBef>
                <a:spcPts val="0"/>
              </a:spcBef>
              <a:buSzTx/>
              <a:buNone/>
              <a:tabLst>
                <a:tab pos="317500" algn="l"/>
                <a:tab pos="647700" algn="l"/>
                <a:tab pos="977900" algn="l"/>
                <a:tab pos="1308100" algn="l"/>
                <a:tab pos="1625600" algn="l"/>
                <a:tab pos="1955800" algn="l"/>
                <a:tab pos="2286000" algn="l"/>
                <a:tab pos="2616200" algn="l"/>
                <a:tab pos="2933700" algn="l"/>
                <a:tab pos="3263900" algn="l"/>
                <a:tab pos="3594100" algn="l"/>
                <a:tab pos="3924300" algn="l"/>
              </a:tabLst>
              <a:defRPr sz="3404">
                <a:solidFill>
                  <a:srgbClr val="111111"/>
                </a:solidFill>
                <a:latin typeface="Times New Roman"/>
                <a:ea typeface="Times New Roman"/>
                <a:cs typeface="Times New Roman"/>
                <a:sym typeface="Times New Roman"/>
              </a:defRPr>
            </a:pPr>
            <a:endParaRPr/>
          </a:p>
          <a:p>
            <a:pPr marL="0" indent="0" defTabSz="914400">
              <a:lnSpc>
                <a:spcPct val="135000"/>
              </a:lnSpc>
              <a:spcBef>
                <a:spcPts val="0"/>
              </a:spcBef>
              <a:buSzTx/>
              <a:buNone/>
              <a:tabLst>
                <a:tab pos="317500" algn="l"/>
                <a:tab pos="647700" algn="l"/>
                <a:tab pos="977900" algn="l"/>
                <a:tab pos="1308100" algn="l"/>
                <a:tab pos="1625600" algn="l"/>
                <a:tab pos="1955800" algn="l"/>
                <a:tab pos="2286000" algn="l"/>
                <a:tab pos="2616200" algn="l"/>
                <a:tab pos="2933700" algn="l"/>
                <a:tab pos="3263900" algn="l"/>
                <a:tab pos="3594100" algn="l"/>
                <a:tab pos="3924300" algn="l"/>
              </a:tabLst>
              <a:defRPr sz="3404">
                <a:solidFill>
                  <a:srgbClr val="111111"/>
                </a:solidFill>
                <a:latin typeface="Times New Roman"/>
                <a:ea typeface="Times New Roman"/>
                <a:cs typeface="Times New Roman"/>
                <a:sym typeface="Times New Roman"/>
              </a:defRPr>
            </a:pPr>
            <a:r>
              <a:t>This supports the use of:</a:t>
            </a:r>
          </a:p>
          <a:p>
            <a:pPr marL="0" indent="0" defTabSz="914400">
              <a:lnSpc>
                <a:spcPct val="135000"/>
              </a:lnSpc>
              <a:spcBef>
                <a:spcPts val="0"/>
              </a:spcBef>
              <a:buSzTx/>
              <a:buNone/>
              <a:tabLst>
                <a:tab pos="317500" algn="l"/>
                <a:tab pos="647700" algn="l"/>
                <a:tab pos="977900" algn="l"/>
                <a:tab pos="1308100" algn="l"/>
                <a:tab pos="1625600" algn="l"/>
                <a:tab pos="1955800" algn="l"/>
                <a:tab pos="2286000" algn="l"/>
                <a:tab pos="2616200" algn="l"/>
                <a:tab pos="2933700" algn="l"/>
                <a:tab pos="3263900" algn="l"/>
                <a:tab pos="3594100" algn="l"/>
                <a:tab pos="3924300" algn="l"/>
              </a:tabLst>
              <a:defRPr sz="3404">
                <a:solidFill>
                  <a:srgbClr val="111111"/>
                </a:solidFill>
                <a:latin typeface="Times New Roman"/>
                <a:ea typeface="Times New Roman"/>
                <a:cs typeface="Times New Roman"/>
                <a:sym typeface="Times New Roman"/>
              </a:defRPr>
            </a:pPr>
            <a:r>
              <a:t>• stress_level</a:t>
            </a:r>
          </a:p>
          <a:p>
            <a:pPr marL="0" indent="0" defTabSz="914400">
              <a:lnSpc>
                <a:spcPct val="135000"/>
              </a:lnSpc>
              <a:spcBef>
                <a:spcPts val="0"/>
              </a:spcBef>
              <a:buSzTx/>
              <a:buNone/>
              <a:tabLst>
                <a:tab pos="317500" algn="l"/>
                <a:tab pos="647700" algn="l"/>
                <a:tab pos="977900" algn="l"/>
                <a:tab pos="1308100" algn="l"/>
                <a:tab pos="1625600" algn="l"/>
                <a:tab pos="1955800" algn="l"/>
                <a:tab pos="2286000" algn="l"/>
                <a:tab pos="2616200" algn="l"/>
                <a:tab pos="2933700" algn="l"/>
                <a:tab pos="3263900" algn="l"/>
                <a:tab pos="3594100" algn="l"/>
                <a:tab pos="3924300" algn="l"/>
              </a:tabLst>
              <a:defRPr sz="3404">
                <a:solidFill>
                  <a:srgbClr val="111111"/>
                </a:solidFill>
                <a:latin typeface="Times New Roman"/>
                <a:ea typeface="Times New Roman"/>
                <a:cs typeface="Times New Roman"/>
                <a:sym typeface="Times New Roman"/>
              </a:defRPr>
            </a:pPr>
            <a:r>
              <a:t>• stress_squared</a:t>
            </a:r>
          </a:p>
          <a:p>
            <a:pPr marL="0" indent="0" defTabSz="914400">
              <a:lnSpc>
                <a:spcPct val="135000"/>
              </a:lnSpc>
              <a:spcBef>
                <a:spcPts val="0"/>
              </a:spcBef>
              <a:buSzTx/>
              <a:buNone/>
              <a:tabLst>
                <a:tab pos="317500" algn="l"/>
                <a:tab pos="647700" algn="l"/>
                <a:tab pos="977900" algn="l"/>
                <a:tab pos="1308100" algn="l"/>
                <a:tab pos="1625600" algn="l"/>
                <a:tab pos="1955800" algn="l"/>
                <a:tab pos="2286000" algn="l"/>
                <a:tab pos="2616200" algn="l"/>
                <a:tab pos="2933700" algn="l"/>
                <a:tab pos="3263900" algn="l"/>
                <a:tab pos="3594100" algn="l"/>
                <a:tab pos="3924300" algn="l"/>
              </a:tabLst>
              <a:defRPr sz="3404">
                <a:solidFill>
                  <a:srgbClr val="111111"/>
                </a:solidFill>
                <a:latin typeface="Times New Roman"/>
                <a:ea typeface="Times New Roman"/>
                <a:cs typeface="Times New Roman"/>
                <a:sym typeface="Times New Roman"/>
              </a:defRPr>
            </a:pPr>
            <a:r>
              <a:t>• stress_cycle_interaction</a:t>
            </a:r>
          </a:p>
          <a:p>
            <a:pPr marL="0" indent="0" defTabSz="914400">
              <a:lnSpc>
                <a:spcPct val="135000"/>
              </a:lnSpc>
              <a:spcBef>
                <a:spcPts val="0"/>
              </a:spcBef>
              <a:buSzTx/>
              <a:buNone/>
              <a:tabLst>
                <a:tab pos="317500" algn="l"/>
                <a:tab pos="647700" algn="l"/>
                <a:tab pos="977900" algn="l"/>
                <a:tab pos="1308100" algn="l"/>
                <a:tab pos="1625600" algn="l"/>
                <a:tab pos="1955800" algn="l"/>
                <a:tab pos="2286000" algn="l"/>
                <a:tab pos="2616200" algn="l"/>
                <a:tab pos="2933700" algn="l"/>
                <a:tab pos="3263900" algn="l"/>
                <a:tab pos="3594100" algn="l"/>
                <a:tab pos="3924300" algn="l"/>
              </a:tabLst>
              <a:defRPr sz="3404">
                <a:solidFill>
                  <a:srgbClr val="111111"/>
                </a:solidFill>
                <a:latin typeface="Times New Roman"/>
                <a:ea typeface="Times New Roman"/>
                <a:cs typeface="Times New Roman"/>
                <a:sym typeface="Times New Roman"/>
              </a:defRPr>
            </a:pPr>
            <a:r>
              <a:t>as predictive features.</a:t>
            </a:r>
          </a:p>
        </p:txBody>
      </p:sp>
      <p:sp>
        <p:nvSpPr>
          <p:cNvPr id="235" name="Relationship Between Stress and Mood"/>
          <p:cNvSpPr txBox="1">
            <a:spLocks noGrp="1"/>
          </p:cNvSpPr>
          <p:nvPr>
            <p:ph type="body" idx="21"/>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b="1">
                <a:latin typeface="Charter Roman"/>
                <a:ea typeface="Charter Roman"/>
                <a:cs typeface="Charter Roman"/>
                <a:sym typeface="Charter Roman"/>
              </a:defRPr>
            </a:lvl1pPr>
          </a:lstStyle>
          <a:p>
            <a:r>
              <a:t>Relationship Between Stress and Mood</a:t>
            </a:r>
          </a:p>
        </p:txBody>
      </p:sp>
      <p:pic>
        <p:nvPicPr>
          <p:cNvPr id="236" name="figure_stress_vs_mood.png" descr="figure_stress_vs_mood.png"/>
          <p:cNvPicPr>
            <a:picLocks noChangeAspect="1"/>
          </p:cNvPicPr>
          <p:nvPr/>
        </p:nvPicPr>
        <p:blipFill>
          <a:blip r:embed="rId2"/>
          <a:stretch>
            <a:fillRect/>
          </a:stretch>
        </p:blipFill>
        <p:spPr>
          <a:xfrm>
            <a:off x="13632938" y="3944570"/>
            <a:ext cx="10117474" cy="8118960"/>
          </a:xfrm>
          <a:prstGeom prst="rect">
            <a:avLst/>
          </a:prstGeom>
          <a:ln w="12700">
            <a:miter lim="400000"/>
          </a:ln>
        </p:spPr>
      </p:pic>
    </p:spTree>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 name="This scatter plot illustrates how sleep duration influences mood scores.…"/>
          <p:cNvSpPr txBox="1">
            <a:spLocks noGrp="1"/>
          </p:cNvSpPr>
          <p:nvPr>
            <p:ph type="body" sz="half" idx="1"/>
          </p:nvPr>
        </p:nvSpPr>
        <p:spPr>
          <a:xfrm>
            <a:off x="1219200" y="4013200"/>
            <a:ext cx="12561632" cy="8483600"/>
          </a:xfrm>
          <a:prstGeom prst="rect">
            <a:avLst/>
          </a:prstGeom>
        </p:spPr>
        <p:txBody>
          <a:bodyPr/>
          <a:lstStyle/>
          <a:p>
            <a:pPr marL="0" indent="0" defTabSz="914400">
              <a:lnSpc>
                <a:spcPct val="135000"/>
              </a:lnSpc>
              <a:spcBef>
                <a:spcPts val="0"/>
              </a:spcBef>
              <a:buSzTx/>
              <a:buNone/>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sz="3600">
                <a:solidFill>
                  <a:srgbClr val="111111"/>
                </a:solidFill>
                <a:latin typeface="Times New Roman"/>
                <a:ea typeface="Times New Roman"/>
                <a:cs typeface="Times New Roman"/>
                <a:sym typeface="Times New Roman"/>
              </a:defRPr>
            </a:pPr>
            <a:r>
              <a:t>This scatter plot illustrates how sleep duration influences mood scores.</a:t>
            </a:r>
          </a:p>
          <a:p>
            <a:pPr marL="0" indent="0" defTabSz="914400">
              <a:lnSpc>
                <a:spcPct val="135000"/>
              </a:lnSpc>
              <a:spcBef>
                <a:spcPts val="0"/>
              </a:spcBef>
              <a:buSzTx/>
              <a:buNone/>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sz="3600">
                <a:solidFill>
                  <a:srgbClr val="111111"/>
                </a:solidFill>
                <a:latin typeface="Times New Roman"/>
                <a:ea typeface="Times New Roman"/>
                <a:cs typeface="Times New Roman"/>
                <a:sym typeface="Times New Roman"/>
              </a:defRPr>
            </a:pPr>
            <a:endParaRPr/>
          </a:p>
          <a:p>
            <a:pPr marL="0" indent="0" defTabSz="914400">
              <a:lnSpc>
                <a:spcPct val="135000"/>
              </a:lnSpc>
              <a:spcBef>
                <a:spcPts val="0"/>
              </a:spcBef>
              <a:buSzTx/>
              <a:buNone/>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sz="3600">
                <a:solidFill>
                  <a:srgbClr val="111111"/>
                </a:solidFill>
                <a:latin typeface="Times New Roman"/>
                <a:ea typeface="Times New Roman"/>
                <a:cs typeface="Times New Roman"/>
                <a:sym typeface="Times New Roman"/>
              </a:defRPr>
            </a:pPr>
            <a:r>
              <a:t>Observations:</a:t>
            </a:r>
          </a:p>
          <a:p>
            <a:pPr marL="0" indent="0" defTabSz="914400">
              <a:lnSpc>
                <a:spcPct val="135000"/>
              </a:lnSpc>
              <a:spcBef>
                <a:spcPts val="0"/>
              </a:spcBef>
              <a:buSzTx/>
              <a:buNone/>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sz="3600">
                <a:solidFill>
                  <a:srgbClr val="111111"/>
                </a:solidFill>
                <a:latin typeface="Times New Roman"/>
                <a:ea typeface="Times New Roman"/>
                <a:cs typeface="Times New Roman"/>
                <a:sym typeface="Times New Roman"/>
              </a:defRPr>
            </a:pPr>
            <a:r>
              <a:t>• Higher sleep duration is generally associated with higher mood scores.</a:t>
            </a:r>
          </a:p>
          <a:p>
            <a:pPr marL="0" indent="0" defTabSz="914400">
              <a:lnSpc>
                <a:spcPct val="135000"/>
              </a:lnSpc>
              <a:spcBef>
                <a:spcPts val="0"/>
              </a:spcBef>
              <a:buSzTx/>
              <a:buNone/>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sz="3600">
                <a:solidFill>
                  <a:srgbClr val="111111"/>
                </a:solidFill>
                <a:latin typeface="Times New Roman"/>
                <a:ea typeface="Times New Roman"/>
                <a:cs typeface="Times New Roman"/>
                <a:sym typeface="Times New Roman"/>
              </a:defRPr>
            </a:pPr>
            <a:r>
              <a:t>• Reduced sleep is correlated with lower mood scores.</a:t>
            </a:r>
          </a:p>
          <a:p>
            <a:pPr marL="0" indent="0" defTabSz="914400">
              <a:lnSpc>
                <a:spcPct val="135000"/>
              </a:lnSpc>
              <a:spcBef>
                <a:spcPts val="0"/>
              </a:spcBef>
              <a:buSzTx/>
              <a:buNone/>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sz="3600">
                <a:solidFill>
                  <a:srgbClr val="111111"/>
                </a:solidFill>
                <a:latin typeface="Times New Roman"/>
                <a:ea typeface="Times New Roman"/>
                <a:cs typeface="Times New Roman"/>
                <a:sym typeface="Times New Roman"/>
              </a:defRPr>
            </a:pPr>
            <a:r>
              <a:t>• Sleep duration acts as a stabilizing factor for emotional wellbeing.</a:t>
            </a:r>
          </a:p>
          <a:p>
            <a:pPr marL="0" indent="0" defTabSz="914400">
              <a:lnSpc>
                <a:spcPct val="135000"/>
              </a:lnSpc>
              <a:spcBef>
                <a:spcPts val="0"/>
              </a:spcBef>
              <a:buSzTx/>
              <a:buNone/>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sz="3600">
                <a:solidFill>
                  <a:srgbClr val="111111"/>
                </a:solidFill>
                <a:latin typeface="Times New Roman"/>
                <a:ea typeface="Times New Roman"/>
                <a:cs typeface="Times New Roman"/>
                <a:sym typeface="Times New Roman"/>
              </a:defRPr>
            </a:pPr>
            <a:endParaRPr/>
          </a:p>
          <a:p>
            <a:pPr marL="0" indent="0" defTabSz="914400">
              <a:lnSpc>
                <a:spcPct val="135000"/>
              </a:lnSpc>
              <a:spcBef>
                <a:spcPts val="0"/>
              </a:spcBef>
              <a:buSzTx/>
              <a:buNone/>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sz="3600">
                <a:solidFill>
                  <a:srgbClr val="111111"/>
                </a:solidFill>
                <a:latin typeface="Times New Roman"/>
                <a:ea typeface="Times New Roman"/>
                <a:cs typeface="Times New Roman"/>
                <a:sym typeface="Times New Roman"/>
              </a:defRPr>
            </a:pPr>
            <a:r>
              <a:t>This relationship is captured in the model through the feature:</a:t>
            </a:r>
          </a:p>
          <a:p>
            <a:pPr marL="0" indent="0" defTabSz="914400">
              <a:lnSpc>
                <a:spcPct val="135000"/>
              </a:lnSpc>
              <a:spcBef>
                <a:spcPts val="0"/>
              </a:spcBef>
              <a:buSzTx/>
              <a:buNone/>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sz="3600" b="1">
                <a:solidFill>
                  <a:srgbClr val="111111"/>
                </a:solidFill>
                <a:latin typeface="Times New Roman"/>
                <a:ea typeface="Times New Roman"/>
                <a:cs typeface="Times New Roman"/>
                <a:sym typeface="Times New Roman"/>
              </a:defRPr>
            </a:pPr>
            <a:r>
              <a:t>sleep_stress_ratio</a:t>
            </a:r>
            <a:endParaRPr b="0"/>
          </a:p>
        </p:txBody>
      </p:sp>
      <p:sp>
        <p:nvSpPr>
          <p:cNvPr id="239" name="Relationship Between Sleep Duration and Mood"/>
          <p:cNvSpPr txBox="1">
            <a:spLocks noGrp="1"/>
          </p:cNvSpPr>
          <p:nvPr>
            <p:ph type="body" idx="21"/>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b="1">
                <a:latin typeface="Charter Roman"/>
                <a:ea typeface="Charter Roman"/>
                <a:cs typeface="Charter Roman"/>
                <a:sym typeface="Charter Roman"/>
              </a:defRPr>
            </a:lvl1pPr>
          </a:lstStyle>
          <a:p>
            <a:r>
              <a:t>Relationship Between Sleep Duration and Mood</a:t>
            </a:r>
          </a:p>
        </p:txBody>
      </p:sp>
      <p:pic>
        <p:nvPicPr>
          <p:cNvPr id="240" name="figure_sleep_vs_mood.png" descr="figure_sleep_vs_mood.png"/>
          <p:cNvPicPr>
            <a:picLocks noChangeAspect="1"/>
          </p:cNvPicPr>
          <p:nvPr/>
        </p:nvPicPr>
        <p:blipFill>
          <a:blip r:embed="rId2"/>
          <a:stretch>
            <a:fillRect/>
          </a:stretch>
        </p:blipFill>
        <p:spPr>
          <a:xfrm>
            <a:off x="13331993" y="4013200"/>
            <a:ext cx="10571872" cy="8483600"/>
          </a:xfrm>
          <a:prstGeom prst="rect">
            <a:avLst/>
          </a:prstGeom>
          <a:ln w="12700">
            <a:miter lim="400000"/>
          </a:ln>
        </p:spPr>
      </p:pic>
    </p:spTree>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 name="This chart shows the distribution of observations across menstrual cycle phases.…"/>
          <p:cNvSpPr txBox="1">
            <a:spLocks noGrp="1"/>
          </p:cNvSpPr>
          <p:nvPr>
            <p:ph type="body" sz="half" idx="1"/>
          </p:nvPr>
        </p:nvSpPr>
        <p:spPr>
          <a:xfrm>
            <a:off x="1219200" y="4013200"/>
            <a:ext cx="12561632" cy="8483600"/>
          </a:xfrm>
          <a:prstGeom prst="rect">
            <a:avLst/>
          </a:prstGeom>
        </p:spPr>
        <p:txBody>
          <a:bodyPr/>
          <a:lstStyle/>
          <a:p>
            <a:pPr marL="0" indent="0" defTabSz="12700">
              <a:lnSpc>
                <a:spcPct val="135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600">
                <a:solidFill>
                  <a:srgbClr val="111111"/>
                </a:solidFill>
                <a:latin typeface="Times New Roman"/>
                <a:ea typeface="Times New Roman"/>
                <a:cs typeface="Times New Roman"/>
                <a:sym typeface="Times New Roman"/>
              </a:defRPr>
            </a:pPr>
            <a:r>
              <a:t>This chart shows the distribution of observations across menstrual cycle phases.</a:t>
            </a:r>
          </a:p>
          <a:p>
            <a:pPr marL="0" indent="0" defTabSz="12700">
              <a:lnSpc>
                <a:spcPct val="135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600">
                <a:solidFill>
                  <a:srgbClr val="111111"/>
                </a:solidFill>
                <a:latin typeface="Times New Roman"/>
                <a:ea typeface="Times New Roman"/>
                <a:cs typeface="Times New Roman"/>
                <a:sym typeface="Times New Roman"/>
              </a:defRPr>
            </a:pPr>
            <a:endParaRPr/>
          </a:p>
          <a:p>
            <a:pPr marL="0" indent="0" defTabSz="12700">
              <a:lnSpc>
                <a:spcPct val="135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600">
                <a:solidFill>
                  <a:srgbClr val="111111"/>
                </a:solidFill>
                <a:latin typeface="Times New Roman"/>
                <a:ea typeface="Times New Roman"/>
                <a:cs typeface="Times New Roman"/>
                <a:sym typeface="Times New Roman"/>
              </a:defRPr>
            </a:pPr>
            <a:r>
              <a:t>Dataset observations:</a:t>
            </a:r>
          </a:p>
          <a:p>
            <a:pPr marL="0" indent="0" defTabSz="12700">
              <a:lnSpc>
                <a:spcPct val="135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600">
                <a:solidFill>
                  <a:srgbClr val="111111"/>
                </a:solidFill>
                <a:latin typeface="Times New Roman"/>
                <a:ea typeface="Times New Roman"/>
                <a:cs typeface="Times New Roman"/>
                <a:sym typeface="Times New Roman"/>
              </a:defRPr>
            </a:pPr>
            <a:r>
              <a:t>• Luteal phase has the largest number of observations.</a:t>
            </a:r>
          </a:p>
          <a:p>
            <a:pPr marL="0" indent="0" defTabSz="12700">
              <a:lnSpc>
                <a:spcPct val="135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600">
                <a:solidFill>
                  <a:srgbClr val="111111"/>
                </a:solidFill>
                <a:latin typeface="Times New Roman"/>
                <a:ea typeface="Times New Roman"/>
                <a:cs typeface="Times New Roman"/>
                <a:sym typeface="Times New Roman"/>
              </a:defRPr>
            </a:pPr>
            <a:r>
              <a:t>• Follicular and menstrual phases are moderately represented.</a:t>
            </a:r>
          </a:p>
          <a:p>
            <a:pPr marL="0" indent="0" defTabSz="12700">
              <a:lnSpc>
                <a:spcPct val="135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600">
                <a:solidFill>
                  <a:srgbClr val="111111"/>
                </a:solidFill>
                <a:latin typeface="Times New Roman"/>
                <a:ea typeface="Times New Roman"/>
                <a:cs typeface="Times New Roman"/>
                <a:sym typeface="Times New Roman"/>
              </a:defRPr>
            </a:pPr>
            <a:r>
              <a:t>• Ovulatory phase has the fewest observations due to its shorter duration.</a:t>
            </a:r>
          </a:p>
          <a:p>
            <a:pPr marL="0" indent="0" defTabSz="12700">
              <a:lnSpc>
                <a:spcPct val="135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600">
                <a:solidFill>
                  <a:srgbClr val="111111"/>
                </a:solidFill>
                <a:latin typeface="Times New Roman"/>
                <a:ea typeface="Times New Roman"/>
                <a:cs typeface="Times New Roman"/>
                <a:sym typeface="Times New Roman"/>
              </a:defRPr>
            </a:pPr>
            <a:endParaRPr/>
          </a:p>
          <a:p>
            <a:pPr marL="0" indent="0" defTabSz="12700">
              <a:lnSpc>
                <a:spcPct val="135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600">
                <a:solidFill>
                  <a:srgbClr val="111111"/>
                </a:solidFill>
                <a:latin typeface="Times New Roman"/>
                <a:ea typeface="Times New Roman"/>
                <a:cs typeface="Times New Roman"/>
                <a:sym typeface="Times New Roman"/>
              </a:defRPr>
            </a:pPr>
            <a:r>
              <a:t>Including cycle phase features allows the model to analyze how hormonal cycle stages influence emotional wellbeing.</a:t>
            </a:r>
          </a:p>
        </p:txBody>
      </p:sp>
      <p:sp>
        <p:nvSpPr>
          <p:cNvPr id="243" name="Cycle Phase Distribution in Dataset"/>
          <p:cNvSpPr txBox="1">
            <a:spLocks noGrp="1"/>
          </p:cNvSpPr>
          <p:nvPr>
            <p:ph type="body" idx="21"/>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b="1">
                <a:latin typeface="Charter Roman"/>
                <a:ea typeface="Charter Roman"/>
                <a:cs typeface="Charter Roman"/>
                <a:sym typeface="Charter Roman"/>
              </a:defRPr>
            </a:lvl1pPr>
          </a:lstStyle>
          <a:p>
            <a:r>
              <a:t>Cycle Phase Distribution in Dataset </a:t>
            </a:r>
          </a:p>
        </p:txBody>
      </p:sp>
      <p:pic>
        <p:nvPicPr>
          <p:cNvPr id="244" name="figure_cycle_phase_distribution.png" descr="figure_cycle_phase_distribution.png"/>
          <p:cNvPicPr>
            <a:picLocks noChangeAspect="1"/>
          </p:cNvPicPr>
          <p:nvPr/>
        </p:nvPicPr>
        <p:blipFill>
          <a:blip r:embed="rId2"/>
          <a:stretch>
            <a:fillRect/>
          </a:stretch>
        </p:blipFill>
        <p:spPr>
          <a:xfrm>
            <a:off x="13538297" y="3794602"/>
            <a:ext cx="10125365" cy="8920796"/>
          </a:xfrm>
          <a:prstGeom prst="rect">
            <a:avLst/>
          </a:prstGeom>
          <a:ln w="12700">
            <a:miter lim="400000"/>
          </a:ln>
        </p:spPr>
      </p:pic>
    </p:spTree>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 name="The correlation matrix visualizes relationships between behavioral and physiological variables.…"/>
          <p:cNvSpPr txBox="1">
            <a:spLocks noGrp="1"/>
          </p:cNvSpPr>
          <p:nvPr>
            <p:ph type="body" sz="half" idx="1"/>
          </p:nvPr>
        </p:nvSpPr>
        <p:spPr>
          <a:xfrm>
            <a:off x="1219200" y="4013200"/>
            <a:ext cx="12561632" cy="8483600"/>
          </a:xfrm>
          <a:prstGeom prst="rect">
            <a:avLst/>
          </a:prstGeom>
        </p:spPr>
        <p:txBody>
          <a:bodyPr/>
          <a:lstStyle/>
          <a:p>
            <a:pPr marL="0" indent="0" defTabSz="12700">
              <a:lnSpc>
                <a:spcPct val="135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900">
                <a:solidFill>
                  <a:srgbClr val="111111"/>
                </a:solidFill>
                <a:latin typeface="Times New Roman"/>
                <a:ea typeface="Times New Roman"/>
                <a:cs typeface="Times New Roman"/>
                <a:sym typeface="Times New Roman"/>
              </a:defRPr>
            </a:pPr>
            <a:r>
              <a:t>The correlation matrix visualizes relationships between behavioral and physiological variables.</a:t>
            </a:r>
          </a:p>
          <a:p>
            <a:pPr marL="0" indent="0" defTabSz="12700">
              <a:lnSpc>
                <a:spcPct val="135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900">
                <a:solidFill>
                  <a:srgbClr val="111111"/>
                </a:solidFill>
                <a:latin typeface="Times New Roman"/>
                <a:ea typeface="Times New Roman"/>
                <a:cs typeface="Times New Roman"/>
                <a:sym typeface="Times New Roman"/>
              </a:defRPr>
            </a:pPr>
            <a:endParaRPr/>
          </a:p>
          <a:p>
            <a:pPr marL="0" indent="0" defTabSz="12700">
              <a:lnSpc>
                <a:spcPct val="135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900">
                <a:solidFill>
                  <a:srgbClr val="111111"/>
                </a:solidFill>
                <a:latin typeface="Times New Roman"/>
                <a:ea typeface="Times New Roman"/>
                <a:cs typeface="Times New Roman"/>
                <a:sym typeface="Times New Roman"/>
              </a:defRPr>
            </a:pPr>
            <a:r>
              <a:t>Important relationships observed:</a:t>
            </a:r>
          </a:p>
          <a:p>
            <a:pPr marL="0" indent="0" defTabSz="12700">
              <a:lnSpc>
                <a:spcPct val="135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900">
                <a:solidFill>
                  <a:srgbClr val="111111"/>
                </a:solidFill>
                <a:latin typeface="Times New Roman"/>
                <a:ea typeface="Times New Roman"/>
                <a:cs typeface="Times New Roman"/>
                <a:sym typeface="Times New Roman"/>
              </a:defRPr>
            </a:pPr>
            <a:r>
              <a:t>• mood_score negatively correlates with stress_level</a:t>
            </a:r>
          </a:p>
          <a:p>
            <a:pPr marL="0" indent="0" defTabSz="12700">
              <a:lnSpc>
                <a:spcPct val="135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900">
                <a:solidFill>
                  <a:srgbClr val="111111"/>
                </a:solidFill>
                <a:latin typeface="Times New Roman"/>
                <a:ea typeface="Times New Roman"/>
                <a:cs typeface="Times New Roman"/>
                <a:sym typeface="Times New Roman"/>
              </a:defRPr>
            </a:pPr>
            <a:r>
              <a:t>• sleep_duration positively correlates with wellbeing_score</a:t>
            </a:r>
          </a:p>
          <a:p>
            <a:pPr marL="0" indent="0" defTabSz="12700">
              <a:lnSpc>
                <a:spcPct val="135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900">
                <a:solidFill>
                  <a:srgbClr val="111111"/>
                </a:solidFill>
                <a:latin typeface="Times New Roman"/>
                <a:ea typeface="Times New Roman"/>
                <a:cs typeface="Times New Roman"/>
                <a:sym typeface="Times New Roman"/>
              </a:defRPr>
            </a:pPr>
            <a:r>
              <a:t>• hormone_intensity interacts with cycle_day and stress features</a:t>
            </a:r>
          </a:p>
          <a:p>
            <a:pPr marL="0" indent="0" defTabSz="12700">
              <a:lnSpc>
                <a:spcPct val="135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900">
                <a:solidFill>
                  <a:srgbClr val="111111"/>
                </a:solidFill>
                <a:latin typeface="Times New Roman"/>
                <a:ea typeface="Times New Roman"/>
                <a:cs typeface="Times New Roman"/>
                <a:sym typeface="Times New Roman"/>
              </a:defRPr>
            </a:pPr>
            <a:endParaRPr/>
          </a:p>
          <a:p>
            <a:pPr marL="0" indent="0" defTabSz="12700">
              <a:lnSpc>
                <a:spcPct val="135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900">
                <a:solidFill>
                  <a:srgbClr val="111111"/>
                </a:solidFill>
                <a:latin typeface="Times New Roman"/>
                <a:ea typeface="Times New Roman"/>
                <a:cs typeface="Times New Roman"/>
                <a:sym typeface="Times New Roman"/>
              </a:defRPr>
            </a:pPr>
            <a:r>
              <a:t>The correlation matrix helped identify meaningful features for machine learning modeling.</a:t>
            </a:r>
          </a:p>
        </p:txBody>
      </p:sp>
      <p:sp>
        <p:nvSpPr>
          <p:cNvPr id="247" name="Feature Correlation Matrix"/>
          <p:cNvSpPr txBox="1">
            <a:spLocks noGrp="1"/>
          </p:cNvSpPr>
          <p:nvPr>
            <p:ph type="body" idx="21"/>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b="1">
                <a:latin typeface="Charter Roman"/>
                <a:ea typeface="Charter Roman"/>
                <a:cs typeface="Charter Roman"/>
                <a:sym typeface="Charter Roman"/>
              </a:defRPr>
            </a:lvl1pPr>
          </a:lstStyle>
          <a:p>
            <a:r>
              <a:t>Feature Correlation Matrix </a:t>
            </a:r>
          </a:p>
        </p:txBody>
      </p:sp>
      <p:pic>
        <p:nvPicPr>
          <p:cNvPr id="248" name="figure_feature_correlation.png" descr="figure_feature_correlation.png"/>
          <p:cNvPicPr>
            <a:picLocks noChangeAspect="1"/>
          </p:cNvPicPr>
          <p:nvPr/>
        </p:nvPicPr>
        <p:blipFill>
          <a:blip r:embed="rId2"/>
          <a:stretch>
            <a:fillRect/>
          </a:stretch>
        </p:blipFill>
        <p:spPr>
          <a:xfrm>
            <a:off x="13629485" y="3670723"/>
            <a:ext cx="10260405" cy="9168554"/>
          </a:xfrm>
          <a:prstGeom prst="rect">
            <a:avLst/>
          </a:prstGeom>
          <a:ln w="12700">
            <a:miter lim="400000"/>
          </a:ln>
        </p:spPr>
      </p:pic>
    </p:spTree>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 name="This chart shows the relative importance of each feature in the Random Forest model.…"/>
          <p:cNvSpPr txBox="1">
            <a:spLocks noGrp="1"/>
          </p:cNvSpPr>
          <p:nvPr>
            <p:ph type="body" sz="half" idx="1"/>
          </p:nvPr>
        </p:nvSpPr>
        <p:spPr>
          <a:xfrm>
            <a:off x="1219200" y="4013200"/>
            <a:ext cx="12561632" cy="8483600"/>
          </a:xfrm>
          <a:prstGeom prst="rect">
            <a:avLst/>
          </a:prstGeom>
        </p:spPr>
        <p:txBody>
          <a:bodyPr/>
          <a:lstStyle/>
          <a:p>
            <a:pPr marL="0" indent="0" defTabSz="12700">
              <a:lnSpc>
                <a:spcPct val="135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300">
                <a:solidFill>
                  <a:srgbClr val="111111"/>
                </a:solidFill>
                <a:latin typeface="Times New Roman"/>
                <a:ea typeface="Times New Roman"/>
                <a:cs typeface="Times New Roman"/>
                <a:sym typeface="Times New Roman"/>
              </a:defRPr>
            </a:pPr>
            <a:r>
              <a:t>This chart shows the relative importance of each feature in the Random Forest model.</a:t>
            </a:r>
          </a:p>
          <a:p>
            <a:pPr marL="0" indent="0" defTabSz="12700">
              <a:lnSpc>
                <a:spcPct val="135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300">
                <a:solidFill>
                  <a:srgbClr val="111111"/>
                </a:solidFill>
                <a:latin typeface="Times New Roman"/>
                <a:ea typeface="Times New Roman"/>
                <a:cs typeface="Times New Roman"/>
                <a:sym typeface="Times New Roman"/>
              </a:defRPr>
            </a:pPr>
            <a:endParaRPr/>
          </a:p>
          <a:p>
            <a:pPr marL="0" indent="0" defTabSz="12700">
              <a:lnSpc>
                <a:spcPct val="135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300">
                <a:solidFill>
                  <a:srgbClr val="111111"/>
                </a:solidFill>
                <a:latin typeface="Times New Roman"/>
                <a:ea typeface="Times New Roman"/>
                <a:cs typeface="Times New Roman"/>
                <a:sym typeface="Times New Roman"/>
              </a:defRPr>
            </a:pPr>
            <a:r>
              <a:t>Top contributing features include:</a:t>
            </a:r>
          </a:p>
          <a:p>
            <a:pPr marL="0" indent="0" defTabSz="12700">
              <a:lnSpc>
                <a:spcPct val="135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300">
                <a:solidFill>
                  <a:srgbClr val="111111"/>
                </a:solidFill>
                <a:latin typeface="Times New Roman"/>
                <a:ea typeface="Times New Roman"/>
                <a:cs typeface="Times New Roman"/>
                <a:sym typeface="Times New Roman"/>
              </a:defRPr>
            </a:pPr>
            <a:r>
              <a:t>• mood_score</a:t>
            </a:r>
          </a:p>
          <a:p>
            <a:pPr marL="0" indent="0" defTabSz="12700">
              <a:lnSpc>
                <a:spcPct val="135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300">
                <a:solidFill>
                  <a:srgbClr val="111111"/>
                </a:solidFill>
                <a:latin typeface="Times New Roman"/>
                <a:ea typeface="Times New Roman"/>
                <a:cs typeface="Times New Roman"/>
                <a:sym typeface="Times New Roman"/>
              </a:defRPr>
            </a:pPr>
            <a:r>
              <a:t>• cycle_day</a:t>
            </a:r>
          </a:p>
          <a:p>
            <a:pPr marL="0" indent="0" defTabSz="12700">
              <a:lnSpc>
                <a:spcPct val="135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300">
                <a:solidFill>
                  <a:srgbClr val="111111"/>
                </a:solidFill>
                <a:latin typeface="Times New Roman"/>
                <a:ea typeface="Times New Roman"/>
                <a:cs typeface="Times New Roman"/>
                <a:sym typeface="Times New Roman"/>
              </a:defRPr>
            </a:pPr>
            <a:r>
              <a:t>• luteal_flag</a:t>
            </a:r>
          </a:p>
          <a:p>
            <a:pPr marL="0" indent="0" defTabSz="12700">
              <a:lnSpc>
                <a:spcPct val="135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300">
                <a:solidFill>
                  <a:srgbClr val="111111"/>
                </a:solidFill>
                <a:latin typeface="Times New Roman"/>
                <a:ea typeface="Times New Roman"/>
                <a:cs typeface="Times New Roman"/>
                <a:sym typeface="Times New Roman"/>
              </a:defRPr>
            </a:pPr>
            <a:r>
              <a:t>• sleep_stress_ratio</a:t>
            </a:r>
          </a:p>
          <a:p>
            <a:pPr marL="0" indent="0" defTabSz="12700">
              <a:lnSpc>
                <a:spcPct val="135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300">
                <a:solidFill>
                  <a:srgbClr val="111111"/>
                </a:solidFill>
                <a:latin typeface="Times New Roman"/>
                <a:ea typeface="Times New Roman"/>
                <a:cs typeface="Times New Roman"/>
                <a:sym typeface="Times New Roman"/>
              </a:defRPr>
            </a:pPr>
            <a:r>
              <a:t>• hormone_stress_interaction</a:t>
            </a:r>
          </a:p>
          <a:p>
            <a:pPr marL="0" indent="0" defTabSz="12700">
              <a:lnSpc>
                <a:spcPct val="135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300">
                <a:solidFill>
                  <a:srgbClr val="111111"/>
                </a:solidFill>
                <a:latin typeface="Times New Roman"/>
                <a:ea typeface="Times New Roman"/>
                <a:cs typeface="Times New Roman"/>
                <a:sym typeface="Times New Roman"/>
              </a:defRPr>
            </a:pPr>
            <a:endParaRPr/>
          </a:p>
          <a:p>
            <a:pPr marL="0" indent="0" defTabSz="12700">
              <a:lnSpc>
                <a:spcPct val="135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300">
                <a:solidFill>
                  <a:srgbClr val="111111"/>
                </a:solidFill>
                <a:latin typeface="Times New Roman"/>
                <a:ea typeface="Times New Roman"/>
                <a:cs typeface="Times New Roman"/>
                <a:sym typeface="Times New Roman"/>
              </a:defRPr>
            </a:pPr>
            <a:r>
              <a:t>These results confirm that emotional wellbeing patterns are influenced by a combination of behavioral and cycle-related signals.</a:t>
            </a:r>
          </a:p>
        </p:txBody>
      </p:sp>
      <p:sp>
        <p:nvSpPr>
          <p:cNvPr id="251" name="Feature Importance Analysis"/>
          <p:cNvSpPr txBox="1">
            <a:spLocks noGrp="1"/>
          </p:cNvSpPr>
          <p:nvPr>
            <p:ph type="body" idx="21"/>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b="1">
                <a:latin typeface="Charter Roman"/>
                <a:ea typeface="Charter Roman"/>
                <a:cs typeface="Charter Roman"/>
                <a:sym typeface="Charter Roman"/>
              </a:defRPr>
            </a:lvl1pPr>
          </a:lstStyle>
          <a:p>
            <a:r>
              <a:t>Feature Importance Analysis </a:t>
            </a:r>
          </a:p>
        </p:txBody>
      </p:sp>
      <p:pic>
        <p:nvPicPr>
          <p:cNvPr id="252" name="figure_rf_feature_importance.png" descr="figure_rf_feature_importance.png"/>
          <p:cNvPicPr>
            <a:picLocks noChangeAspect="1"/>
          </p:cNvPicPr>
          <p:nvPr/>
        </p:nvPicPr>
        <p:blipFill>
          <a:blip r:embed="rId2"/>
          <a:stretch>
            <a:fillRect/>
          </a:stretch>
        </p:blipFill>
        <p:spPr>
          <a:xfrm>
            <a:off x="13614835" y="3402592"/>
            <a:ext cx="9494822" cy="10434414"/>
          </a:xfrm>
          <a:prstGeom prst="rect">
            <a:avLst/>
          </a:prstGeom>
          <a:ln w="12700">
            <a:miter lim="400000"/>
          </a:ln>
        </p:spPr>
      </p:pic>
    </p:spTree>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4" name="The confusion matrix evaluates the classification performance of the machine learning model.…"/>
          <p:cNvSpPr txBox="1">
            <a:spLocks noGrp="1"/>
          </p:cNvSpPr>
          <p:nvPr>
            <p:ph type="body" sz="half" idx="1"/>
          </p:nvPr>
        </p:nvSpPr>
        <p:spPr>
          <a:xfrm>
            <a:off x="1219200" y="4013200"/>
            <a:ext cx="12561632" cy="8483600"/>
          </a:xfrm>
          <a:prstGeom prst="rect">
            <a:avLst/>
          </a:prstGeom>
        </p:spPr>
        <p:txBody>
          <a:bodyPr/>
          <a:lstStyle/>
          <a:p>
            <a:pPr marL="0" indent="0" defTabSz="12700">
              <a:lnSpc>
                <a:spcPct val="135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600">
                <a:solidFill>
                  <a:srgbClr val="111111"/>
                </a:solidFill>
                <a:latin typeface="Times New Roman"/>
                <a:ea typeface="Times New Roman"/>
                <a:cs typeface="Times New Roman"/>
                <a:sym typeface="Times New Roman"/>
              </a:defRPr>
            </a:pPr>
            <a:r>
              <a:t>The confusion matrix evaluates the classification performance of the machine learning model.</a:t>
            </a:r>
          </a:p>
          <a:p>
            <a:pPr marL="0" indent="0" defTabSz="12700">
              <a:lnSpc>
                <a:spcPct val="135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600">
                <a:solidFill>
                  <a:srgbClr val="111111"/>
                </a:solidFill>
                <a:latin typeface="Times New Roman"/>
                <a:ea typeface="Times New Roman"/>
                <a:cs typeface="Times New Roman"/>
                <a:sym typeface="Times New Roman"/>
              </a:defRPr>
            </a:pPr>
            <a:endParaRPr/>
          </a:p>
          <a:p>
            <a:pPr marL="0" indent="0" defTabSz="12700">
              <a:lnSpc>
                <a:spcPct val="135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600">
                <a:solidFill>
                  <a:srgbClr val="111111"/>
                </a:solidFill>
                <a:latin typeface="Times New Roman"/>
                <a:ea typeface="Times New Roman"/>
                <a:cs typeface="Times New Roman"/>
                <a:sym typeface="Times New Roman"/>
              </a:defRPr>
            </a:pPr>
            <a:r>
              <a:t>Results from the dataset:</a:t>
            </a:r>
          </a:p>
          <a:p>
            <a:pPr marL="0" indent="0" defTabSz="12700">
              <a:lnSpc>
                <a:spcPct val="135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600">
                <a:solidFill>
                  <a:srgbClr val="111111"/>
                </a:solidFill>
                <a:latin typeface="Times New Roman"/>
                <a:ea typeface="Times New Roman"/>
                <a:cs typeface="Times New Roman"/>
                <a:sym typeface="Times New Roman"/>
              </a:defRPr>
            </a:pPr>
            <a:r>
              <a:t>True Negatives = 1460</a:t>
            </a:r>
          </a:p>
          <a:p>
            <a:pPr marL="0" indent="0" defTabSz="12700">
              <a:lnSpc>
                <a:spcPct val="135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600">
                <a:solidFill>
                  <a:srgbClr val="111111"/>
                </a:solidFill>
                <a:latin typeface="Times New Roman"/>
                <a:ea typeface="Times New Roman"/>
                <a:cs typeface="Times New Roman"/>
                <a:sym typeface="Times New Roman"/>
              </a:defRPr>
            </a:pPr>
            <a:r>
              <a:t>False Positives = 437</a:t>
            </a:r>
          </a:p>
          <a:p>
            <a:pPr marL="0" indent="0" defTabSz="12700">
              <a:lnSpc>
                <a:spcPct val="135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600">
                <a:solidFill>
                  <a:srgbClr val="111111"/>
                </a:solidFill>
                <a:latin typeface="Times New Roman"/>
                <a:ea typeface="Times New Roman"/>
                <a:cs typeface="Times New Roman"/>
                <a:sym typeface="Times New Roman"/>
              </a:defRPr>
            </a:pPr>
            <a:r>
              <a:t>False Negatives = 573</a:t>
            </a:r>
          </a:p>
          <a:p>
            <a:pPr marL="0" indent="0" defTabSz="12700">
              <a:lnSpc>
                <a:spcPct val="135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600">
                <a:solidFill>
                  <a:srgbClr val="111111"/>
                </a:solidFill>
                <a:latin typeface="Times New Roman"/>
                <a:ea typeface="Times New Roman"/>
                <a:cs typeface="Times New Roman"/>
                <a:sym typeface="Times New Roman"/>
              </a:defRPr>
            </a:pPr>
            <a:r>
              <a:t>True Positives = 1622</a:t>
            </a:r>
          </a:p>
          <a:p>
            <a:pPr marL="0" indent="0" defTabSz="12700">
              <a:lnSpc>
                <a:spcPct val="135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600">
                <a:solidFill>
                  <a:srgbClr val="111111"/>
                </a:solidFill>
                <a:latin typeface="Times New Roman"/>
                <a:ea typeface="Times New Roman"/>
                <a:cs typeface="Times New Roman"/>
                <a:sym typeface="Times New Roman"/>
              </a:defRPr>
            </a:pPr>
            <a:endParaRPr/>
          </a:p>
          <a:p>
            <a:pPr marL="0" indent="0" defTabSz="12700">
              <a:lnSpc>
                <a:spcPct val="135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600">
                <a:solidFill>
                  <a:srgbClr val="111111"/>
                </a:solidFill>
                <a:latin typeface="Times New Roman"/>
                <a:ea typeface="Times New Roman"/>
                <a:cs typeface="Times New Roman"/>
                <a:sym typeface="Times New Roman"/>
              </a:defRPr>
            </a:pPr>
            <a:r>
              <a:t>The model correctly identifies a large number of both positive and negative emotional wellbeing states.</a:t>
            </a:r>
          </a:p>
        </p:txBody>
      </p:sp>
      <p:sp>
        <p:nvSpPr>
          <p:cNvPr id="255" name="Model Evaluation - Confusion Matrix"/>
          <p:cNvSpPr txBox="1">
            <a:spLocks noGrp="1"/>
          </p:cNvSpPr>
          <p:nvPr>
            <p:ph type="body" idx="21"/>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b="1">
                <a:latin typeface="Charter Roman"/>
                <a:ea typeface="Charter Roman"/>
                <a:cs typeface="Charter Roman"/>
                <a:sym typeface="Charter Roman"/>
              </a:defRPr>
            </a:lvl1pPr>
          </a:lstStyle>
          <a:p>
            <a:r>
              <a:t>Model Evaluation - Confusion Matrix </a:t>
            </a:r>
          </a:p>
        </p:txBody>
      </p:sp>
      <p:pic>
        <p:nvPicPr>
          <p:cNvPr id="256" name="figure_confusion_matrix.png" descr="figure_confusion_matrix.png"/>
          <p:cNvPicPr>
            <a:picLocks noChangeAspect="1"/>
          </p:cNvPicPr>
          <p:nvPr/>
        </p:nvPicPr>
        <p:blipFill>
          <a:blip r:embed="rId2"/>
          <a:stretch>
            <a:fillRect/>
          </a:stretch>
        </p:blipFill>
        <p:spPr>
          <a:xfrm>
            <a:off x="14784161" y="3679078"/>
            <a:ext cx="8588652" cy="9151844"/>
          </a:xfrm>
          <a:prstGeom prst="rect">
            <a:avLst/>
          </a:prstGeom>
          <a:ln w="12700">
            <a:miter lim="400000"/>
          </a:ln>
        </p:spPr>
      </p:pic>
    </p:spTree>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8" name="The ROC curve evaluates the ability of the model to distinguish between emotional wellbeing classes.…"/>
          <p:cNvSpPr txBox="1">
            <a:spLocks noGrp="1"/>
          </p:cNvSpPr>
          <p:nvPr>
            <p:ph type="body" sz="half" idx="1"/>
          </p:nvPr>
        </p:nvSpPr>
        <p:spPr>
          <a:xfrm>
            <a:off x="1219200" y="4013200"/>
            <a:ext cx="12561632" cy="8483600"/>
          </a:xfrm>
          <a:prstGeom prst="rect">
            <a:avLst/>
          </a:prstGeom>
        </p:spPr>
        <p:txBody>
          <a:bodyPr/>
          <a:lstStyle/>
          <a:p>
            <a:pPr marL="0" indent="0" defTabSz="12700">
              <a:lnSpc>
                <a:spcPct val="135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600">
                <a:solidFill>
                  <a:srgbClr val="111111"/>
                </a:solidFill>
                <a:latin typeface="Times New Roman"/>
                <a:ea typeface="Times New Roman"/>
                <a:cs typeface="Times New Roman"/>
                <a:sym typeface="Times New Roman"/>
              </a:defRPr>
            </a:pPr>
            <a:r>
              <a:t>The ROC curve evaluates the ability of the model to distinguish between emotional wellbeing classes.</a:t>
            </a:r>
          </a:p>
          <a:p>
            <a:pPr marL="0" indent="0" defTabSz="12700">
              <a:lnSpc>
                <a:spcPct val="135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600">
                <a:solidFill>
                  <a:srgbClr val="111111"/>
                </a:solidFill>
                <a:latin typeface="Times New Roman"/>
                <a:ea typeface="Times New Roman"/>
                <a:cs typeface="Times New Roman"/>
                <a:sym typeface="Times New Roman"/>
              </a:defRPr>
            </a:pPr>
            <a:endParaRPr/>
          </a:p>
          <a:p>
            <a:pPr marL="0" indent="0" defTabSz="12700">
              <a:lnSpc>
                <a:spcPct val="135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600">
                <a:solidFill>
                  <a:srgbClr val="111111"/>
                </a:solidFill>
                <a:latin typeface="Times New Roman"/>
                <a:ea typeface="Times New Roman"/>
                <a:cs typeface="Times New Roman"/>
                <a:sym typeface="Times New Roman"/>
              </a:defRPr>
            </a:pPr>
            <a:r>
              <a:t>Key result:</a:t>
            </a:r>
          </a:p>
          <a:p>
            <a:pPr marL="0" indent="0" defTabSz="12700">
              <a:lnSpc>
                <a:spcPct val="135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600" b="1">
                <a:solidFill>
                  <a:srgbClr val="111111"/>
                </a:solidFill>
                <a:latin typeface="Times New Roman"/>
                <a:ea typeface="Times New Roman"/>
                <a:cs typeface="Times New Roman"/>
                <a:sym typeface="Times New Roman"/>
              </a:defRPr>
            </a:pPr>
            <a:r>
              <a:t>AUC = 0.829</a:t>
            </a:r>
            <a:endParaRPr b="0"/>
          </a:p>
          <a:p>
            <a:pPr marL="0" indent="0" defTabSz="12700">
              <a:lnSpc>
                <a:spcPct val="135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600">
                <a:solidFill>
                  <a:srgbClr val="111111"/>
                </a:solidFill>
                <a:latin typeface="Times New Roman"/>
                <a:ea typeface="Times New Roman"/>
                <a:cs typeface="Times New Roman"/>
                <a:sym typeface="Times New Roman"/>
              </a:defRPr>
            </a:pPr>
            <a:endParaRPr b="0"/>
          </a:p>
          <a:p>
            <a:pPr marL="0" indent="0" defTabSz="12700">
              <a:lnSpc>
                <a:spcPct val="135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600">
                <a:solidFill>
                  <a:srgbClr val="111111"/>
                </a:solidFill>
                <a:latin typeface="Times New Roman"/>
                <a:ea typeface="Times New Roman"/>
                <a:cs typeface="Times New Roman"/>
                <a:sym typeface="Times New Roman"/>
              </a:defRPr>
            </a:pPr>
            <a:r>
              <a:t>Interpretation:</a:t>
            </a:r>
          </a:p>
          <a:p>
            <a:pPr marL="0" indent="0" defTabSz="12700">
              <a:lnSpc>
                <a:spcPct val="135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600">
                <a:solidFill>
                  <a:srgbClr val="111111"/>
                </a:solidFill>
                <a:latin typeface="Times New Roman"/>
                <a:ea typeface="Times New Roman"/>
                <a:cs typeface="Times New Roman"/>
                <a:sym typeface="Times New Roman"/>
              </a:defRPr>
            </a:pPr>
            <a:r>
              <a:t>• The model has strong classification capability.</a:t>
            </a:r>
          </a:p>
          <a:p>
            <a:pPr marL="0" indent="0" defTabSz="12700">
              <a:lnSpc>
                <a:spcPct val="135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600">
                <a:solidFill>
                  <a:srgbClr val="111111"/>
                </a:solidFill>
                <a:latin typeface="Times New Roman"/>
                <a:ea typeface="Times New Roman"/>
                <a:cs typeface="Times New Roman"/>
                <a:sym typeface="Times New Roman"/>
              </a:defRPr>
            </a:pPr>
            <a:r>
              <a:t>• The performance is significantly better than random guessing.</a:t>
            </a:r>
          </a:p>
          <a:p>
            <a:pPr marL="0" indent="0" defTabSz="12700">
              <a:lnSpc>
                <a:spcPct val="135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600">
                <a:solidFill>
                  <a:srgbClr val="111111"/>
                </a:solidFill>
                <a:latin typeface="Times New Roman"/>
                <a:ea typeface="Times New Roman"/>
                <a:cs typeface="Times New Roman"/>
                <a:sym typeface="Times New Roman"/>
              </a:defRPr>
            </a:pPr>
            <a:r>
              <a:t>• The model can reliably differentiate emotional wellbeing patterns.</a:t>
            </a:r>
          </a:p>
        </p:txBody>
      </p:sp>
      <p:sp>
        <p:nvSpPr>
          <p:cNvPr id="259" name="Model Performance - ROC Curve"/>
          <p:cNvSpPr txBox="1">
            <a:spLocks noGrp="1"/>
          </p:cNvSpPr>
          <p:nvPr>
            <p:ph type="body" idx="21"/>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b="1">
                <a:latin typeface="Charter Roman"/>
                <a:ea typeface="Charter Roman"/>
                <a:cs typeface="Charter Roman"/>
                <a:sym typeface="Charter Roman"/>
              </a:defRPr>
            </a:lvl1pPr>
          </a:lstStyle>
          <a:p>
            <a:r>
              <a:t>Model Performance - ROC Curve </a:t>
            </a:r>
          </a:p>
        </p:txBody>
      </p:sp>
      <p:pic>
        <p:nvPicPr>
          <p:cNvPr id="260" name="figure_roc_curve.png" descr="figure_roc_curve.png"/>
          <p:cNvPicPr>
            <a:picLocks noChangeAspect="1"/>
          </p:cNvPicPr>
          <p:nvPr/>
        </p:nvPicPr>
        <p:blipFill>
          <a:blip r:embed="rId2"/>
          <a:stretch>
            <a:fillRect/>
          </a:stretch>
        </p:blipFill>
        <p:spPr>
          <a:xfrm>
            <a:off x="13746486" y="4069554"/>
            <a:ext cx="9831399" cy="7889394"/>
          </a:xfrm>
          <a:prstGeom prst="rect">
            <a:avLst/>
          </a:prstGeom>
          <a:ln w="12700">
            <a:miter lim="400000"/>
          </a:ln>
        </p:spPr>
      </p:pic>
    </p:spTree>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2" name="System Implementation"/>
          <p:cNvSpPr txBox="1">
            <a:spLocks noGrp="1"/>
          </p:cNvSpPr>
          <p:nvPr>
            <p:ph type="title"/>
          </p:nvPr>
        </p:nvSpPr>
        <p:spPr>
          <a:prstGeom prst="rect">
            <a:avLst/>
          </a:prstGeom>
        </p:spPr>
        <p:txBody>
          <a:bodyPr/>
          <a:lstStyle/>
          <a:p>
            <a:r>
              <a:t>System Implementation</a:t>
            </a:r>
          </a:p>
        </p:txBody>
      </p:sp>
      <p:sp>
        <p:nvSpPr>
          <p:cNvPr id="263" name="The LunaAura system was implemented as an end-to-end behavioral analytics pipeline.…"/>
          <p:cNvSpPr txBox="1">
            <a:spLocks noGrp="1"/>
          </p:cNvSpPr>
          <p:nvPr>
            <p:ph type="body" idx="1"/>
          </p:nvPr>
        </p:nvSpPr>
        <p:spPr>
          <a:xfrm>
            <a:off x="1219200" y="2681006"/>
            <a:ext cx="20471467" cy="9815794"/>
          </a:xfrm>
          <a:prstGeom prst="rect">
            <a:avLst/>
          </a:prstGeom>
        </p:spPr>
        <p:txBody>
          <a:bodyPr/>
          <a:lstStyle/>
          <a:p>
            <a:pPr marL="0" indent="0" defTabSz="914400">
              <a:lnSpc>
                <a:spcPct val="135000"/>
              </a:lnSpc>
              <a:spcBef>
                <a:spcPts val="0"/>
              </a:spcBef>
              <a:buSzTx/>
              <a:buNone/>
              <a:tabLst>
                <a:tab pos="342900" algn="l"/>
                <a:tab pos="685800" algn="l"/>
                <a:tab pos="1041400" algn="l"/>
                <a:tab pos="1384300" algn="l"/>
                <a:tab pos="1739900" algn="l"/>
                <a:tab pos="2082800" algn="l"/>
                <a:tab pos="2438400" algn="l"/>
                <a:tab pos="2781300" algn="l"/>
                <a:tab pos="3124200" algn="l"/>
                <a:tab pos="3479800" algn="l"/>
                <a:tab pos="3822700" algn="l"/>
                <a:tab pos="4178300" algn="l"/>
              </a:tabLst>
              <a:defRPr sz="3528">
                <a:solidFill>
                  <a:srgbClr val="111111"/>
                </a:solidFill>
                <a:latin typeface="Times New Roman"/>
                <a:ea typeface="Times New Roman"/>
                <a:cs typeface="Times New Roman"/>
                <a:sym typeface="Times New Roman"/>
              </a:defRPr>
            </a:pPr>
            <a:r>
              <a:t>The LunaAura system was implemented as an end-to-end behavioral analytics pipeline.</a:t>
            </a:r>
          </a:p>
          <a:p>
            <a:pPr marL="0" indent="0" defTabSz="914400">
              <a:lnSpc>
                <a:spcPct val="135000"/>
              </a:lnSpc>
              <a:spcBef>
                <a:spcPts val="0"/>
              </a:spcBef>
              <a:buSzTx/>
              <a:buNone/>
              <a:tabLst>
                <a:tab pos="342900" algn="l"/>
                <a:tab pos="685800" algn="l"/>
                <a:tab pos="1041400" algn="l"/>
                <a:tab pos="1384300" algn="l"/>
                <a:tab pos="1739900" algn="l"/>
                <a:tab pos="2082800" algn="l"/>
                <a:tab pos="2438400" algn="l"/>
                <a:tab pos="2781300" algn="l"/>
                <a:tab pos="3124200" algn="l"/>
                <a:tab pos="3479800" algn="l"/>
                <a:tab pos="3822700" algn="l"/>
                <a:tab pos="4178300" algn="l"/>
              </a:tabLst>
              <a:defRPr sz="3528">
                <a:solidFill>
                  <a:srgbClr val="111111"/>
                </a:solidFill>
                <a:latin typeface="Times New Roman"/>
                <a:ea typeface="Times New Roman"/>
                <a:cs typeface="Times New Roman"/>
                <a:sym typeface="Times New Roman"/>
              </a:defRPr>
            </a:pPr>
            <a:endParaRPr/>
          </a:p>
          <a:p>
            <a:pPr marL="0" indent="0" defTabSz="914400">
              <a:lnSpc>
                <a:spcPct val="135000"/>
              </a:lnSpc>
              <a:spcBef>
                <a:spcPts val="0"/>
              </a:spcBef>
              <a:buSzTx/>
              <a:buNone/>
              <a:tabLst>
                <a:tab pos="342900" algn="l"/>
                <a:tab pos="685800" algn="l"/>
                <a:tab pos="1041400" algn="l"/>
                <a:tab pos="1384300" algn="l"/>
                <a:tab pos="1739900" algn="l"/>
                <a:tab pos="2082800" algn="l"/>
                <a:tab pos="2438400" algn="l"/>
                <a:tab pos="2781300" algn="l"/>
                <a:tab pos="3124200" algn="l"/>
                <a:tab pos="3479800" algn="l"/>
                <a:tab pos="3822700" algn="l"/>
                <a:tab pos="4178300" algn="l"/>
              </a:tabLst>
              <a:defRPr sz="3528">
                <a:solidFill>
                  <a:srgbClr val="111111"/>
                </a:solidFill>
                <a:latin typeface="Times New Roman"/>
                <a:ea typeface="Times New Roman"/>
                <a:cs typeface="Times New Roman"/>
                <a:sym typeface="Times New Roman"/>
              </a:defRPr>
            </a:pPr>
            <a:r>
              <a:t>Main implementation components include:</a:t>
            </a:r>
          </a:p>
          <a:p>
            <a:pPr marL="0" indent="0" defTabSz="914400">
              <a:lnSpc>
                <a:spcPct val="135000"/>
              </a:lnSpc>
              <a:spcBef>
                <a:spcPts val="0"/>
              </a:spcBef>
              <a:buSzTx/>
              <a:buNone/>
              <a:tabLst>
                <a:tab pos="342900" algn="l"/>
                <a:tab pos="685800" algn="l"/>
                <a:tab pos="1041400" algn="l"/>
                <a:tab pos="1384300" algn="l"/>
                <a:tab pos="1739900" algn="l"/>
                <a:tab pos="2082800" algn="l"/>
                <a:tab pos="2438400" algn="l"/>
                <a:tab pos="2781300" algn="l"/>
                <a:tab pos="3124200" algn="l"/>
                <a:tab pos="3479800" algn="l"/>
                <a:tab pos="3822700" algn="l"/>
                <a:tab pos="4178300" algn="l"/>
              </a:tabLst>
              <a:defRPr sz="3528">
                <a:solidFill>
                  <a:srgbClr val="111111"/>
                </a:solidFill>
                <a:latin typeface="Times New Roman"/>
                <a:ea typeface="Times New Roman"/>
                <a:cs typeface="Times New Roman"/>
                <a:sym typeface="Times New Roman"/>
              </a:defRPr>
            </a:pPr>
            <a:r>
              <a:t>• Data preprocessing and dataset construction</a:t>
            </a:r>
          </a:p>
          <a:p>
            <a:pPr marL="0" indent="0" defTabSz="914400">
              <a:lnSpc>
                <a:spcPct val="135000"/>
              </a:lnSpc>
              <a:spcBef>
                <a:spcPts val="0"/>
              </a:spcBef>
              <a:buSzTx/>
              <a:buNone/>
              <a:tabLst>
                <a:tab pos="342900" algn="l"/>
                <a:tab pos="685800" algn="l"/>
                <a:tab pos="1041400" algn="l"/>
                <a:tab pos="1384300" algn="l"/>
                <a:tab pos="1739900" algn="l"/>
                <a:tab pos="2082800" algn="l"/>
                <a:tab pos="2438400" algn="l"/>
                <a:tab pos="2781300" algn="l"/>
                <a:tab pos="3124200" algn="l"/>
                <a:tab pos="3479800" algn="l"/>
                <a:tab pos="3822700" algn="l"/>
                <a:tab pos="4178300" algn="l"/>
              </a:tabLst>
              <a:defRPr sz="3528">
                <a:solidFill>
                  <a:srgbClr val="111111"/>
                </a:solidFill>
                <a:latin typeface="Times New Roman"/>
                <a:ea typeface="Times New Roman"/>
                <a:cs typeface="Times New Roman"/>
                <a:sym typeface="Times New Roman"/>
              </a:defRPr>
            </a:pPr>
            <a:r>
              <a:t>• Feature engineering for behavioral and hormonal signals</a:t>
            </a:r>
          </a:p>
          <a:p>
            <a:pPr marL="0" indent="0" defTabSz="914400">
              <a:lnSpc>
                <a:spcPct val="135000"/>
              </a:lnSpc>
              <a:spcBef>
                <a:spcPts val="0"/>
              </a:spcBef>
              <a:buSzTx/>
              <a:buNone/>
              <a:tabLst>
                <a:tab pos="342900" algn="l"/>
                <a:tab pos="685800" algn="l"/>
                <a:tab pos="1041400" algn="l"/>
                <a:tab pos="1384300" algn="l"/>
                <a:tab pos="1739900" algn="l"/>
                <a:tab pos="2082800" algn="l"/>
                <a:tab pos="2438400" algn="l"/>
                <a:tab pos="2781300" algn="l"/>
                <a:tab pos="3124200" algn="l"/>
                <a:tab pos="3479800" algn="l"/>
                <a:tab pos="3822700" algn="l"/>
                <a:tab pos="4178300" algn="l"/>
              </a:tabLst>
              <a:defRPr sz="3528">
                <a:solidFill>
                  <a:srgbClr val="111111"/>
                </a:solidFill>
                <a:latin typeface="Times New Roman"/>
                <a:ea typeface="Times New Roman"/>
                <a:cs typeface="Times New Roman"/>
                <a:sym typeface="Times New Roman"/>
              </a:defRPr>
            </a:pPr>
            <a:r>
              <a:t>• Machine learning model training and evaluation</a:t>
            </a:r>
          </a:p>
          <a:p>
            <a:pPr marL="0" indent="0" defTabSz="914400">
              <a:lnSpc>
                <a:spcPct val="135000"/>
              </a:lnSpc>
              <a:spcBef>
                <a:spcPts val="0"/>
              </a:spcBef>
              <a:buSzTx/>
              <a:buNone/>
              <a:tabLst>
                <a:tab pos="342900" algn="l"/>
                <a:tab pos="685800" algn="l"/>
                <a:tab pos="1041400" algn="l"/>
                <a:tab pos="1384300" algn="l"/>
                <a:tab pos="1739900" algn="l"/>
                <a:tab pos="2082800" algn="l"/>
                <a:tab pos="2438400" algn="l"/>
                <a:tab pos="2781300" algn="l"/>
                <a:tab pos="3124200" algn="l"/>
                <a:tab pos="3479800" algn="l"/>
                <a:tab pos="3822700" algn="l"/>
                <a:tab pos="4178300" algn="l"/>
              </a:tabLst>
              <a:defRPr sz="3528">
                <a:solidFill>
                  <a:srgbClr val="111111"/>
                </a:solidFill>
                <a:latin typeface="Times New Roman"/>
                <a:ea typeface="Times New Roman"/>
                <a:cs typeface="Times New Roman"/>
                <a:sym typeface="Times New Roman"/>
              </a:defRPr>
            </a:pPr>
            <a:r>
              <a:t>• Visualization and analytics dashboard</a:t>
            </a:r>
          </a:p>
          <a:p>
            <a:pPr marL="0" indent="0" defTabSz="914400">
              <a:lnSpc>
                <a:spcPct val="135000"/>
              </a:lnSpc>
              <a:spcBef>
                <a:spcPts val="0"/>
              </a:spcBef>
              <a:buSzTx/>
              <a:buNone/>
              <a:tabLst>
                <a:tab pos="342900" algn="l"/>
                <a:tab pos="685800" algn="l"/>
                <a:tab pos="1041400" algn="l"/>
                <a:tab pos="1384300" algn="l"/>
                <a:tab pos="1739900" algn="l"/>
                <a:tab pos="2082800" algn="l"/>
                <a:tab pos="2438400" algn="l"/>
                <a:tab pos="2781300" algn="l"/>
                <a:tab pos="3124200" algn="l"/>
                <a:tab pos="3479800" algn="l"/>
                <a:tab pos="3822700" algn="l"/>
                <a:tab pos="4178300" algn="l"/>
              </a:tabLst>
              <a:defRPr sz="3528">
                <a:solidFill>
                  <a:srgbClr val="111111"/>
                </a:solidFill>
                <a:latin typeface="Times New Roman"/>
                <a:ea typeface="Times New Roman"/>
                <a:cs typeface="Times New Roman"/>
                <a:sym typeface="Times New Roman"/>
              </a:defRPr>
            </a:pPr>
            <a:r>
              <a:t>• User interface for daily behavioral logging</a:t>
            </a:r>
          </a:p>
          <a:p>
            <a:pPr marL="0" indent="0" defTabSz="914400">
              <a:lnSpc>
                <a:spcPct val="135000"/>
              </a:lnSpc>
              <a:spcBef>
                <a:spcPts val="0"/>
              </a:spcBef>
              <a:buSzTx/>
              <a:buNone/>
              <a:tabLst>
                <a:tab pos="342900" algn="l"/>
                <a:tab pos="685800" algn="l"/>
                <a:tab pos="1041400" algn="l"/>
                <a:tab pos="1384300" algn="l"/>
                <a:tab pos="1739900" algn="l"/>
                <a:tab pos="2082800" algn="l"/>
                <a:tab pos="2438400" algn="l"/>
                <a:tab pos="2781300" algn="l"/>
                <a:tab pos="3124200" algn="l"/>
                <a:tab pos="3479800" algn="l"/>
                <a:tab pos="3822700" algn="l"/>
                <a:tab pos="4178300" algn="l"/>
              </a:tabLst>
              <a:defRPr sz="3528">
                <a:solidFill>
                  <a:srgbClr val="111111"/>
                </a:solidFill>
                <a:latin typeface="Times New Roman"/>
                <a:ea typeface="Times New Roman"/>
                <a:cs typeface="Times New Roman"/>
                <a:sym typeface="Times New Roman"/>
              </a:defRPr>
            </a:pPr>
            <a:endParaRPr/>
          </a:p>
          <a:p>
            <a:pPr marL="0" indent="0" defTabSz="914400">
              <a:lnSpc>
                <a:spcPct val="135000"/>
              </a:lnSpc>
              <a:spcBef>
                <a:spcPts val="0"/>
              </a:spcBef>
              <a:buSzTx/>
              <a:buNone/>
              <a:tabLst>
                <a:tab pos="342900" algn="l"/>
                <a:tab pos="685800" algn="l"/>
                <a:tab pos="1041400" algn="l"/>
                <a:tab pos="1384300" algn="l"/>
                <a:tab pos="1739900" algn="l"/>
                <a:tab pos="2082800" algn="l"/>
                <a:tab pos="2438400" algn="l"/>
                <a:tab pos="2781300" algn="l"/>
                <a:tab pos="3124200" algn="l"/>
                <a:tab pos="3479800" algn="l"/>
                <a:tab pos="3822700" algn="l"/>
                <a:tab pos="4178300" algn="l"/>
              </a:tabLst>
              <a:defRPr sz="3528">
                <a:solidFill>
                  <a:srgbClr val="111111"/>
                </a:solidFill>
                <a:latin typeface="Times New Roman"/>
                <a:ea typeface="Times New Roman"/>
                <a:cs typeface="Times New Roman"/>
                <a:sym typeface="Times New Roman"/>
              </a:defRPr>
            </a:pPr>
            <a:r>
              <a:t>Technologies used:</a:t>
            </a:r>
          </a:p>
          <a:p>
            <a:pPr marL="0" indent="0" defTabSz="914400">
              <a:lnSpc>
                <a:spcPct val="135000"/>
              </a:lnSpc>
              <a:spcBef>
                <a:spcPts val="0"/>
              </a:spcBef>
              <a:buSzTx/>
              <a:buNone/>
              <a:tabLst>
                <a:tab pos="342900" algn="l"/>
                <a:tab pos="685800" algn="l"/>
                <a:tab pos="1041400" algn="l"/>
                <a:tab pos="1384300" algn="l"/>
                <a:tab pos="1739900" algn="l"/>
                <a:tab pos="2082800" algn="l"/>
                <a:tab pos="2438400" algn="l"/>
                <a:tab pos="2781300" algn="l"/>
                <a:tab pos="3124200" algn="l"/>
                <a:tab pos="3479800" algn="l"/>
                <a:tab pos="3822700" algn="l"/>
                <a:tab pos="4178300" algn="l"/>
              </a:tabLst>
              <a:defRPr sz="3528">
                <a:solidFill>
                  <a:srgbClr val="111111"/>
                </a:solidFill>
                <a:latin typeface="Times New Roman"/>
                <a:ea typeface="Times New Roman"/>
                <a:cs typeface="Times New Roman"/>
                <a:sym typeface="Times New Roman"/>
              </a:defRPr>
            </a:pPr>
            <a:r>
              <a:t>• Python (pandas, numpy, scikit-learn)</a:t>
            </a:r>
          </a:p>
          <a:p>
            <a:pPr marL="0" indent="0" defTabSz="914400">
              <a:lnSpc>
                <a:spcPct val="135000"/>
              </a:lnSpc>
              <a:spcBef>
                <a:spcPts val="0"/>
              </a:spcBef>
              <a:buSzTx/>
              <a:buNone/>
              <a:tabLst>
                <a:tab pos="342900" algn="l"/>
                <a:tab pos="685800" algn="l"/>
                <a:tab pos="1041400" algn="l"/>
                <a:tab pos="1384300" algn="l"/>
                <a:tab pos="1739900" algn="l"/>
                <a:tab pos="2082800" algn="l"/>
                <a:tab pos="2438400" algn="l"/>
                <a:tab pos="2781300" algn="l"/>
                <a:tab pos="3124200" algn="l"/>
                <a:tab pos="3479800" algn="l"/>
                <a:tab pos="3822700" algn="l"/>
                <a:tab pos="4178300" algn="l"/>
              </a:tabLst>
              <a:defRPr sz="3528">
                <a:solidFill>
                  <a:srgbClr val="111111"/>
                </a:solidFill>
                <a:latin typeface="Times New Roman"/>
                <a:ea typeface="Times New Roman"/>
                <a:cs typeface="Times New Roman"/>
                <a:sym typeface="Times New Roman"/>
              </a:defRPr>
            </a:pPr>
            <a:r>
              <a:t>• Matplotlib / Seaborn for analysis</a:t>
            </a:r>
          </a:p>
          <a:p>
            <a:pPr marL="0" indent="0" defTabSz="914400">
              <a:lnSpc>
                <a:spcPct val="135000"/>
              </a:lnSpc>
              <a:spcBef>
                <a:spcPts val="0"/>
              </a:spcBef>
              <a:buSzTx/>
              <a:buNone/>
              <a:tabLst>
                <a:tab pos="342900" algn="l"/>
                <a:tab pos="685800" algn="l"/>
                <a:tab pos="1041400" algn="l"/>
                <a:tab pos="1384300" algn="l"/>
                <a:tab pos="1739900" algn="l"/>
                <a:tab pos="2082800" algn="l"/>
                <a:tab pos="2438400" algn="l"/>
                <a:tab pos="2781300" algn="l"/>
                <a:tab pos="3124200" algn="l"/>
                <a:tab pos="3479800" algn="l"/>
                <a:tab pos="3822700" algn="l"/>
                <a:tab pos="4178300" algn="l"/>
              </a:tabLst>
              <a:defRPr sz="3528">
                <a:solidFill>
                  <a:srgbClr val="111111"/>
                </a:solidFill>
                <a:latin typeface="Times New Roman"/>
                <a:ea typeface="Times New Roman"/>
                <a:cs typeface="Times New Roman"/>
                <a:sym typeface="Times New Roman"/>
              </a:defRPr>
            </a:pPr>
            <a:r>
              <a:t>• HTML + Tailwind CSS for UI</a:t>
            </a:r>
          </a:p>
          <a:p>
            <a:pPr marL="0" indent="0" defTabSz="914400">
              <a:lnSpc>
                <a:spcPct val="135000"/>
              </a:lnSpc>
              <a:spcBef>
                <a:spcPts val="0"/>
              </a:spcBef>
              <a:buSzTx/>
              <a:buNone/>
              <a:tabLst>
                <a:tab pos="342900" algn="l"/>
                <a:tab pos="685800" algn="l"/>
                <a:tab pos="1041400" algn="l"/>
                <a:tab pos="1384300" algn="l"/>
                <a:tab pos="1739900" algn="l"/>
                <a:tab pos="2082800" algn="l"/>
                <a:tab pos="2438400" algn="l"/>
                <a:tab pos="2781300" algn="l"/>
                <a:tab pos="3124200" algn="l"/>
                <a:tab pos="3479800" algn="l"/>
                <a:tab pos="3822700" algn="l"/>
                <a:tab pos="4178300" algn="l"/>
              </a:tabLst>
              <a:defRPr sz="3528">
                <a:solidFill>
                  <a:srgbClr val="111111"/>
                </a:solidFill>
                <a:latin typeface="Times New Roman"/>
                <a:ea typeface="Times New Roman"/>
                <a:cs typeface="Times New Roman"/>
                <a:sym typeface="Times New Roman"/>
              </a:defRPr>
            </a:pPr>
            <a:r>
              <a:t>• Chart.js for dashboard visualization</a:t>
            </a:r>
          </a:p>
        </p:txBody>
      </p:sp>
    </p:spTree>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5" name="pasted-movie.png" descr="pasted-movie.png"/>
          <p:cNvPicPr>
            <a:picLocks noChangeAspect="1"/>
          </p:cNvPicPr>
          <p:nvPr/>
        </p:nvPicPr>
        <p:blipFill>
          <a:blip r:embed="rId2"/>
          <a:stretch>
            <a:fillRect/>
          </a:stretch>
        </p:blipFill>
        <p:spPr>
          <a:xfrm>
            <a:off x="-161902" y="1936880"/>
            <a:ext cx="12561489" cy="9842240"/>
          </a:xfrm>
          <a:prstGeom prst="rect">
            <a:avLst/>
          </a:prstGeom>
          <a:ln w="12700">
            <a:miter lim="400000"/>
          </a:ln>
        </p:spPr>
      </p:pic>
      <p:pic>
        <p:nvPicPr>
          <p:cNvPr id="266" name="pasted-movie.png" descr="pasted-movie.png"/>
          <p:cNvPicPr>
            <a:picLocks noChangeAspect="1"/>
          </p:cNvPicPr>
          <p:nvPr/>
        </p:nvPicPr>
        <p:blipFill>
          <a:blip r:embed="rId3"/>
          <a:stretch>
            <a:fillRect/>
          </a:stretch>
        </p:blipFill>
        <p:spPr>
          <a:xfrm>
            <a:off x="12285902" y="1936880"/>
            <a:ext cx="12092708" cy="9842240"/>
          </a:xfrm>
          <a:prstGeom prst="rect">
            <a:avLst/>
          </a:prstGeom>
          <a:ln w="12700">
            <a:miter lim="400000"/>
          </a:ln>
        </p:spPr>
      </p:pic>
    </p:spTree>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 name="User Interface Overview"/>
          <p:cNvSpPr txBox="1">
            <a:spLocks noGrp="1"/>
          </p:cNvSpPr>
          <p:nvPr>
            <p:ph type="title"/>
          </p:nvPr>
        </p:nvSpPr>
        <p:spPr>
          <a:prstGeom prst="rect">
            <a:avLst/>
          </a:prstGeom>
        </p:spPr>
        <p:txBody>
          <a:bodyPr/>
          <a:lstStyle/>
          <a:p>
            <a:r>
              <a:t>User Interface Overview </a:t>
            </a:r>
          </a:p>
        </p:txBody>
      </p:sp>
      <p:sp>
        <p:nvSpPr>
          <p:cNvPr id="269" name="The LunaAura interface enables users to log behavioral data and explore insights generated by the machine learning system.…"/>
          <p:cNvSpPr txBox="1">
            <a:spLocks noGrp="1"/>
          </p:cNvSpPr>
          <p:nvPr>
            <p:ph type="body" idx="1"/>
          </p:nvPr>
        </p:nvSpPr>
        <p:spPr>
          <a:xfrm>
            <a:off x="1219200" y="2765637"/>
            <a:ext cx="22528900" cy="9731163"/>
          </a:xfrm>
          <a:prstGeom prst="rect">
            <a:avLst/>
          </a:prstGeom>
        </p:spPr>
        <p:txBody>
          <a:bodyPr/>
          <a:lstStyle/>
          <a:p>
            <a:pPr marL="0" indent="0" defTabSz="12700">
              <a:lnSpc>
                <a:spcPct val="135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4000">
                <a:solidFill>
                  <a:srgbClr val="111111"/>
                </a:solidFill>
                <a:latin typeface="Times New Roman"/>
                <a:ea typeface="Times New Roman"/>
                <a:cs typeface="Times New Roman"/>
                <a:sym typeface="Times New Roman"/>
              </a:defRPr>
            </a:pPr>
            <a:r>
              <a:t>The LunaAura interface enables users to log behavioral data and explore insights generated by the machine learning system.</a:t>
            </a:r>
          </a:p>
          <a:p>
            <a:pPr marL="0" indent="0" defTabSz="12700">
              <a:lnSpc>
                <a:spcPct val="135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4000">
                <a:solidFill>
                  <a:srgbClr val="111111"/>
                </a:solidFill>
                <a:latin typeface="Times New Roman"/>
                <a:ea typeface="Times New Roman"/>
                <a:cs typeface="Times New Roman"/>
                <a:sym typeface="Times New Roman"/>
              </a:defRPr>
            </a:pPr>
            <a:endParaRPr/>
          </a:p>
          <a:p>
            <a:pPr marL="0" indent="0" defTabSz="12700">
              <a:lnSpc>
                <a:spcPct val="135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4000">
                <a:solidFill>
                  <a:srgbClr val="111111"/>
                </a:solidFill>
                <a:latin typeface="Times New Roman"/>
                <a:ea typeface="Times New Roman"/>
                <a:cs typeface="Times New Roman"/>
                <a:sym typeface="Times New Roman"/>
              </a:defRPr>
            </a:pPr>
            <a:r>
              <a:t>Main interface modules:</a:t>
            </a:r>
          </a:p>
          <a:p>
            <a:pPr marL="0" indent="0" defTabSz="12700">
              <a:lnSpc>
                <a:spcPct val="135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4000">
                <a:solidFill>
                  <a:srgbClr val="111111"/>
                </a:solidFill>
                <a:latin typeface="Times New Roman"/>
                <a:ea typeface="Times New Roman"/>
                <a:cs typeface="Times New Roman"/>
                <a:sym typeface="Times New Roman"/>
              </a:defRPr>
            </a:pPr>
            <a:r>
              <a:t>• Dashboard</a:t>
            </a:r>
          </a:p>
          <a:p>
            <a:pPr marL="0" indent="0" defTabSz="12700">
              <a:lnSpc>
                <a:spcPct val="135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4000">
                <a:solidFill>
                  <a:srgbClr val="111111"/>
                </a:solidFill>
                <a:latin typeface="Times New Roman"/>
                <a:ea typeface="Times New Roman"/>
                <a:cs typeface="Times New Roman"/>
                <a:sym typeface="Times New Roman"/>
              </a:defRPr>
            </a:pPr>
            <a:r>
              <a:t>• Daily Log</a:t>
            </a:r>
          </a:p>
          <a:p>
            <a:pPr marL="0" indent="0" defTabSz="12700">
              <a:lnSpc>
                <a:spcPct val="135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4000">
                <a:solidFill>
                  <a:srgbClr val="111111"/>
                </a:solidFill>
                <a:latin typeface="Times New Roman"/>
                <a:ea typeface="Times New Roman"/>
                <a:cs typeface="Times New Roman"/>
                <a:sym typeface="Times New Roman"/>
              </a:defRPr>
            </a:pPr>
            <a:r>
              <a:t>• Analytics</a:t>
            </a:r>
          </a:p>
          <a:p>
            <a:pPr marL="0" indent="0" defTabSz="12700">
              <a:lnSpc>
                <a:spcPct val="135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4000">
                <a:solidFill>
                  <a:srgbClr val="111111"/>
                </a:solidFill>
                <a:latin typeface="Times New Roman"/>
                <a:ea typeface="Times New Roman"/>
                <a:cs typeface="Times New Roman"/>
                <a:sym typeface="Times New Roman"/>
              </a:defRPr>
            </a:pPr>
            <a:r>
              <a:t>• Model Insights</a:t>
            </a:r>
          </a:p>
          <a:p>
            <a:pPr marL="0" indent="0" defTabSz="12700">
              <a:lnSpc>
                <a:spcPct val="135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4000">
                <a:solidFill>
                  <a:srgbClr val="111111"/>
                </a:solidFill>
                <a:latin typeface="Times New Roman"/>
                <a:ea typeface="Times New Roman"/>
                <a:cs typeface="Times New Roman"/>
                <a:sym typeface="Times New Roman"/>
              </a:defRPr>
            </a:pPr>
            <a:r>
              <a:t>• Research Mode</a:t>
            </a:r>
          </a:p>
          <a:p>
            <a:pPr marL="0" indent="0" defTabSz="12700">
              <a:lnSpc>
                <a:spcPct val="135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4000">
                <a:solidFill>
                  <a:srgbClr val="111111"/>
                </a:solidFill>
                <a:latin typeface="Times New Roman"/>
                <a:ea typeface="Times New Roman"/>
                <a:cs typeface="Times New Roman"/>
                <a:sym typeface="Times New Roman"/>
              </a:defRPr>
            </a:pPr>
            <a:endParaRPr/>
          </a:p>
          <a:p>
            <a:pPr marL="0" indent="0" defTabSz="12700">
              <a:lnSpc>
                <a:spcPct val="135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4000">
                <a:solidFill>
                  <a:srgbClr val="111111"/>
                </a:solidFill>
                <a:latin typeface="Times New Roman"/>
                <a:ea typeface="Times New Roman"/>
                <a:cs typeface="Times New Roman"/>
                <a:sym typeface="Times New Roman"/>
              </a:defRPr>
            </a:pPr>
            <a:r>
              <a:t>The UI allows interactive exploration of behavioral patterns influencing emotional wellbeing.</a:t>
            </a:r>
          </a:p>
        </p:txBody>
      </p:sp>
    </p:spTree>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1" name="pasted-movie.png" descr="pasted-movie.png"/>
          <p:cNvPicPr>
            <a:picLocks noChangeAspect="1"/>
          </p:cNvPicPr>
          <p:nvPr/>
        </p:nvPicPr>
        <p:blipFill>
          <a:blip r:embed="rId2"/>
          <a:stretch>
            <a:fillRect/>
          </a:stretch>
        </p:blipFill>
        <p:spPr>
          <a:xfrm>
            <a:off x="-511908" y="-37578"/>
            <a:ext cx="25407816" cy="13880197"/>
          </a:xfrm>
          <a:prstGeom prst="rect">
            <a:avLst/>
          </a:prstGeom>
          <a:ln w="12700">
            <a:miter lim="400000"/>
          </a:ln>
        </p:spPr>
      </p:pic>
    </p:spTree>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3" name="Daily Behavioral Logging"/>
          <p:cNvSpPr txBox="1">
            <a:spLocks noGrp="1"/>
          </p:cNvSpPr>
          <p:nvPr>
            <p:ph type="title"/>
          </p:nvPr>
        </p:nvSpPr>
        <p:spPr>
          <a:prstGeom prst="rect">
            <a:avLst/>
          </a:prstGeom>
        </p:spPr>
        <p:txBody>
          <a:bodyPr/>
          <a:lstStyle/>
          <a:p>
            <a:r>
              <a:t>Daily Behavioral Logging</a:t>
            </a:r>
          </a:p>
        </p:txBody>
      </p:sp>
      <p:sp>
        <p:nvSpPr>
          <p:cNvPr id="274" name="The system collects behavioral inputs that influence emotional wellbeing.…"/>
          <p:cNvSpPr txBox="1">
            <a:spLocks noGrp="1"/>
          </p:cNvSpPr>
          <p:nvPr>
            <p:ph type="body" idx="1"/>
          </p:nvPr>
        </p:nvSpPr>
        <p:spPr>
          <a:xfrm>
            <a:off x="1129977" y="3279628"/>
            <a:ext cx="22124046" cy="9468123"/>
          </a:xfrm>
          <a:prstGeom prst="rect">
            <a:avLst/>
          </a:prstGeom>
        </p:spPr>
        <p:txBody>
          <a:bodyPr/>
          <a:lstStyle/>
          <a:p>
            <a:pPr marL="0" indent="0" defTabSz="12700">
              <a:lnSpc>
                <a:spcPct val="135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800">
                <a:solidFill>
                  <a:srgbClr val="111111"/>
                </a:solidFill>
                <a:latin typeface="Times New Roman"/>
                <a:ea typeface="Times New Roman"/>
                <a:cs typeface="Times New Roman"/>
                <a:sym typeface="Times New Roman"/>
              </a:defRPr>
            </a:pPr>
            <a:r>
              <a:t>The system collects behavioral inputs that influence emotional wellbeing.</a:t>
            </a:r>
          </a:p>
          <a:p>
            <a:pPr marL="0" indent="0" defTabSz="12700">
              <a:lnSpc>
                <a:spcPct val="135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800">
                <a:solidFill>
                  <a:srgbClr val="111111"/>
                </a:solidFill>
                <a:latin typeface="Times New Roman"/>
                <a:ea typeface="Times New Roman"/>
                <a:cs typeface="Times New Roman"/>
                <a:sym typeface="Times New Roman"/>
              </a:defRPr>
            </a:pPr>
            <a:endParaRPr/>
          </a:p>
          <a:p>
            <a:pPr marL="0" indent="0" defTabSz="12700">
              <a:lnSpc>
                <a:spcPct val="135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800">
                <a:solidFill>
                  <a:srgbClr val="111111"/>
                </a:solidFill>
                <a:latin typeface="Times New Roman"/>
                <a:ea typeface="Times New Roman"/>
                <a:cs typeface="Times New Roman"/>
                <a:sym typeface="Times New Roman"/>
              </a:defRPr>
            </a:pPr>
            <a:r>
              <a:t>Inputs recorded include:</a:t>
            </a:r>
          </a:p>
          <a:p>
            <a:pPr marL="0" indent="0" defTabSz="12700">
              <a:lnSpc>
                <a:spcPct val="135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800">
                <a:solidFill>
                  <a:srgbClr val="111111"/>
                </a:solidFill>
                <a:latin typeface="Times New Roman"/>
                <a:ea typeface="Times New Roman"/>
                <a:cs typeface="Times New Roman"/>
                <a:sym typeface="Times New Roman"/>
              </a:defRPr>
            </a:pPr>
            <a:r>
              <a:t>• Mood score</a:t>
            </a:r>
          </a:p>
          <a:p>
            <a:pPr marL="0" indent="0" defTabSz="12700">
              <a:lnSpc>
                <a:spcPct val="135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800">
                <a:solidFill>
                  <a:srgbClr val="111111"/>
                </a:solidFill>
                <a:latin typeface="Times New Roman"/>
                <a:ea typeface="Times New Roman"/>
                <a:cs typeface="Times New Roman"/>
                <a:sym typeface="Times New Roman"/>
              </a:defRPr>
            </a:pPr>
            <a:r>
              <a:t>• Stress level</a:t>
            </a:r>
          </a:p>
          <a:p>
            <a:pPr marL="0" indent="0" defTabSz="12700">
              <a:lnSpc>
                <a:spcPct val="135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800">
                <a:solidFill>
                  <a:srgbClr val="111111"/>
                </a:solidFill>
                <a:latin typeface="Times New Roman"/>
                <a:ea typeface="Times New Roman"/>
                <a:cs typeface="Times New Roman"/>
                <a:sym typeface="Times New Roman"/>
              </a:defRPr>
            </a:pPr>
            <a:r>
              <a:t>• Sleep duration</a:t>
            </a:r>
          </a:p>
          <a:p>
            <a:pPr marL="0" indent="0" defTabSz="12700">
              <a:lnSpc>
                <a:spcPct val="135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800">
                <a:solidFill>
                  <a:srgbClr val="111111"/>
                </a:solidFill>
                <a:latin typeface="Times New Roman"/>
                <a:ea typeface="Times New Roman"/>
                <a:cs typeface="Times New Roman"/>
                <a:sym typeface="Times New Roman"/>
              </a:defRPr>
            </a:pPr>
            <a:r>
              <a:t>• Physical activity</a:t>
            </a:r>
          </a:p>
          <a:p>
            <a:pPr marL="0" indent="0" defTabSz="12700">
              <a:lnSpc>
                <a:spcPct val="135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800">
                <a:solidFill>
                  <a:srgbClr val="111111"/>
                </a:solidFill>
                <a:latin typeface="Times New Roman"/>
                <a:ea typeface="Times New Roman"/>
                <a:cs typeface="Times New Roman"/>
                <a:sym typeface="Times New Roman"/>
              </a:defRPr>
            </a:pPr>
            <a:r>
              <a:t>• Menstrual cycle day</a:t>
            </a:r>
          </a:p>
          <a:p>
            <a:pPr marL="0" indent="0" defTabSz="12700">
              <a:lnSpc>
                <a:spcPct val="135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800">
                <a:solidFill>
                  <a:srgbClr val="111111"/>
                </a:solidFill>
                <a:latin typeface="Times New Roman"/>
                <a:ea typeface="Times New Roman"/>
                <a:cs typeface="Times New Roman"/>
                <a:sym typeface="Times New Roman"/>
              </a:defRPr>
            </a:pPr>
            <a:endParaRPr/>
          </a:p>
          <a:p>
            <a:pPr marL="0" indent="0" defTabSz="12700">
              <a:lnSpc>
                <a:spcPct val="135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800">
                <a:solidFill>
                  <a:srgbClr val="111111"/>
                </a:solidFill>
                <a:latin typeface="Times New Roman"/>
                <a:ea typeface="Times New Roman"/>
                <a:cs typeface="Times New Roman"/>
                <a:sym typeface="Times New Roman"/>
              </a:defRPr>
            </a:pPr>
            <a:r>
              <a:t>These signals are processed by the machine learning model to analyze emotional wellbeing patterns.</a:t>
            </a:r>
          </a:p>
        </p:txBody>
      </p:sp>
    </p:spTree>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6" name="pasted-movie.png" descr="pasted-movie.png"/>
          <p:cNvPicPr>
            <a:picLocks noChangeAspect="1"/>
          </p:cNvPicPr>
          <p:nvPr/>
        </p:nvPicPr>
        <p:blipFill>
          <a:blip r:embed="rId2"/>
          <a:stretch>
            <a:fillRect/>
          </a:stretch>
        </p:blipFill>
        <p:spPr>
          <a:xfrm>
            <a:off x="-450888" y="-32040"/>
            <a:ext cx="25285776" cy="13780079"/>
          </a:xfrm>
          <a:prstGeom prst="rect">
            <a:avLst/>
          </a:prstGeom>
          <a:ln w="12700">
            <a:miter lim="400000"/>
          </a:ln>
        </p:spPr>
      </p:pic>
    </p:spTree>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 name="Behavioural Analytics Dashboard"/>
          <p:cNvSpPr txBox="1">
            <a:spLocks noGrp="1"/>
          </p:cNvSpPr>
          <p:nvPr>
            <p:ph type="title"/>
          </p:nvPr>
        </p:nvSpPr>
        <p:spPr>
          <a:prstGeom prst="rect">
            <a:avLst/>
          </a:prstGeom>
        </p:spPr>
        <p:txBody>
          <a:bodyPr/>
          <a:lstStyle/>
          <a:p>
            <a:r>
              <a:t>Behavioural Analytics Dashboard </a:t>
            </a:r>
          </a:p>
        </p:txBody>
      </p:sp>
      <p:sp>
        <p:nvSpPr>
          <p:cNvPr id="279" name="The dashboard visualizes relationships between behavioral signals and emotional wellbeing.…"/>
          <p:cNvSpPr txBox="1">
            <a:spLocks noGrp="1"/>
          </p:cNvSpPr>
          <p:nvPr>
            <p:ph type="body" idx="1"/>
          </p:nvPr>
        </p:nvSpPr>
        <p:spPr>
          <a:prstGeom prst="rect">
            <a:avLst/>
          </a:prstGeom>
        </p:spPr>
        <p:txBody>
          <a:bodyPr/>
          <a:lstStyle/>
          <a:p>
            <a:pPr marL="0" indent="0" defTabSz="12700">
              <a:lnSpc>
                <a:spcPct val="135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4100">
                <a:solidFill>
                  <a:srgbClr val="111111"/>
                </a:solidFill>
                <a:latin typeface="Times New Roman"/>
                <a:ea typeface="Times New Roman"/>
                <a:cs typeface="Times New Roman"/>
                <a:sym typeface="Times New Roman"/>
              </a:defRPr>
            </a:pPr>
            <a:r>
              <a:t>The dashboard visualizes relationships between behavioral signals and emotional wellbeing.</a:t>
            </a:r>
          </a:p>
          <a:p>
            <a:pPr marL="0" indent="0" defTabSz="12700">
              <a:lnSpc>
                <a:spcPct val="135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4100">
                <a:solidFill>
                  <a:srgbClr val="111111"/>
                </a:solidFill>
                <a:latin typeface="Times New Roman"/>
                <a:ea typeface="Times New Roman"/>
                <a:cs typeface="Times New Roman"/>
                <a:sym typeface="Times New Roman"/>
              </a:defRPr>
            </a:pPr>
            <a:endParaRPr/>
          </a:p>
          <a:p>
            <a:pPr marL="0" indent="0" defTabSz="12700">
              <a:lnSpc>
                <a:spcPct val="135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4100">
                <a:solidFill>
                  <a:srgbClr val="111111"/>
                </a:solidFill>
                <a:latin typeface="Times New Roman"/>
                <a:ea typeface="Times New Roman"/>
                <a:cs typeface="Times New Roman"/>
                <a:sym typeface="Times New Roman"/>
              </a:defRPr>
            </a:pPr>
            <a:r>
              <a:t>Visualizations include:</a:t>
            </a:r>
          </a:p>
          <a:p>
            <a:pPr marL="0" indent="0" defTabSz="12700">
              <a:lnSpc>
                <a:spcPct val="135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4100">
                <a:solidFill>
                  <a:srgbClr val="111111"/>
                </a:solidFill>
                <a:latin typeface="Times New Roman"/>
                <a:ea typeface="Times New Roman"/>
                <a:cs typeface="Times New Roman"/>
                <a:sym typeface="Times New Roman"/>
              </a:defRPr>
            </a:pPr>
            <a:r>
              <a:t>• Mood variation across cycle days</a:t>
            </a:r>
          </a:p>
          <a:p>
            <a:pPr marL="0" indent="0" defTabSz="12700">
              <a:lnSpc>
                <a:spcPct val="135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4100">
                <a:solidFill>
                  <a:srgbClr val="111111"/>
                </a:solidFill>
                <a:latin typeface="Times New Roman"/>
                <a:ea typeface="Times New Roman"/>
                <a:cs typeface="Times New Roman"/>
                <a:sym typeface="Times New Roman"/>
              </a:defRPr>
            </a:pPr>
            <a:r>
              <a:t>• Stress vs mood patterns</a:t>
            </a:r>
          </a:p>
          <a:p>
            <a:pPr marL="0" indent="0" defTabSz="12700">
              <a:lnSpc>
                <a:spcPct val="135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4100">
                <a:solidFill>
                  <a:srgbClr val="111111"/>
                </a:solidFill>
                <a:latin typeface="Times New Roman"/>
                <a:ea typeface="Times New Roman"/>
                <a:cs typeface="Times New Roman"/>
                <a:sym typeface="Times New Roman"/>
              </a:defRPr>
            </a:pPr>
            <a:r>
              <a:t>• Sleep vs mood relationship</a:t>
            </a:r>
          </a:p>
          <a:p>
            <a:pPr marL="0" indent="0" defTabSz="12700">
              <a:lnSpc>
                <a:spcPct val="135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4100">
                <a:solidFill>
                  <a:srgbClr val="111111"/>
                </a:solidFill>
                <a:latin typeface="Times New Roman"/>
                <a:ea typeface="Times New Roman"/>
                <a:cs typeface="Times New Roman"/>
                <a:sym typeface="Times New Roman"/>
              </a:defRPr>
            </a:pPr>
            <a:r>
              <a:t>• Cycle phase distribution</a:t>
            </a:r>
          </a:p>
          <a:p>
            <a:pPr marL="0" indent="0" defTabSz="12700">
              <a:lnSpc>
                <a:spcPct val="135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4100">
                <a:solidFill>
                  <a:srgbClr val="111111"/>
                </a:solidFill>
                <a:latin typeface="Times New Roman"/>
                <a:ea typeface="Times New Roman"/>
                <a:cs typeface="Times New Roman"/>
                <a:sym typeface="Times New Roman"/>
              </a:defRPr>
            </a:pPr>
            <a:endParaRPr/>
          </a:p>
          <a:p>
            <a:pPr marL="0" indent="0" defTabSz="12700">
              <a:lnSpc>
                <a:spcPct val="135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4100">
                <a:solidFill>
                  <a:srgbClr val="111111"/>
                </a:solidFill>
                <a:latin typeface="Times New Roman"/>
                <a:ea typeface="Times New Roman"/>
                <a:cs typeface="Times New Roman"/>
                <a:sym typeface="Times New Roman"/>
              </a:defRPr>
            </a:pPr>
            <a:r>
              <a:t>These analytics help users understand how daily behaviors influence emotional wellbeing.</a:t>
            </a:r>
          </a:p>
        </p:txBody>
      </p:sp>
    </p:spTree>
  </p:cSld>
  <p:clrMapOvr>
    <a:masterClrMapping/>
  </p:clrMapOvr>
  <p:transition spd="me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1" name="pasted-movie.png" descr="pasted-movie.png"/>
          <p:cNvPicPr>
            <a:picLocks noChangeAspect="1"/>
          </p:cNvPicPr>
          <p:nvPr/>
        </p:nvPicPr>
        <p:blipFill>
          <a:blip r:embed="rId2"/>
          <a:stretch>
            <a:fillRect/>
          </a:stretch>
        </p:blipFill>
        <p:spPr>
          <a:xfrm>
            <a:off x="-447654" y="-47771"/>
            <a:ext cx="25279308" cy="13811542"/>
          </a:xfrm>
          <a:prstGeom prst="rect">
            <a:avLst/>
          </a:prstGeom>
          <a:ln w="12700">
            <a:miter lim="400000"/>
          </a:ln>
        </p:spPr>
      </p:pic>
    </p:spTree>
  </p:cSld>
  <p:clrMapOvr>
    <a:masterClrMapping/>
  </p:clrMapOvr>
  <p:transition spd="me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3" name="Model Insights"/>
          <p:cNvSpPr txBox="1">
            <a:spLocks noGrp="1"/>
          </p:cNvSpPr>
          <p:nvPr>
            <p:ph type="title"/>
          </p:nvPr>
        </p:nvSpPr>
        <p:spPr>
          <a:prstGeom prst="rect">
            <a:avLst/>
          </a:prstGeom>
        </p:spPr>
        <p:txBody>
          <a:bodyPr/>
          <a:lstStyle/>
          <a:p>
            <a:r>
              <a:t>Model Insights </a:t>
            </a:r>
          </a:p>
        </p:txBody>
      </p:sp>
      <p:sp>
        <p:nvSpPr>
          <p:cNvPr id="284" name="The Model Insights page provides interpretability of the machine learning model.…"/>
          <p:cNvSpPr txBox="1">
            <a:spLocks noGrp="1"/>
          </p:cNvSpPr>
          <p:nvPr>
            <p:ph type="body" idx="1"/>
          </p:nvPr>
        </p:nvSpPr>
        <p:spPr>
          <a:prstGeom prst="rect">
            <a:avLst/>
          </a:prstGeom>
        </p:spPr>
        <p:txBody>
          <a:bodyPr/>
          <a:lstStyle/>
          <a:p>
            <a:pPr marL="0" indent="0" defTabSz="12700">
              <a:lnSpc>
                <a:spcPct val="135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4300">
                <a:solidFill>
                  <a:srgbClr val="111111"/>
                </a:solidFill>
                <a:latin typeface="Times New Roman"/>
                <a:ea typeface="Times New Roman"/>
                <a:cs typeface="Times New Roman"/>
                <a:sym typeface="Times New Roman"/>
              </a:defRPr>
            </a:pPr>
            <a:r>
              <a:t>The Model Insights page provides interpretability of the machine learning model.</a:t>
            </a:r>
          </a:p>
          <a:p>
            <a:pPr marL="0" indent="0" defTabSz="12700">
              <a:lnSpc>
                <a:spcPct val="135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4300">
                <a:solidFill>
                  <a:srgbClr val="111111"/>
                </a:solidFill>
                <a:latin typeface="Times New Roman"/>
                <a:ea typeface="Times New Roman"/>
                <a:cs typeface="Times New Roman"/>
                <a:sym typeface="Times New Roman"/>
              </a:defRPr>
            </a:pPr>
            <a:endParaRPr/>
          </a:p>
          <a:p>
            <a:pPr marL="0" indent="0" defTabSz="12700">
              <a:lnSpc>
                <a:spcPct val="135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4300">
                <a:solidFill>
                  <a:srgbClr val="111111"/>
                </a:solidFill>
                <a:latin typeface="Times New Roman"/>
                <a:ea typeface="Times New Roman"/>
                <a:cs typeface="Times New Roman"/>
                <a:sym typeface="Times New Roman"/>
              </a:defRPr>
            </a:pPr>
            <a:r>
              <a:t>Insights provided include:</a:t>
            </a:r>
          </a:p>
          <a:p>
            <a:pPr marL="0" indent="0" defTabSz="12700">
              <a:lnSpc>
                <a:spcPct val="135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4300">
                <a:solidFill>
                  <a:srgbClr val="111111"/>
                </a:solidFill>
                <a:latin typeface="Times New Roman"/>
                <a:ea typeface="Times New Roman"/>
                <a:cs typeface="Times New Roman"/>
                <a:sym typeface="Times New Roman"/>
              </a:defRPr>
            </a:pPr>
            <a:r>
              <a:t>• Feature importance analysis</a:t>
            </a:r>
          </a:p>
          <a:p>
            <a:pPr marL="0" indent="0" defTabSz="12700">
              <a:lnSpc>
                <a:spcPct val="135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4300">
                <a:solidFill>
                  <a:srgbClr val="111111"/>
                </a:solidFill>
                <a:latin typeface="Times New Roman"/>
                <a:ea typeface="Times New Roman"/>
                <a:cs typeface="Times New Roman"/>
                <a:sym typeface="Times New Roman"/>
              </a:defRPr>
            </a:pPr>
            <a:r>
              <a:t>• Behavioral factors influencing predictions</a:t>
            </a:r>
          </a:p>
          <a:p>
            <a:pPr marL="0" indent="0" defTabSz="12700">
              <a:lnSpc>
                <a:spcPct val="135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4300">
                <a:solidFill>
                  <a:srgbClr val="111111"/>
                </a:solidFill>
                <a:latin typeface="Times New Roman"/>
                <a:ea typeface="Times New Roman"/>
                <a:cs typeface="Times New Roman"/>
                <a:sym typeface="Times New Roman"/>
              </a:defRPr>
            </a:pPr>
            <a:r>
              <a:t>• Interaction between cycle phase and stress levels</a:t>
            </a:r>
          </a:p>
          <a:p>
            <a:pPr marL="0" indent="0" defTabSz="12700">
              <a:lnSpc>
                <a:spcPct val="135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4300">
                <a:solidFill>
                  <a:srgbClr val="111111"/>
                </a:solidFill>
                <a:latin typeface="Times New Roman"/>
                <a:ea typeface="Times New Roman"/>
                <a:cs typeface="Times New Roman"/>
                <a:sym typeface="Times New Roman"/>
              </a:defRPr>
            </a:pPr>
            <a:endParaRPr/>
          </a:p>
          <a:p>
            <a:pPr marL="0" indent="0" defTabSz="12700">
              <a:lnSpc>
                <a:spcPct val="135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4300">
                <a:solidFill>
                  <a:srgbClr val="111111"/>
                </a:solidFill>
                <a:latin typeface="Times New Roman"/>
                <a:ea typeface="Times New Roman"/>
                <a:cs typeface="Times New Roman"/>
                <a:sym typeface="Times New Roman"/>
              </a:defRPr>
            </a:pPr>
            <a:r>
              <a:t>This improves transparency and helps understand how the model makes predictions.</a:t>
            </a:r>
          </a:p>
        </p:txBody>
      </p:sp>
    </p:spTree>
  </p:cSld>
  <p:clrMapOvr>
    <a:masterClrMapping/>
  </p:clrMapOvr>
  <p:transition spd="me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 name="pasted-movie.png" descr="pasted-movie.png"/>
          <p:cNvPicPr>
            <a:picLocks noChangeAspect="1"/>
          </p:cNvPicPr>
          <p:nvPr/>
        </p:nvPicPr>
        <p:blipFill>
          <a:blip r:embed="rId2"/>
          <a:stretch>
            <a:fillRect/>
          </a:stretch>
        </p:blipFill>
        <p:spPr>
          <a:xfrm>
            <a:off x="-448207" y="-116191"/>
            <a:ext cx="25280414" cy="13827318"/>
          </a:xfrm>
          <a:prstGeom prst="rect">
            <a:avLst/>
          </a:prstGeom>
          <a:ln w="12700">
            <a:miter lim="400000"/>
          </a:ln>
        </p:spPr>
      </p:pic>
    </p:spTree>
  </p:cSld>
  <p:clrMapOvr>
    <a:masterClrMapping/>
  </p:clrMapOvr>
  <p:transition spd="me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8" name="Research Mode"/>
          <p:cNvSpPr txBox="1">
            <a:spLocks noGrp="1"/>
          </p:cNvSpPr>
          <p:nvPr>
            <p:ph type="title"/>
          </p:nvPr>
        </p:nvSpPr>
        <p:spPr>
          <a:prstGeom prst="rect">
            <a:avLst/>
          </a:prstGeom>
        </p:spPr>
        <p:txBody>
          <a:bodyPr/>
          <a:lstStyle/>
          <a:p>
            <a:r>
              <a:t>Research Mode</a:t>
            </a:r>
          </a:p>
        </p:txBody>
      </p:sp>
      <p:sp>
        <p:nvSpPr>
          <p:cNvPr id="289" name="Research Mode enables deeper exploration of behavioral datasets.…"/>
          <p:cNvSpPr txBox="1">
            <a:spLocks noGrp="1"/>
          </p:cNvSpPr>
          <p:nvPr>
            <p:ph type="body" idx="1"/>
          </p:nvPr>
        </p:nvSpPr>
        <p:spPr>
          <a:prstGeom prst="rect">
            <a:avLst/>
          </a:prstGeom>
        </p:spPr>
        <p:txBody>
          <a:bodyPr/>
          <a:lstStyle/>
          <a:p>
            <a:pPr marL="0" indent="0" defTabSz="12700">
              <a:lnSpc>
                <a:spcPct val="135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4600">
                <a:solidFill>
                  <a:srgbClr val="111111"/>
                </a:solidFill>
                <a:latin typeface="Times New Roman"/>
                <a:ea typeface="Times New Roman"/>
                <a:cs typeface="Times New Roman"/>
                <a:sym typeface="Times New Roman"/>
              </a:defRPr>
            </a:pPr>
            <a:r>
              <a:t>Research Mode enables deeper exploration of behavioral datasets.</a:t>
            </a:r>
          </a:p>
          <a:p>
            <a:pPr marL="0" indent="0" defTabSz="12700">
              <a:lnSpc>
                <a:spcPct val="135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4600">
                <a:solidFill>
                  <a:srgbClr val="111111"/>
                </a:solidFill>
                <a:latin typeface="Times New Roman"/>
                <a:ea typeface="Times New Roman"/>
                <a:cs typeface="Times New Roman"/>
                <a:sym typeface="Times New Roman"/>
              </a:defRPr>
            </a:pPr>
            <a:endParaRPr/>
          </a:p>
          <a:p>
            <a:pPr marL="0" indent="0" defTabSz="12700">
              <a:lnSpc>
                <a:spcPct val="135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4600">
                <a:solidFill>
                  <a:srgbClr val="111111"/>
                </a:solidFill>
                <a:latin typeface="Times New Roman"/>
                <a:ea typeface="Times New Roman"/>
                <a:cs typeface="Times New Roman"/>
                <a:sym typeface="Times New Roman"/>
              </a:defRPr>
            </a:pPr>
            <a:r>
              <a:t>Capabilities include:</a:t>
            </a:r>
          </a:p>
          <a:p>
            <a:pPr marL="0" indent="0" defTabSz="12700">
              <a:lnSpc>
                <a:spcPct val="135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4600">
                <a:solidFill>
                  <a:srgbClr val="111111"/>
                </a:solidFill>
                <a:latin typeface="Times New Roman"/>
                <a:ea typeface="Times New Roman"/>
                <a:cs typeface="Times New Roman"/>
                <a:sym typeface="Times New Roman"/>
              </a:defRPr>
            </a:pPr>
            <a:r>
              <a:t>• viewing dataset statistics</a:t>
            </a:r>
          </a:p>
          <a:p>
            <a:pPr marL="0" indent="0" defTabSz="12700">
              <a:lnSpc>
                <a:spcPct val="135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4600">
                <a:solidFill>
                  <a:srgbClr val="111111"/>
                </a:solidFill>
                <a:latin typeface="Times New Roman"/>
                <a:ea typeface="Times New Roman"/>
                <a:cs typeface="Times New Roman"/>
                <a:sym typeface="Times New Roman"/>
              </a:defRPr>
            </a:pPr>
            <a:r>
              <a:t>• exploring feature correlations</a:t>
            </a:r>
          </a:p>
          <a:p>
            <a:pPr marL="0" indent="0" defTabSz="12700">
              <a:lnSpc>
                <a:spcPct val="135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4600">
                <a:solidFill>
                  <a:srgbClr val="111111"/>
                </a:solidFill>
                <a:latin typeface="Times New Roman"/>
                <a:ea typeface="Times New Roman"/>
                <a:cs typeface="Times New Roman"/>
                <a:sym typeface="Times New Roman"/>
              </a:defRPr>
            </a:pPr>
            <a:r>
              <a:t>• analyzing behavioral patterns across users</a:t>
            </a:r>
          </a:p>
          <a:p>
            <a:pPr marL="0" indent="0" defTabSz="12700">
              <a:lnSpc>
                <a:spcPct val="135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4600">
                <a:solidFill>
                  <a:srgbClr val="111111"/>
                </a:solidFill>
                <a:latin typeface="Times New Roman"/>
                <a:ea typeface="Times New Roman"/>
                <a:cs typeface="Times New Roman"/>
                <a:sym typeface="Times New Roman"/>
              </a:defRPr>
            </a:pPr>
            <a:endParaRPr/>
          </a:p>
          <a:p>
            <a:pPr marL="0" indent="0" defTabSz="12700">
              <a:lnSpc>
                <a:spcPct val="135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4600">
                <a:solidFill>
                  <a:srgbClr val="111111"/>
                </a:solidFill>
                <a:latin typeface="Times New Roman"/>
                <a:ea typeface="Times New Roman"/>
                <a:cs typeface="Times New Roman"/>
                <a:sym typeface="Times New Roman"/>
              </a:defRPr>
            </a:pPr>
            <a:r>
              <a:t>This mode supports research and experimentation with emotional wellbeing datasets.</a:t>
            </a:r>
          </a:p>
        </p:txBody>
      </p:sp>
    </p:spTree>
  </p:cSld>
  <p:clrMapOvr>
    <a:masterClrMapping/>
  </p:clrMapOvr>
  <p:transition spd="me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1" name="pasted-movie.png" descr="pasted-movie.png"/>
          <p:cNvPicPr>
            <a:picLocks noChangeAspect="1"/>
          </p:cNvPicPr>
          <p:nvPr/>
        </p:nvPicPr>
        <p:blipFill>
          <a:blip r:embed="rId2"/>
          <a:stretch>
            <a:fillRect/>
          </a:stretch>
        </p:blipFill>
        <p:spPr>
          <a:xfrm>
            <a:off x="-448546" y="-39124"/>
            <a:ext cx="25281092" cy="13794248"/>
          </a:xfrm>
          <a:prstGeom prst="rect">
            <a:avLst/>
          </a:prstGeom>
          <a:ln w="12700">
            <a:miter lim="400000"/>
          </a:ln>
        </p:spPr>
      </p:pic>
    </p:spTree>
  </p:cSld>
  <p:clrMapOvr>
    <a:masterClrMapping/>
  </p:clrMapOvr>
  <p:transition spd="me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3" name="Key Contributions"/>
          <p:cNvSpPr txBox="1">
            <a:spLocks noGrp="1"/>
          </p:cNvSpPr>
          <p:nvPr>
            <p:ph type="title"/>
          </p:nvPr>
        </p:nvSpPr>
        <p:spPr>
          <a:prstGeom prst="rect">
            <a:avLst/>
          </a:prstGeom>
        </p:spPr>
        <p:txBody>
          <a:bodyPr/>
          <a:lstStyle/>
          <a:p>
            <a:r>
              <a:t>Key Contributions </a:t>
            </a:r>
          </a:p>
        </p:txBody>
      </p:sp>
      <p:sp>
        <p:nvSpPr>
          <p:cNvPr id="294" name="This project introduces several contributions:…"/>
          <p:cNvSpPr txBox="1">
            <a:spLocks noGrp="1"/>
          </p:cNvSpPr>
          <p:nvPr>
            <p:ph type="body" idx="1"/>
          </p:nvPr>
        </p:nvSpPr>
        <p:spPr>
          <a:prstGeom prst="rect">
            <a:avLst/>
          </a:prstGeom>
        </p:spPr>
        <p:txBody>
          <a:bodyPr/>
          <a:lstStyle/>
          <a:p>
            <a:pPr marL="0" indent="0" defTabSz="12700">
              <a:lnSpc>
                <a:spcPct val="135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4100">
                <a:solidFill>
                  <a:srgbClr val="111111"/>
                </a:solidFill>
                <a:latin typeface="Times New Roman"/>
                <a:ea typeface="Times New Roman"/>
                <a:cs typeface="Times New Roman"/>
                <a:sym typeface="Times New Roman"/>
              </a:defRPr>
            </a:pPr>
            <a:r>
              <a:t>This project introduces several contributions:</a:t>
            </a:r>
          </a:p>
          <a:p>
            <a:pPr marL="266700" indent="-266700" defTabSz="12700">
              <a:lnSpc>
                <a:spcPct val="135000"/>
              </a:lnSpc>
              <a:spcBef>
                <a:spcPts val="1200"/>
              </a:spcBef>
              <a:buSzTx/>
              <a:buNone/>
              <a:tabLst>
                <a:tab pos="165100" algn="r"/>
                <a:tab pos="266700" algn="l"/>
              </a:tabLst>
              <a:defRPr sz="4100" b="1">
                <a:solidFill>
                  <a:srgbClr val="111111"/>
                </a:solidFill>
                <a:latin typeface="Times New Roman"/>
                <a:ea typeface="Times New Roman"/>
                <a:cs typeface="Times New Roman"/>
                <a:sym typeface="Times New Roman"/>
              </a:defRPr>
            </a:pPr>
            <a:r>
              <a:rPr b="0"/>
              <a:t>	1.	</a:t>
            </a:r>
            <a:r>
              <a:t>Cycle-aware behavioral analytics system</a:t>
            </a:r>
          </a:p>
          <a:p>
            <a:pPr marL="266700" indent="-266700" defTabSz="12700">
              <a:lnSpc>
                <a:spcPct val="135000"/>
              </a:lnSpc>
              <a:spcBef>
                <a:spcPts val="1200"/>
              </a:spcBef>
              <a:buSzTx/>
              <a:buNone/>
              <a:tabLst>
                <a:tab pos="165100" algn="r"/>
                <a:tab pos="266700" algn="l"/>
              </a:tabLst>
              <a:defRPr sz="4100">
                <a:solidFill>
                  <a:srgbClr val="111111"/>
                </a:solidFill>
                <a:latin typeface="Times New Roman"/>
                <a:ea typeface="Times New Roman"/>
                <a:cs typeface="Times New Roman"/>
                <a:sym typeface="Times New Roman"/>
              </a:defRPr>
            </a:pPr>
            <a:r>
              <a:t>Combines hormonal cycle information with behavioral signals.</a:t>
            </a:r>
          </a:p>
          <a:p>
            <a:pPr marL="266700" indent="-266700" defTabSz="12700">
              <a:lnSpc>
                <a:spcPct val="135000"/>
              </a:lnSpc>
              <a:spcBef>
                <a:spcPts val="1200"/>
              </a:spcBef>
              <a:buSzTx/>
              <a:buNone/>
              <a:tabLst>
                <a:tab pos="165100" algn="r"/>
                <a:tab pos="266700" algn="l"/>
              </a:tabLst>
              <a:defRPr sz="4100" b="1">
                <a:solidFill>
                  <a:srgbClr val="111111"/>
                </a:solidFill>
                <a:latin typeface="Times New Roman"/>
                <a:ea typeface="Times New Roman"/>
                <a:cs typeface="Times New Roman"/>
                <a:sym typeface="Times New Roman"/>
              </a:defRPr>
            </a:pPr>
            <a:r>
              <a:rPr b="0"/>
              <a:t>	2.	</a:t>
            </a:r>
            <a:r>
              <a:t>Machine learning based emotional pattern analysis</a:t>
            </a:r>
          </a:p>
          <a:p>
            <a:pPr marL="266700" indent="-266700" defTabSz="12700">
              <a:lnSpc>
                <a:spcPct val="135000"/>
              </a:lnSpc>
              <a:spcBef>
                <a:spcPts val="1200"/>
              </a:spcBef>
              <a:buSzTx/>
              <a:buNone/>
              <a:tabLst>
                <a:tab pos="165100" algn="r"/>
                <a:tab pos="266700" algn="l"/>
              </a:tabLst>
              <a:defRPr sz="4100">
                <a:solidFill>
                  <a:srgbClr val="111111"/>
                </a:solidFill>
                <a:latin typeface="Times New Roman"/>
                <a:ea typeface="Times New Roman"/>
                <a:cs typeface="Times New Roman"/>
                <a:sym typeface="Times New Roman"/>
              </a:defRPr>
            </a:pPr>
            <a:r>
              <a:t>Uses predictive models to analyze emotional wellbeing.</a:t>
            </a:r>
          </a:p>
          <a:p>
            <a:pPr marL="266700" indent="-266700" defTabSz="12700">
              <a:lnSpc>
                <a:spcPct val="135000"/>
              </a:lnSpc>
              <a:spcBef>
                <a:spcPts val="1200"/>
              </a:spcBef>
              <a:buSzTx/>
              <a:buNone/>
              <a:tabLst>
                <a:tab pos="165100" algn="r"/>
                <a:tab pos="266700" algn="l"/>
              </a:tabLst>
              <a:defRPr sz="4100" b="1">
                <a:solidFill>
                  <a:srgbClr val="111111"/>
                </a:solidFill>
                <a:latin typeface="Times New Roman"/>
                <a:ea typeface="Times New Roman"/>
                <a:cs typeface="Times New Roman"/>
                <a:sym typeface="Times New Roman"/>
              </a:defRPr>
            </a:pPr>
            <a:r>
              <a:rPr b="0"/>
              <a:t>	3.	</a:t>
            </a:r>
            <a:r>
              <a:t>Explainable analytics</a:t>
            </a:r>
          </a:p>
          <a:p>
            <a:pPr marL="266700" indent="-266700" defTabSz="12700">
              <a:lnSpc>
                <a:spcPct val="135000"/>
              </a:lnSpc>
              <a:spcBef>
                <a:spcPts val="1200"/>
              </a:spcBef>
              <a:buSzTx/>
              <a:buNone/>
              <a:tabLst>
                <a:tab pos="165100" algn="r"/>
                <a:tab pos="266700" algn="l"/>
              </a:tabLst>
              <a:defRPr sz="4100">
                <a:solidFill>
                  <a:srgbClr val="111111"/>
                </a:solidFill>
                <a:latin typeface="Times New Roman"/>
                <a:ea typeface="Times New Roman"/>
                <a:cs typeface="Times New Roman"/>
                <a:sym typeface="Times New Roman"/>
              </a:defRPr>
            </a:pPr>
            <a:r>
              <a:t>Identifies behavioral factors influencing emotional outcomes.</a:t>
            </a:r>
          </a:p>
          <a:p>
            <a:pPr marL="266700" indent="-266700" defTabSz="12700">
              <a:lnSpc>
                <a:spcPct val="135000"/>
              </a:lnSpc>
              <a:spcBef>
                <a:spcPts val="1200"/>
              </a:spcBef>
              <a:buSzTx/>
              <a:buNone/>
              <a:tabLst>
                <a:tab pos="165100" algn="r"/>
                <a:tab pos="266700" algn="l"/>
              </a:tabLst>
              <a:defRPr sz="4100" b="1">
                <a:solidFill>
                  <a:srgbClr val="111111"/>
                </a:solidFill>
                <a:latin typeface="Times New Roman"/>
                <a:ea typeface="Times New Roman"/>
                <a:cs typeface="Times New Roman"/>
                <a:sym typeface="Times New Roman"/>
              </a:defRPr>
            </a:pPr>
            <a:r>
              <a:rPr b="0"/>
              <a:t>	4.	</a:t>
            </a:r>
            <a:r>
              <a:t>Integrated research platform</a:t>
            </a:r>
          </a:p>
          <a:p>
            <a:pPr marL="266700" indent="-266700" defTabSz="12700">
              <a:lnSpc>
                <a:spcPct val="135000"/>
              </a:lnSpc>
              <a:spcBef>
                <a:spcPts val="1200"/>
              </a:spcBef>
              <a:buSzTx/>
              <a:buNone/>
              <a:tabLst>
                <a:tab pos="165100" algn="r"/>
                <a:tab pos="266700" algn="l"/>
              </a:tabLst>
              <a:defRPr sz="4100">
                <a:solidFill>
                  <a:srgbClr val="111111"/>
                </a:solidFill>
                <a:latin typeface="Times New Roman"/>
                <a:ea typeface="Times New Roman"/>
                <a:cs typeface="Times New Roman"/>
                <a:sym typeface="Times New Roman"/>
              </a:defRPr>
            </a:pPr>
            <a:r>
              <a:t>Combines dataset generation, modeling, and UI visualization.</a:t>
            </a:r>
          </a:p>
        </p:txBody>
      </p:sp>
    </p:spTree>
  </p:cSld>
  <p:clrMapOvr>
    <a:masterClrMapping/>
  </p:clrMapOvr>
  <p:transition spd="me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 name="Limitations"/>
          <p:cNvSpPr txBox="1">
            <a:spLocks noGrp="1"/>
          </p:cNvSpPr>
          <p:nvPr>
            <p:ph type="title"/>
          </p:nvPr>
        </p:nvSpPr>
        <p:spPr>
          <a:prstGeom prst="rect">
            <a:avLst/>
          </a:prstGeom>
        </p:spPr>
        <p:txBody>
          <a:bodyPr/>
          <a:lstStyle/>
          <a:p>
            <a:r>
              <a:t>Limitations </a:t>
            </a:r>
          </a:p>
        </p:txBody>
      </p:sp>
      <p:sp>
        <p:nvSpPr>
          <p:cNvPr id="297" name="The current version of LunaAura has several limitations that should be addressed in future work.…"/>
          <p:cNvSpPr txBox="1">
            <a:spLocks noGrp="1"/>
          </p:cNvSpPr>
          <p:nvPr>
            <p:ph type="body" idx="1"/>
          </p:nvPr>
        </p:nvSpPr>
        <p:spPr>
          <a:xfrm>
            <a:off x="1219200" y="2766290"/>
            <a:ext cx="22375815" cy="10080959"/>
          </a:xfrm>
          <a:prstGeom prst="rect">
            <a:avLst/>
          </a:prstGeom>
        </p:spPr>
        <p:txBody>
          <a:bodyPr/>
          <a:lstStyle/>
          <a:p>
            <a:pPr marL="0" indent="0" defTabSz="12700">
              <a:lnSpc>
                <a:spcPct val="135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600">
                <a:solidFill>
                  <a:srgbClr val="111111"/>
                </a:solidFill>
                <a:latin typeface="Times New Roman"/>
                <a:ea typeface="Times New Roman"/>
                <a:cs typeface="Times New Roman"/>
                <a:sym typeface="Times New Roman"/>
              </a:defRPr>
            </a:pPr>
            <a:r>
              <a:t>The current version of LunaAura has several limitations that should be addressed in future work.</a:t>
            </a:r>
          </a:p>
          <a:p>
            <a:pPr marL="0" indent="0" defTabSz="12700">
              <a:lnSpc>
                <a:spcPct val="135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600" b="1">
                <a:solidFill>
                  <a:srgbClr val="111111"/>
                </a:solidFill>
                <a:latin typeface="Times New Roman"/>
                <a:ea typeface="Times New Roman"/>
                <a:cs typeface="Times New Roman"/>
                <a:sym typeface="Times New Roman"/>
              </a:defRPr>
            </a:pPr>
            <a:r>
              <a:rPr b="0"/>
              <a:t>• </a:t>
            </a:r>
            <a:r>
              <a:t>Limited dataset scale</a:t>
            </a:r>
            <a:endParaRPr b="0"/>
          </a:p>
          <a:p>
            <a:pPr marL="0" indent="0" defTabSz="12700">
              <a:lnSpc>
                <a:spcPct val="135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600">
                <a:solidFill>
                  <a:srgbClr val="111111"/>
                </a:solidFill>
                <a:latin typeface="Times New Roman"/>
                <a:ea typeface="Times New Roman"/>
                <a:cs typeface="Times New Roman"/>
                <a:sym typeface="Times New Roman"/>
              </a:defRPr>
            </a:pPr>
            <a:r>
              <a:t>The model is trained on a relatively small dataset and would benefit from larger real-world behavioral datasets.</a:t>
            </a:r>
          </a:p>
          <a:p>
            <a:pPr marL="0" indent="0" defTabSz="12700">
              <a:lnSpc>
                <a:spcPct val="135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600" b="1">
                <a:solidFill>
                  <a:srgbClr val="111111"/>
                </a:solidFill>
                <a:latin typeface="Times New Roman"/>
                <a:ea typeface="Times New Roman"/>
                <a:cs typeface="Times New Roman"/>
                <a:sym typeface="Times New Roman"/>
              </a:defRPr>
            </a:pPr>
            <a:r>
              <a:rPr b="0"/>
              <a:t>• </a:t>
            </a:r>
            <a:r>
              <a:t>Partially synthetic dataset generation</a:t>
            </a:r>
            <a:endParaRPr b="0"/>
          </a:p>
          <a:p>
            <a:pPr marL="0" indent="0" defTabSz="12700">
              <a:lnSpc>
                <a:spcPct val="135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600">
                <a:solidFill>
                  <a:srgbClr val="111111"/>
                </a:solidFill>
                <a:latin typeface="Times New Roman"/>
                <a:ea typeface="Times New Roman"/>
                <a:cs typeface="Times New Roman"/>
                <a:sym typeface="Times New Roman"/>
              </a:defRPr>
            </a:pPr>
            <a:r>
              <a:t>Some behavioral and cycle-based signals are generated through simulation, which may not fully capture real-world variability.</a:t>
            </a:r>
          </a:p>
          <a:p>
            <a:pPr marL="0" indent="0" defTabSz="12700">
              <a:lnSpc>
                <a:spcPct val="135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600" b="1">
                <a:solidFill>
                  <a:srgbClr val="111111"/>
                </a:solidFill>
                <a:latin typeface="Times New Roman"/>
                <a:ea typeface="Times New Roman"/>
                <a:cs typeface="Times New Roman"/>
                <a:sym typeface="Times New Roman"/>
              </a:defRPr>
            </a:pPr>
            <a:r>
              <a:rPr b="0"/>
              <a:t>• </a:t>
            </a:r>
            <a:r>
              <a:t>Dependence on self-reported behavioral inputs</a:t>
            </a:r>
            <a:endParaRPr b="0"/>
          </a:p>
          <a:p>
            <a:pPr marL="0" indent="0" defTabSz="12700">
              <a:lnSpc>
                <a:spcPct val="135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600">
                <a:solidFill>
                  <a:srgbClr val="111111"/>
                </a:solidFill>
                <a:latin typeface="Times New Roman"/>
                <a:ea typeface="Times New Roman"/>
                <a:cs typeface="Times New Roman"/>
                <a:sym typeface="Times New Roman"/>
              </a:defRPr>
            </a:pPr>
            <a:r>
              <a:t>Mood, stress, and activity data rely on user self-reporting, which may introduce bias or inconsistencies.</a:t>
            </a:r>
          </a:p>
          <a:p>
            <a:pPr marL="0" indent="0" defTabSz="12700">
              <a:lnSpc>
                <a:spcPct val="135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600" b="1">
                <a:solidFill>
                  <a:srgbClr val="111111"/>
                </a:solidFill>
                <a:latin typeface="Times New Roman"/>
                <a:ea typeface="Times New Roman"/>
                <a:cs typeface="Times New Roman"/>
                <a:sym typeface="Times New Roman"/>
              </a:defRPr>
            </a:pPr>
            <a:r>
              <a:rPr b="0"/>
              <a:t>• </a:t>
            </a:r>
            <a:r>
              <a:t>Accuracy of analytics depends on continuous daily logging</a:t>
            </a:r>
            <a:endParaRPr b="0"/>
          </a:p>
          <a:p>
            <a:pPr marL="0" indent="0" defTabSz="12700">
              <a:lnSpc>
                <a:spcPct val="135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600">
                <a:solidFill>
                  <a:srgbClr val="111111"/>
                </a:solidFill>
                <a:latin typeface="Times New Roman"/>
                <a:ea typeface="Times New Roman"/>
                <a:cs typeface="Times New Roman"/>
                <a:sym typeface="Times New Roman"/>
              </a:defRPr>
            </a:pPr>
            <a:r>
              <a:t>Behavioral charts and insights become more accurate only when users log data consistently over time. Sparse logging reduces the reliability of trend analysis.</a:t>
            </a:r>
          </a:p>
          <a:p>
            <a:pPr marL="0" indent="0" defTabSz="12700">
              <a:lnSpc>
                <a:spcPct val="135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600" b="1">
                <a:solidFill>
                  <a:srgbClr val="111111"/>
                </a:solidFill>
                <a:latin typeface="Times New Roman"/>
                <a:ea typeface="Times New Roman"/>
                <a:cs typeface="Times New Roman"/>
                <a:sym typeface="Times New Roman"/>
              </a:defRPr>
            </a:pPr>
            <a:r>
              <a:rPr b="0"/>
              <a:t>• </a:t>
            </a:r>
            <a:r>
              <a:t>Limited historical data for visualization</a:t>
            </a:r>
            <a:endParaRPr b="0"/>
          </a:p>
          <a:p>
            <a:pPr marL="0" indent="0" defTabSz="12700">
              <a:lnSpc>
                <a:spcPct val="135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600">
                <a:solidFill>
                  <a:srgbClr val="111111"/>
                </a:solidFill>
                <a:latin typeface="Times New Roman"/>
                <a:ea typeface="Times New Roman"/>
                <a:cs typeface="Times New Roman"/>
                <a:sym typeface="Times New Roman"/>
              </a:defRPr>
            </a:pPr>
            <a:r>
              <a:t>The current charts provide preliminary insights but require longer-term behavioral data to generate more robust and reliable trends.</a:t>
            </a:r>
          </a:p>
        </p:txBody>
      </p:sp>
    </p:spTree>
  </p:cSld>
  <p:clrMapOvr>
    <a:masterClrMapping/>
  </p:clrMapOvr>
  <p:transition spd="me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9" name="Future Work"/>
          <p:cNvSpPr txBox="1">
            <a:spLocks noGrp="1"/>
          </p:cNvSpPr>
          <p:nvPr>
            <p:ph type="title"/>
          </p:nvPr>
        </p:nvSpPr>
        <p:spPr>
          <a:prstGeom prst="rect">
            <a:avLst/>
          </a:prstGeom>
        </p:spPr>
        <p:txBody>
          <a:bodyPr/>
          <a:lstStyle/>
          <a:p>
            <a:r>
              <a:t>Future Work</a:t>
            </a:r>
          </a:p>
        </p:txBody>
      </p:sp>
      <p:sp>
        <p:nvSpPr>
          <p:cNvPr id="300" name="Future improvements include:…"/>
          <p:cNvSpPr txBox="1">
            <a:spLocks noGrp="1"/>
          </p:cNvSpPr>
          <p:nvPr>
            <p:ph type="body" idx="1"/>
          </p:nvPr>
        </p:nvSpPr>
        <p:spPr>
          <a:prstGeom prst="rect">
            <a:avLst/>
          </a:prstGeom>
        </p:spPr>
        <p:txBody>
          <a:bodyPr/>
          <a:lstStyle/>
          <a:p>
            <a:pPr marL="0" indent="0" defTabSz="12700">
              <a:lnSpc>
                <a:spcPct val="135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4500">
                <a:solidFill>
                  <a:srgbClr val="111111"/>
                </a:solidFill>
                <a:latin typeface="Times New Roman"/>
                <a:ea typeface="Times New Roman"/>
                <a:cs typeface="Times New Roman"/>
                <a:sym typeface="Times New Roman"/>
              </a:defRPr>
            </a:pPr>
            <a:r>
              <a:t>Future improvements include:</a:t>
            </a:r>
          </a:p>
          <a:p>
            <a:pPr marL="0" indent="0" defTabSz="12700">
              <a:lnSpc>
                <a:spcPct val="135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4500">
                <a:solidFill>
                  <a:srgbClr val="111111"/>
                </a:solidFill>
                <a:latin typeface="Times New Roman"/>
                <a:ea typeface="Times New Roman"/>
                <a:cs typeface="Times New Roman"/>
                <a:sym typeface="Times New Roman"/>
              </a:defRPr>
            </a:pPr>
            <a:r>
              <a:t>• integration with wearable devices</a:t>
            </a:r>
          </a:p>
          <a:p>
            <a:pPr marL="0" indent="0" defTabSz="12700">
              <a:lnSpc>
                <a:spcPct val="135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4500">
                <a:solidFill>
                  <a:srgbClr val="111111"/>
                </a:solidFill>
                <a:latin typeface="Times New Roman"/>
                <a:ea typeface="Times New Roman"/>
                <a:cs typeface="Times New Roman"/>
                <a:sym typeface="Times New Roman"/>
              </a:defRPr>
            </a:pPr>
            <a:r>
              <a:t>• real-time behavioral monitoring</a:t>
            </a:r>
          </a:p>
          <a:p>
            <a:pPr marL="0" indent="0" defTabSz="12700">
              <a:lnSpc>
                <a:spcPct val="135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4500">
                <a:solidFill>
                  <a:srgbClr val="111111"/>
                </a:solidFill>
                <a:latin typeface="Times New Roman"/>
                <a:ea typeface="Times New Roman"/>
                <a:cs typeface="Times New Roman"/>
                <a:sym typeface="Times New Roman"/>
              </a:defRPr>
            </a:pPr>
            <a:r>
              <a:t>• mobile application development</a:t>
            </a:r>
          </a:p>
          <a:p>
            <a:pPr marL="0" indent="0" defTabSz="12700">
              <a:lnSpc>
                <a:spcPct val="135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4500">
                <a:solidFill>
                  <a:srgbClr val="111111"/>
                </a:solidFill>
                <a:latin typeface="Times New Roman"/>
                <a:ea typeface="Times New Roman"/>
                <a:cs typeface="Times New Roman"/>
                <a:sym typeface="Times New Roman"/>
              </a:defRPr>
            </a:pPr>
            <a:r>
              <a:t>• larger real-world datasets</a:t>
            </a:r>
          </a:p>
          <a:p>
            <a:pPr marL="0" indent="0" defTabSz="12700">
              <a:lnSpc>
                <a:spcPct val="135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4500">
                <a:solidFill>
                  <a:srgbClr val="111111"/>
                </a:solidFill>
                <a:latin typeface="Times New Roman"/>
                <a:ea typeface="Times New Roman"/>
                <a:cs typeface="Times New Roman"/>
                <a:sym typeface="Times New Roman"/>
              </a:defRPr>
            </a:pPr>
            <a:r>
              <a:t>• advanced time-series models</a:t>
            </a:r>
          </a:p>
          <a:p>
            <a:pPr marL="0" indent="0" defTabSz="12700">
              <a:lnSpc>
                <a:spcPct val="135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4500">
                <a:solidFill>
                  <a:srgbClr val="111111"/>
                </a:solidFill>
                <a:latin typeface="Times New Roman"/>
                <a:ea typeface="Times New Roman"/>
                <a:cs typeface="Times New Roman"/>
                <a:sym typeface="Times New Roman"/>
              </a:defRPr>
            </a:pPr>
            <a:endParaRPr/>
          </a:p>
          <a:p>
            <a:pPr marL="0" indent="0" defTabSz="12700">
              <a:lnSpc>
                <a:spcPct val="135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4500">
                <a:solidFill>
                  <a:srgbClr val="111111"/>
                </a:solidFill>
                <a:latin typeface="Times New Roman"/>
                <a:ea typeface="Times New Roman"/>
                <a:cs typeface="Times New Roman"/>
                <a:sym typeface="Times New Roman"/>
              </a:defRPr>
            </a:pPr>
            <a:r>
              <a:t>These enhancements will improve the system’s predictive capabilities and real-world usability.</a:t>
            </a:r>
          </a:p>
        </p:txBody>
      </p:sp>
    </p:spTree>
  </p:cSld>
  <p:clrMapOvr>
    <a:masterClrMapping/>
  </p:clrMapOvr>
  <p:transition spd="me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2" name="Conclusion"/>
          <p:cNvSpPr txBox="1">
            <a:spLocks noGrp="1"/>
          </p:cNvSpPr>
          <p:nvPr>
            <p:ph type="title"/>
          </p:nvPr>
        </p:nvSpPr>
        <p:spPr>
          <a:prstGeom prst="rect">
            <a:avLst/>
          </a:prstGeom>
        </p:spPr>
        <p:txBody>
          <a:bodyPr/>
          <a:lstStyle/>
          <a:p>
            <a:r>
              <a:t>Conclusion </a:t>
            </a:r>
          </a:p>
        </p:txBody>
      </p:sp>
      <p:sp>
        <p:nvSpPr>
          <p:cNvPr id="303" name="LunaAura demonstrates how machine learning can be used to analyze relationships between behavioral signals and emotional wellbeing.…"/>
          <p:cNvSpPr txBox="1">
            <a:spLocks noGrp="1"/>
          </p:cNvSpPr>
          <p:nvPr>
            <p:ph type="body" idx="1"/>
          </p:nvPr>
        </p:nvSpPr>
        <p:spPr>
          <a:prstGeom prst="rect">
            <a:avLst/>
          </a:prstGeom>
        </p:spPr>
        <p:txBody>
          <a:bodyPr/>
          <a:lstStyle/>
          <a:p>
            <a:pPr marL="0" indent="0" defTabSz="12700">
              <a:lnSpc>
                <a:spcPct val="135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4900">
                <a:solidFill>
                  <a:srgbClr val="111111"/>
                </a:solidFill>
                <a:latin typeface="Times New Roman"/>
                <a:ea typeface="Times New Roman"/>
                <a:cs typeface="Times New Roman"/>
                <a:sym typeface="Times New Roman"/>
              </a:defRPr>
            </a:pPr>
            <a:r>
              <a:t>LunaAura demonstrates how machine learning can be used to analyze relationships between behavioral signals and emotional wellbeing.</a:t>
            </a:r>
          </a:p>
          <a:p>
            <a:pPr marL="0" indent="0" defTabSz="12700">
              <a:lnSpc>
                <a:spcPct val="135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4900">
                <a:solidFill>
                  <a:srgbClr val="111111"/>
                </a:solidFill>
                <a:latin typeface="Times New Roman"/>
                <a:ea typeface="Times New Roman"/>
                <a:cs typeface="Times New Roman"/>
                <a:sym typeface="Times New Roman"/>
              </a:defRPr>
            </a:pPr>
            <a:endParaRPr/>
          </a:p>
          <a:p>
            <a:pPr marL="0" indent="0" defTabSz="12700">
              <a:lnSpc>
                <a:spcPct val="135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4900">
                <a:solidFill>
                  <a:srgbClr val="111111"/>
                </a:solidFill>
                <a:latin typeface="Times New Roman"/>
                <a:ea typeface="Times New Roman"/>
                <a:cs typeface="Times New Roman"/>
                <a:sym typeface="Times New Roman"/>
              </a:defRPr>
            </a:pPr>
            <a:r>
              <a:t>The system integrates behavioral inputs, cycle-aware features, and machine learning analytics to provide insights into emotional patterns.</a:t>
            </a:r>
          </a:p>
          <a:p>
            <a:pPr marL="0" indent="0" defTabSz="12700">
              <a:lnSpc>
                <a:spcPct val="135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4900">
                <a:solidFill>
                  <a:srgbClr val="111111"/>
                </a:solidFill>
                <a:latin typeface="Times New Roman"/>
                <a:ea typeface="Times New Roman"/>
                <a:cs typeface="Times New Roman"/>
                <a:sym typeface="Times New Roman"/>
              </a:defRPr>
            </a:pPr>
            <a:endParaRPr/>
          </a:p>
          <a:p>
            <a:pPr marL="0" indent="0" defTabSz="12700">
              <a:lnSpc>
                <a:spcPct val="135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4900">
                <a:solidFill>
                  <a:srgbClr val="111111"/>
                </a:solidFill>
                <a:latin typeface="Times New Roman"/>
                <a:ea typeface="Times New Roman"/>
                <a:cs typeface="Times New Roman"/>
                <a:sym typeface="Times New Roman"/>
              </a:defRPr>
            </a:pPr>
            <a:r>
              <a:t>The results highlight the potential of behavioral analytics platforms in digital mental health research.</a:t>
            </a:r>
          </a:p>
        </p:txBody>
      </p:sp>
    </p:spTree>
  </p:cSld>
  <p:clrMapOvr>
    <a:masterClrMapping/>
  </p:clrMapOvr>
  <p:transition spd="me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 name="Paper Publication Documentation"/>
          <p:cNvSpPr txBox="1">
            <a:spLocks noGrp="1"/>
          </p:cNvSpPr>
          <p:nvPr>
            <p:ph type="title"/>
          </p:nvPr>
        </p:nvSpPr>
        <p:spPr>
          <a:prstGeom prst="rect">
            <a:avLst/>
          </a:prstGeom>
        </p:spPr>
        <p:txBody>
          <a:bodyPr/>
          <a:lstStyle/>
          <a:p>
            <a:r>
              <a:t>Paper Publication Documentation </a:t>
            </a:r>
          </a:p>
        </p:txBody>
      </p:sp>
      <p:sp>
        <p:nvSpPr>
          <p:cNvPr id="306" name="ICAIHC – IEEE International Conference on Ambient Intelligence in Healthcare."/>
          <p:cNvSpPr txBox="1">
            <a:spLocks noGrp="1"/>
          </p:cNvSpPr>
          <p:nvPr>
            <p:ph type="body" idx="1"/>
          </p:nvPr>
        </p:nvSpPr>
        <p:spPr>
          <a:xfrm>
            <a:off x="1217711" y="3154218"/>
            <a:ext cx="21948578" cy="8483601"/>
          </a:xfrm>
          <a:prstGeom prst="rect">
            <a:avLst/>
          </a:prstGeom>
        </p:spPr>
        <p:txBody>
          <a:bodyPr/>
          <a:lstStyle/>
          <a:p>
            <a:pPr marL="0" indent="0" defTabSz="914400">
              <a:lnSpc>
                <a:spcPct val="135000"/>
              </a:lnSpc>
              <a:spcBef>
                <a:spcPts val="0"/>
              </a:spcBef>
              <a:buSzTx/>
              <a:buNone/>
              <a:tabLst>
                <a:tab pos="139700" algn="l"/>
                <a:tab pos="279400" algn="l"/>
                <a:tab pos="419100" algn="l"/>
                <a:tab pos="558800" algn="l"/>
                <a:tab pos="711200" algn="l"/>
                <a:tab pos="850900" algn="l"/>
                <a:tab pos="990600" algn="l"/>
                <a:tab pos="1130300" algn="l"/>
                <a:tab pos="1270000" algn="l"/>
                <a:tab pos="1422400" algn="l"/>
                <a:tab pos="1562100" algn="l"/>
                <a:tab pos="1701800" algn="l"/>
              </a:tabLst>
              <a:defRPr sz="2520" i="1">
                <a:solidFill>
                  <a:srgbClr val="111111"/>
                </a:solidFill>
                <a:latin typeface="Times New Roman"/>
                <a:ea typeface="Times New Roman"/>
                <a:cs typeface="Times New Roman"/>
                <a:sym typeface="Times New Roman"/>
              </a:defRPr>
            </a:pPr>
            <a:r>
              <a:t>ICAIHC – IEEE International Conference on Ambient Intelligence in Healthcare.    </a:t>
            </a:r>
            <a:br/>
            <a:br/>
            <a:br/>
            <a:br/>
            <a:endParaRPr/>
          </a:p>
        </p:txBody>
      </p:sp>
      <p:pic>
        <p:nvPicPr>
          <p:cNvPr id="311" name="Screenshot 2026-03-06 at 6.35.33 PM.png" descr="Screenshot 2026-03-06 at 6.35.33 PM.png"/>
          <p:cNvPicPr>
            <a:picLocks noChangeAspect="1"/>
          </p:cNvPicPr>
          <p:nvPr/>
        </p:nvPicPr>
        <p:blipFill>
          <a:blip r:embed="rId2"/>
          <a:stretch>
            <a:fillRect/>
          </a:stretch>
        </p:blipFill>
        <p:spPr>
          <a:xfrm>
            <a:off x="886835" y="3780055"/>
            <a:ext cx="6639613" cy="8942187"/>
          </a:xfrm>
          <a:prstGeom prst="rect">
            <a:avLst/>
          </a:prstGeom>
          <a:ln w="12700">
            <a:miter lim="400000"/>
          </a:ln>
        </p:spPr>
      </p:pic>
      <p:pic>
        <p:nvPicPr>
          <p:cNvPr id="312" name="Screenshot 2026-03-06 at 6.46.19 PM.png" descr="Screenshot 2026-03-06 at 6.46.19 PM.png"/>
          <p:cNvPicPr>
            <a:picLocks noChangeAspect="1"/>
          </p:cNvPicPr>
          <p:nvPr/>
        </p:nvPicPr>
        <p:blipFill>
          <a:blip r:embed="rId3"/>
          <a:stretch>
            <a:fillRect/>
          </a:stretch>
        </p:blipFill>
        <p:spPr>
          <a:xfrm>
            <a:off x="8091162" y="4316304"/>
            <a:ext cx="15621001" cy="7226301"/>
          </a:xfrm>
          <a:prstGeom prst="rect">
            <a:avLst/>
          </a:prstGeom>
          <a:ln w="12700">
            <a:miter lim="400000"/>
          </a:ln>
        </p:spPr>
      </p:pic>
    </p:spTree>
  </p:cSld>
  <p:clrMapOvr>
    <a:masterClrMapping/>
  </p:clrMapOvr>
  <p:transition spd="me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4" name="Thank you"/>
          <p:cNvSpPr txBox="1">
            <a:spLocks noGrp="1"/>
          </p:cNvSpPr>
          <p:nvPr>
            <p:ph type="body" sz="half" idx="1"/>
          </p:nvPr>
        </p:nvSpPr>
        <p:spPr>
          <a:prstGeom prst="rect">
            <a:avLst/>
          </a:prstGeom>
        </p:spPr>
        <p:txBody>
          <a:bodyPr/>
          <a:lstStyle>
            <a:lvl1pPr defTabSz="2365248">
              <a:defRPr sz="21728"/>
            </a:lvl1pPr>
          </a:lstStyle>
          <a:p>
            <a:r>
              <a:t>Thank you </a:t>
            </a:r>
          </a:p>
        </p:txBody>
      </p:sp>
    </p:spTree>
  </p:cSld>
  <p:clrMapOvr>
    <a:masterClrMapping/>
  </p:clrMapOvr>
  <p:transition spd="med"/>
</p:sld>
</file>

<file path=ppt/theme/theme1.xml><?xml version="1.0" encoding="utf-8"?>
<a:theme xmlns:a="http://schemas.openxmlformats.org/drawingml/2006/main" name="23_ClassicWhite">
  <a:themeElements>
    <a:clrScheme name="23_ClassicWhite">
      <a:dk1>
        <a:srgbClr val="000000"/>
      </a:dk1>
      <a:lt1>
        <a:srgbClr val="FFFFFF"/>
      </a:lt1>
      <a:dk2>
        <a:srgbClr val="5E5E5E"/>
      </a:dk2>
      <a:lt2>
        <a:srgbClr val="D5D5D5"/>
      </a:lt2>
      <a:accent1>
        <a:srgbClr val="3E74D1"/>
      </a:accent1>
      <a:accent2>
        <a:srgbClr val="33C5B9"/>
      </a:accent2>
      <a:accent3>
        <a:srgbClr val="45B53C"/>
      </a:accent3>
      <a:accent4>
        <a:srgbClr val="FFBD16"/>
      </a:accent4>
      <a:accent5>
        <a:srgbClr val="E22146"/>
      </a:accent5>
      <a:accent6>
        <a:srgbClr val="836BB7"/>
      </a:accent6>
      <a:hlink>
        <a:srgbClr val="0000FF"/>
      </a:hlink>
      <a:folHlink>
        <a:srgbClr val="FF00FF"/>
      </a:folHlink>
    </a:clrScheme>
    <a:fontScheme name="23_ClassicWhite">
      <a:majorFont>
        <a:latin typeface="Canela Bold"/>
        <a:ea typeface="Canela Bold"/>
        <a:cs typeface="Canela Bold"/>
      </a:majorFont>
      <a:minorFont>
        <a:latin typeface="Canela Bold"/>
        <a:ea typeface="Canela Bold"/>
        <a:cs typeface="Canela Bold"/>
      </a:minorFont>
    </a:fontScheme>
    <a:fmtScheme name="23_Clas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11303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Graphik"/>
            <a:ea typeface="Graphik"/>
            <a:cs typeface="Graphik"/>
            <a:sym typeface="Graphik"/>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Canela Text Regular"/>
            <a:ea typeface="Canela Text Regular"/>
            <a:cs typeface="Canela Text Regular"/>
            <a:sym typeface="Canela Text Regular"/>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23_ClassicWhite">
  <a:themeElements>
    <a:clrScheme name="23_ClassicWhite">
      <a:dk1>
        <a:srgbClr val="000000"/>
      </a:dk1>
      <a:lt1>
        <a:srgbClr val="FFFFFF"/>
      </a:lt1>
      <a:dk2>
        <a:srgbClr val="5E5E5E"/>
      </a:dk2>
      <a:lt2>
        <a:srgbClr val="D5D5D5"/>
      </a:lt2>
      <a:accent1>
        <a:srgbClr val="3E74D1"/>
      </a:accent1>
      <a:accent2>
        <a:srgbClr val="33C5B9"/>
      </a:accent2>
      <a:accent3>
        <a:srgbClr val="45B53C"/>
      </a:accent3>
      <a:accent4>
        <a:srgbClr val="FFBD16"/>
      </a:accent4>
      <a:accent5>
        <a:srgbClr val="E22146"/>
      </a:accent5>
      <a:accent6>
        <a:srgbClr val="836BB7"/>
      </a:accent6>
      <a:hlink>
        <a:srgbClr val="0000FF"/>
      </a:hlink>
      <a:folHlink>
        <a:srgbClr val="FF00FF"/>
      </a:folHlink>
    </a:clrScheme>
    <a:fontScheme name="23_ClassicWhite">
      <a:majorFont>
        <a:latin typeface="Canela Bold"/>
        <a:ea typeface="Canela Bold"/>
        <a:cs typeface="Canela Bold"/>
      </a:majorFont>
      <a:minorFont>
        <a:latin typeface="Canela Bold"/>
        <a:ea typeface="Canela Bold"/>
        <a:cs typeface="Canela Bold"/>
      </a:minorFont>
    </a:fontScheme>
    <a:fmtScheme name="23_Clas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11303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Graphik"/>
            <a:ea typeface="Graphik"/>
            <a:cs typeface="Graphik"/>
            <a:sym typeface="Graphik"/>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Canela Text Regular"/>
            <a:ea typeface="Canela Text Regular"/>
            <a:cs typeface="Canela Text Regular"/>
            <a:sym typeface="Canela Text Regular"/>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704</TotalTime>
  <Words>2575</Words>
  <Application>Microsoft Macintosh PowerPoint</Application>
  <PresentationFormat>Custom</PresentationFormat>
  <Paragraphs>408</Paragraphs>
  <Slides>45</Slides>
  <Notes>1</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45</vt:i4>
      </vt:variant>
    </vt:vector>
  </HeadingPairs>
  <TitlesOfParts>
    <vt:vector size="57" baseType="lpstr">
      <vt:lpstr>Arial</vt:lpstr>
      <vt:lpstr>Canela Bold</vt:lpstr>
      <vt:lpstr>Canela Deck Regular</vt:lpstr>
      <vt:lpstr>Canela Regular</vt:lpstr>
      <vt:lpstr>Canela Text Regular</vt:lpstr>
      <vt:lpstr>Graphik</vt:lpstr>
      <vt:lpstr>Graphik-Medium</vt:lpstr>
      <vt:lpstr>Graphik-SemiboldItalic</vt:lpstr>
      <vt:lpstr>Helvetica Neue</vt:lpstr>
      <vt:lpstr>Times New Roman</vt:lpstr>
      <vt:lpstr>Times Roman</vt:lpstr>
      <vt:lpstr>23_ClassicWhite</vt:lpstr>
      <vt:lpstr>LunaAura: An Explainable Machine Learning Framework for Hormonal and Emotional Health Analysis Project Category: Research</vt:lpstr>
      <vt:lpstr>Abstract</vt:lpstr>
      <vt:lpstr>Motivation</vt:lpstr>
      <vt:lpstr>Problem Statement </vt:lpstr>
      <vt:lpstr>Research Objectives </vt:lpstr>
      <vt:lpstr>Research Questions </vt:lpstr>
      <vt:lpstr>Literature Survey </vt:lpstr>
      <vt:lpstr>PowerPoint Presentation</vt:lpstr>
      <vt:lpstr>SDG Alignment</vt:lpstr>
      <vt:lpstr>System Overview </vt:lpstr>
      <vt:lpstr>Dashboard </vt:lpstr>
      <vt:lpstr>System Architecture </vt:lpstr>
      <vt:lpstr>PowerPoint Presentation</vt:lpstr>
      <vt:lpstr>Machine Learning Pipeline</vt:lpstr>
      <vt:lpstr>PowerPoint Presentation</vt:lpstr>
      <vt:lpstr>Data Sources </vt:lpstr>
      <vt:lpstr>Data Preprocessing </vt:lpstr>
      <vt:lpstr>PowerPoint Presentation</vt:lpstr>
      <vt:lpstr>Feature Engineering </vt:lpstr>
      <vt:lpstr>Exploratory Data Analysis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System Implementation</vt:lpstr>
      <vt:lpstr>PowerPoint Presentation</vt:lpstr>
      <vt:lpstr>User Interface Overview </vt:lpstr>
      <vt:lpstr>PowerPoint Presentation</vt:lpstr>
      <vt:lpstr>Daily Behavioral Logging</vt:lpstr>
      <vt:lpstr>PowerPoint Presentation</vt:lpstr>
      <vt:lpstr>Behavioural Analytics Dashboard </vt:lpstr>
      <vt:lpstr>PowerPoint Presentation</vt:lpstr>
      <vt:lpstr>Model Insights </vt:lpstr>
      <vt:lpstr>PowerPoint Presentation</vt:lpstr>
      <vt:lpstr>Research Mode</vt:lpstr>
      <vt:lpstr>PowerPoint Presentation</vt:lpstr>
      <vt:lpstr>Key Contributions </vt:lpstr>
      <vt:lpstr>Limitations </vt:lpstr>
      <vt:lpstr>Future Work</vt:lpstr>
      <vt:lpstr>Conclusion </vt:lpstr>
      <vt:lpstr>Paper Publication Documentation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ESHITA RAI (RA2211003010568)</cp:lastModifiedBy>
  <cp:revision>2</cp:revision>
  <dcterms:modified xsi:type="dcterms:W3CDTF">2026-05-04T14:22:31Z</dcterms:modified>
</cp:coreProperties>
</file>